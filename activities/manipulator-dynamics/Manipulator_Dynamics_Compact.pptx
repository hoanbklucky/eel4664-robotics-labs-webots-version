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3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95bcf565384de8" /><Relationship Type="http://schemas.openxmlformats.org/officeDocument/2006/relationships/extended-properties" Target="/docProps/app.xml" Id="Rc5ac52f396994c33" /><Relationship Type="http://schemas.openxmlformats.org/officeDocument/2006/relationships/officeDocument" Target="/ppt/presentation.xml" Id="R783a1d15c8b744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35928d3ed649ca"/>
  </p:sldMasterIdLst>
  <p:notesMasterIdLst>
    <p:notesMasterId xmlns:r="http://schemas.openxmlformats.org/officeDocument/2006/relationships" r:id="R726e8371d56e416f"/>
  </p:notesMasterIdLst>
  <p:sldIdLst>
    <p:sldId xmlns:r="http://schemas.openxmlformats.org/officeDocument/2006/relationships" id="256" r:id="R6016a32f61664be5"/>
    <p:sldId xmlns:r="http://schemas.openxmlformats.org/officeDocument/2006/relationships" id="257" r:id="R9b5e7a2c3810418b"/>
    <p:sldId xmlns:r="http://schemas.openxmlformats.org/officeDocument/2006/relationships" id="258" r:id="Re2bafd0b116b4e37"/>
    <p:sldId xmlns:r="http://schemas.openxmlformats.org/officeDocument/2006/relationships" id="259" r:id="R46d41c2d71b14e56"/>
    <p:sldId xmlns:r="http://schemas.openxmlformats.org/officeDocument/2006/relationships" id="260" r:id="R9d1e221b6c594044"/>
    <p:sldId xmlns:r="http://schemas.openxmlformats.org/officeDocument/2006/relationships" id="261" r:id="R7e3c062fcdf145dd"/>
    <p:sldId xmlns:r="http://schemas.openxmlformats.org/officeDocument/2006/relationships" id="262" r:id="Rf9ac7f62474d41f0"/>
    <p:sldId xmlns:r="http://schemas.openxmlformats.org/officeDocument/2006/relationships" id="263" r:id="R08703a874e8746c9"/>
    <p:sldId xmlns:r="http://schemas.openxmlformats.org/officeDocument/2006/relationships" id="264" r:id="Rde92da882ece4e82"/>
    <p:sldId xmlns:r="http://schemas.openxmlformats.org/officeDocument/2006/relationships" id="265" r:id="R4e498b2977374b24"/>
    <p:sldId xmlns:r="http://schemas.openxmlformats.org/officeDocument/2006/relationships" id="266" r:id="R6325bedea453423e"/>
    <p:sldId xmlns:r="http://schemas.openxmlformats.org/officeDocument/2006/relationships" id="267" r:id="R3d8bf75683cd4d08"/>
    <p:sldId xmlns:r="http://schemas.openxmlformats.org/officeDocument/2006/relationships" id="268" r:id="R9eddea598b6241f0"/>
    <p:sldId xmlns:r="http://schemas.openxmlformats.org/officeDocument/2006/relationships" id="269" r:id="R6b5ba93f95bc46fd"/>
    <p:sldId xmlns:r="http://schemas.openxmlformats.org/officeDocument/2006/relationships" id="270" r:id="R81f77b48d4894a7b"/>
    <p:sldId xmlns:r="http://schemas.openxmlformats.org/officeDocument/2006/relationships" id="271" r:id="Re2b53ea326b54045"/>
    <p:sldId xmlns:r="http://schemas.openxmlformats.org/officeDocument/2006/relationships" id="272" r:id="R503c0e8306994565"/>
    <p:sldId xmlns:r="http://schemas.openxmlformats.org/officeDocument/2006/relationships" id="273" r:id="Rfab981a0569547f4"/>
    <p:sldId xmlns:r="http://schemas.openxmlformats.org/officeDocument/2006/relationships" id="274" r:id="R39a4bff40b134d66"/>
    <p:sldId xmlns:r="http://schemas.openxmlformats.org/officeDocument/2006/relationships" id="275" r:id="Rca6e6b7040994d5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70d0c3ad3c4fb9" /><Relationship Type="http://schemas.openxmlformats.org/officeDocument/2006/relationships/slideMaster" Target="/ppt/slideMasters/slideMaster1.xml" Id="R0d35928d3ed649ca" /><Relationship Type="http://schemas.openxmlformats.org/officeDocument/2006/relationships/notesMaster" Target="/ppt/notesMasters/notesMaster1.xml" Id="R726e8371d56e416f" /><Relationship Type="http://schemas.openxmlformats.org/officeDocument/2006/relationships/presProps" Target="/ppt/presProps.xml" Id="Rbbc791ea7fc243e3" /><Relationship Type="http://schemas.openxmlformats.org/officeDocument/2006/relationships/tableStyles" Target="/ppt/tableStyles.xml" Id="R87d5045491d04ed6" /><Relationship Type="http://schemas.openxmlformats.org/officeDocument/2006/relationships/slide" Target="/ppt/slides/slide1.xml" Id="R6016a32f61664be5" /><Relationship Type="http://schemas.openxmlformats.org/officeDocument/2006/relationships/slide" Target="/ppt/slides/slide2.xml" Id="R9b5e7a2c3810418b" /><Relationship Type="http://schemas.openxmlformats.org/officeDocument/2006/relationships/slide" Target="/ppt/slides/slide3.xml" Id="Re2bafd0b116b4e37" /><Relationship Type="http://schemas.openxmlformats.org/officeDocument/2006/relationships/slide" Target="/ppt/slides/slide4.xml" Id="R46d41c2d71b14e56" /><Relationship Type="http://schemas.openxmlformats.org/officeDocument/2006/relationships/slide" Target="/ppt/slides/slide5.xml" Id="R9d1e221b6c594044" /><Relationship Type="http://schemas.openxmlformats.org/officeDocument/2006/relationships/slide" Target="/ppt/slides/slide6.xml" Id="R7e3c062fcdf145dd" /><Relationship Type="http://schemas.openxmlformats.org/officeDocument/2006/relationships/slide" Target="/ppt/slides/slide7.xml" Id="Rf9ac7f62474d41f0" /><Relationship Type="http://schemas.openxmlformats.org/officeDocument/2006/relationships/slide" Target="/ppt/slides/slide8.xml" Id="R08703a874e8746c9" /><Relationship Type="http://schemas.openxmlformats.org/officeDocument/2006/relationships/slide" Target="/ppt/slides/slide9.xml" Id="Rde92da882ece4e82" /><Relationship Type="http://schemas.openxmlformats.org/officeDocument/2006/relationships/slide" Target="/ppt/slides/slide10.xml" Id="R4e498b2977374b24" /><Relationship Type="http://schemas.openxmlformats.org/officeDocument/2006/relationships/slide" Target="/ppt/slides/slide11.xml" Id="R6325bedea453423e" /><Relationship Type="http://schemas.openxmlformats.org/officeDocument/2006/relationships/slide" Target="/ppt/slides/slide12.xml" Id="R3d8bf75683cd4d08" /><Relationship Type="http://schemas.openxmlformats.org/officeDocument/2006/relationships/slide" Target="/ppt/slides/slide13.xml" Id="R9eddea598b6241f0" /><Relationship Type="http://schemas.openxmlformats.org/officeDocument/2006/relationships/slide" Target="/ppt/slides/slide14.xml" Id="R6b5ba93f95bc46fd" /><Relationship Type="http://schemas.openxmlformats.org/officeDocument/2006/relationships/slide" Target="/ppt/slides/slide15.xml" Id="R81f77b48d4894a7b" /><Relationship Type="http://schemas.openxmlformats.org/officeDocument/2006/relationships/slide" Target="/ppt/slides/slide16.xml" Id="Re2b53ea326b54045" /><Relationship Type="http://schemas.openxmlformats.org/officeDocument/2006/relationships/slide" Target="/ppt/slides/slide17.xml" Id="R503c0e8306994565" /><Relationship Type="http://schemas.openxmlformats.org/officeDocument/2006/relationships/slide" Target="/ppt/slides/slide18.xml" Id="Rfab981a0569547f4" /><Relationship Type="http://schemas.openxmlformats.org/officeDocument/2006/relationships/slide" Target="/ppt/slides/slide19.xml" Id="R39a4bff40b134d66" /><Relationship Type="http://schemas.openxmlformats.org/officeDocument/2006/relationships/slide" Target="/ppt/slides/slide20.xml" Id="Rca6e6b7040994d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55c8b680b6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89fbb8f6db426a" /><Relationship Type="http://schemas.openxmlformats.org/officeDocument/2006/relationships/notesMaster" Target="/ppt/notesMasters/notesMaster1.xml" Id="R2a5d3acdd6b742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038695a6e74745" /><Relationship Type="http://schemas.openxmlformats.org/officeDocument/2006/relationships/notesMaster" Target="/ppt/notesMasters/notesMaster1.xml" Id="Ra4443439a5c04d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2e4ffeebf4f79" /><Relationship Type="http://schemas.openxmlformats.org/officeDocument/2006/relationships/notesMaster" Target="/ppt/notesMasters/notesMaster1.xml" Id="R0a5ada79fd3b49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d565ba8000469e" /><Relationship Type="http://schemas.openxmlformats.org/officeDocument/2006/relationships/notesMaster" Target="/ppt/notesMasters/notesMaster1.xml" Id="R104fa601bd6147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90c74fb9f2464e" /><Relationship Type="http://schemas.openxmlformats.org/officeDocument/2006/relationships/notesMaster" Target="/ppt/notesMasters/notesMaster1.xml" Id="Rfbeb469ef8fc46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3668eaa981c4eb8" /><Relationship Type="http://schemas.openxmlformats.org/officeDocument/2006/relationships/notesMaster" Target="/ppt/notesMasters/notesMaster1.xml" Id="Rc5126290a58846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c1f75c14434ac5" /><Relationship Type="http://schemas.openxmlformats.org/officeDocument/2006/relationships/notesMaster" Target="/ppt/notesMasters/notesMaster1.xml" Id="R07095e534511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4e49487e894cde" /><Relationship Type="http://schemas.openxmlformats.org/officeDocument/2006/relationships/notesMaster" Target="/ppt/notesMasters/notesMaster1.xml" Id="Rfd8b19286b974f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0bb4928e31406a" /><Relationship Type="http://schemas.openxmlformats.org/officeDocument/2006/relationships/notesMaster" Target="/ppt/notesMasters/notesMaster1.xml" Id="Ra4f93d21ce544d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101f3a419a341bb" /><Relationship Type="http://schemas.openxmlformats.org/officeDocument/2006/relationships/notesMaster" Target="/ppt/notesMasters/notesMaster1.xml" Id="R335bc869e3814be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950abc889e4673" /><Relationship Type="http://schemas.openxmlformats.org/officeDocument/2006/relationships/notesMaster" Target="/ppt/notesMasters/notesMaster1.xml" Id="R7ead61367d774a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95f5a24ced49b2" /><Relationship Type="http://schemas.openxmlformats.org/officeDocument/2006/relationships/notesMaster" Target="/ppt/notesMasters/notesMaster1.xml" Id="Rfee196bc733748c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0e86aaa1db4e42" /><Relationship Type="http://schemas.openxmlformats.org/officeDocument/2006/relationships/notesMaster" Target="/ppt/notesMasters/notesMaster1.xml" Id="R3c6ef4173dae4c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fbd25e350ff4335" /><Relationship Type="http://schemas.openxmlformats.org/officeDocument/2006/relationships/notesMaster" Target="/ppt/notesMasters/notesMaster1.xml" Id="Rc5f2ad12128941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a6b2a4d2df4429" /><Relationship Type="http://schemas.openxmlformats.org/officeDocument/2006/relationships/notesMaster" Target="/ppt/notesMasters/notesMaster1.xml" Id="R26230548cbf8434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d0e3dd232614ea9" /><Relationship Type="http://schemas.openxmlformats.org/officeDocument/2006/relationships/notesMaster" Target="/ppt/notesMasters/notesMaster1.xml" Id="Rcba7845642d849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773118469a4232" /><Relationship Type="http://schemas.openxmlformats.org/officeDocument/2006/relationships/notesMaster" Target="/ppt/notesMasters/notesMaster1.xml" Id="Rd511a715776e4bc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a49ca2f9e0d40fa" /><Relationship Type="http://schemas.openxmlformats.org/officeDocument/2006/relationships/notesMaster" Target="/ppt/notesMasters/notesMaster1.xml" Id="R0f047bfd5d4a4e3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29c8217a8c469d" /><Relationship Type="http://schemas.openxmlformats.org/officeDocument/2006/relationships/notesMaster" Target="/ppt/notesMasters/notesMaster1.xml" Id="R0b12db83d06648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dea8681ffe477b" /><Relationship Type="http://schemas.openxmlformats.org/officeDocument/2006/relationships/notesMaster" Target="/ppt/notesMasters/notesMaster1.xml" Id="R83b1df9a2b434d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meetings of about 50 minutes. Meeting 1 slides 1–9: physical torque, inertia, holding torque, payload and Coding Activity 1. Meeting 2 slides 10–20: energy derivation, forward dynamics, motion-time preview and Coding Activity 2. Four polls total, including an opening conceptual poll whose answer is explained on slide 5. Use two coding activities, about 8 and 12 minutes. Full 2R dynamics and release simulations are outside this compact deck.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pivot is the joint. Yellow dot marks the center of mass. θ is measured counterclockwise from the downward vertical. Left: θ=0°, the arm hangs downward. Right: θ=90°, the arm points right. Gray dashes show the downward reference. The gold arc indicates positive rotation. Figures are schematic, with matching pose convention throughout.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Q1. Allow 1–2 minutes for individual calculation. Ask pairs to compare reasoning, then reveal the next slide. Correct answer: A. At rest the inertia and viscous-friction terms vanish, but gravity remains.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If useful show parallel-axis theorem: Ijoint=Icom+m*(L/2)^2. All motion is rigid-body planar rotation.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Dots are time derivatives: θdot is rad/s and θdouble-dot is rad/s². Actual gravitational torque is -mgrc*sin θ. Moving it to the required motor-torque side gives the plus sign. Actual viscous-friction torque is -b*θdot.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 xmlns:a="http://schemas.openxmlformats.org/drawingml/2006/main">
            <a:r>
              <a:t>Figure: gravity acts downward at the COM. Its torque is clockwise. Positive motor torque counteracts gravity. The distance from the pivot to COM is rc. At a horizontal hold, torque is mgrc. Gold arc represents positive counterclockwise rotation.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Q2. Allow 1–2 minutes for individual calculation. Ask pairs to compare reasoning, then reveal the next slide. Correct answer: B. m*g*rc*sin(30 deg)=3 N m.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distractor is tempting. m*g*rc*sin(30 deg)=3 N m.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payload as a point mass rigidly attached to the tip. Additional payload rotational inertia about its own COM is neglected.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 xmlns:a="http://schemas.openxmlformats.org/drawingml/2006/main">
            <a:r>
              <a:t>Figure: both arms are horizontal. The yellow COM dot belongs to the 2 kg link. The yellow square at the tip in the lower figure is an added 0.5 kg point payload. Compare 6 N m and 9 N m holding torque. Figures are schematic.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Expected no-payload values 0,3,6,0 N m. With 0.5 kg payload 0,4.5,9,0. At 180° ideal gravity torque is zero but equilibrium is unstable. A horizontal tabletop arm with a vertical rotation axis has no gravity torque about that axis. Complete code is provided in Activity 1, students modify parameters.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a zero reference for V is arbitrary. COM height relative to θ=0 is rc*(1-cos θ). Distinguish kinetic-energy symbol T from motion duration Tf used later.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  <a:p xmlns:a="http://schemas.openxmlformats.org/drawingml/2006/main">
            <a:r>
              <a:t>Figure: the gray arm shows the downward reference pose, and the navy arm shows 90°. Yellow dots mark both COM positions. At 90° the COM rises by rc, giving V=mgrc relative to the downward pose. General rise is rc*(1-cos θ).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angle and angular velocity as independent arguments for the partial derivatives. Hold angle fixed when differentiating with respect to velocity, and vice versa. I is constant. This is the only hand derivation required. Source: https://modernrobotics.northwestern.edu/nu-gm-book-resource/chapter-8-1-lagrangian-formulation-of-dynamics-part-1-of-2/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compare this with F=ma. Knowing torque does not determine angle immediately. The simulator uses RK4 and a small time step.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Q3. Allow 1–2 minutes for individual calculation. Ask pairs to compare reasoning, then reveal the next slide. Correct answer: A. Acceleration=(0-6*sin(30 deg))/0.24=-12.5 rad/s^2.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distractor is tempting. Acceleration=(0-6*sin(30 deg))/0.24=-12.5 rad/s^2.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Δθ=θf−θ0. This is a preview, not a full derivation of cubic coefficients. Valid for 0≤t≤Tf. Endpoint acceleration is nonzero and jumps when joined to a stationary hold. A quintic can impose zero endpoint acceleration.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Poll Q4. Allow 1–2 minutes for individual calculation. Ask pairs to compare reasoning, then reveal the next slide. Correct answer: B. For unchanged normalized path, velocity scales as 1/T and acceleration as 1/T^2.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why each distractor is tempting. For unchanged normalized path, velocity scales as 1/T and acceleration as 1/T^2.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 minutes. Required torque is calculated for the desired path, not a simulated tracking controller. Check code peaks including endpoint values. Cubic acceleration is nonzero at endpoints. The final hold is a separate state. Sampled feasibility under an ideal symmetric limit is not hardware validation.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curves compare corresponding points on the same normalized path, not the same physical time. At s=1 the plotted torque includes deceleration. Immediately after the motion, stationary holding torque is 6 N m with no payload, or 9 N m with payload. Slowdown cannot eliminate the required static holding torque.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Next teach cubic coefficient derivation, joint-space interpolation and velocity/acceleration profiles. Revisit endpoint acceleration and quintic trajectories. Explain that joint-space interpolation does not generally create a straight Cartesian path.</a:t>
            </a:r>
          </a:p>
          <a:p xmlns:a="http://schemas.openxmlformats.org/drawingml/2006/main">
            <a:r>
              <a:t>Source for energy formulation and dynamics structure: https://modernrobotics.northwestern.edu/nu-gm-book-resource/chapter-8-1-lagrangian-formulation-of-dynamics-part-1-of-2/ . All numerical examples and activities are original teaching examples.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9dc345b4f744d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8ec0fbb164ff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97cbefb9546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7bd7b48ed441a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532065db6440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38e63d5b21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239E48-5B89-42DA-9C24-06C40E3DC9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84004C1-4881-47CD-AF91-DF4D954B86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0C19642-9E63-4F86-B7E7-890B6A6D1F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1B42A8-846F-4EF9-8BCE-C25966F1B2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90F921F-5C27-48E4-9CB3-3E006990B5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8A0389-3A56-49F6-AAB4-ED46413CE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83E0B94-4DE7-41B4-8D19-7DF2154D30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AD586C6-3F68-4939-956E-F82880D09EE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2E4E8A-CA12-4CE0-8E7E-4B03654E78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9AA4F1E-1BAA-4670-8A8E-6C420C8D6A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9b6972a6b544f6" /><Relationship Type="http://schemas.openxmlformats.org/officeDocument/2006/relationships/slideLayout" Target="/ppt/slideLayouts/slideLayout1.xml" Id="Re745e264c28a4dac" /><Relationship Type="http://schemas.openxmlformats.org/officeDocument/2006/relationships/slideLayout" Target="/ppt/slideLayouts/slideLayout2.xml" Id="Ra7fadffa5a56479e" /><Relationship Type="http://schemas.openxmlformats.org/officeDocument/2006/relationships/slideLayout" Target="/ppt/slideLayouts/slideLayout3.xml" Id="Rdf299f97dd56420c" /><Relationship Type="http://schemas.openxmlformats.org/officeDocument/2006/relationships/slideLayout" Target="/ppt/slideLayouts/slideLayout4.xml" Id="R2da96b66de8e4244" /><Relationship Type="http://schemas.openxmlformats.org/officeDocument/2006/relationships/slideLayout" Target="/ppt/slideLayouts/slideLayout5.xml" Id="R0b3f94c5bb314ba8" /><Relationship Type="http://schemas.openxmlformats.org/officeDocument/2006/relationships/slideLayout" Target="/ppt/slideLayouts/slideLayout6.xml" Id="Rc949142e781846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45e264c28a4dac"/>
    <p:sldLayoutId xmlns:r="http://schemas.openxmlformats.org/officeDocument/2006/relationships" id="2147483650" r:id="Ra7fadffa5a56479e"/>
    <p:sldLayoutId xmlns:r="http://schemas.openxmlformats.org/officeDocument/2006/relationships" id="2147483651" r:id="Rdf299f97dd56420c"/>
    <p:sldLayoutId xmlns:r="http://schemas.openxmlformats.org/officeDocument/2006/relationships" id="2147483652" r:id="R2da96b66de8e4244"/>
    <p:sldLayoutId xmlns:r="http://schemas.openxmlformats.org/officeDocument/2006/relationships" id="2147483653" r:id="R0b3f94c5bb314ba8"/>
    <p:sldLayoutId xmlns:r="http://schemas.openxmlformats.org/officeDocument/2006/relationships" id="2147483654" r:id="Rc949142e781846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e453be488140e0" /><Relationship Type="http://schemas.openxmlformats.org/officeDocument/2006/relationships/notesSlide" Target="/ppt/notesSlides/notesSlide1.xml" Id="Rfbee5199bf4347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9b922729f24b84" /><Relationship Type="http://schemas.openxmlformats.org/officeDocument/2006/relationships/chart" Target="/ppt/slides/charts/chart1.xml" Id="Rd08ed130376743cc" /><Relationship Type="http://schemas.openxmlformats.org/officeDocument/2006/relationships/notesSlide" Target="/ppt/notesSlides/notesSlide2.xml" Id="Rfe0ebaca80334e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7d27e26dc643cf" /><Relationship Type="http://schemas.openxmlformats.org/officeDocument/2006/relationships/notesSlide" Target="/ppt/notesSlides/notesSlide3.xml" Id="R593d803b110d48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05e9a76dfc4323" /><Relationship Type="http://schemas.openxmlformats.org/officeDocument/2006/relationships/notesSlide" Target="/ppt/notesSlides/notesSlide4.xml" Id="Rce476b171d0b43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b24e5716046c1" /><Relationship Type="http://schemas.openxmlformats.org/officeDocument/2006/relationships/notesSlide" Target="/ppt/notesSlides/notesSlide5.xml" Id="Re5cc9ca1637544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18c5a6ffd742bb" /><Relationship Type="http://schemas.openxmlformats.org/officeDocument/2006/relationships/notesSlide" Target="/ppt/notesSlides/notesSlide6.xml" Id="R2d87a1dd14624b0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5c43004e2648e1" /><Relationship Type="http://schemas.openxmlformats.org/officeDocument/2006/relationships/notesSlide" Target="/ppt/notesSlides/notesSlide7.xml" Id="R60e39ea721e946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1fa70967ce4471" /><Relationship Type="http://schemas.openxmlformats.org/officeDocument/2006/relationships/notesSlide" Target="/ppt/notesSlides/notesSlide8.xml" Id="Reb806764323347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2e6c5d994e4167" /><Relationship Type="http://schemas.openxmlformats.org/officeDocument/2006/relationships/chart" Target="/ppt/slides/charts/chart2.xml" Id="R003d09bfe7ab4958" /><Relationship Type="http://schemas.openxmlformats.org/officeDocument/2006/relationships/notesSlide" Target="/ppt/notesSlides/notesSlide9.xml" Id="Rbc69bf71b4ec4f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eb856bdd0646b9" /><Relationship Type="http://schemas.openxmlformats.org/officeDocument/2006/relationships/notesSlide" Target="/ppt/notesSlides/notesSlide10.xml" Id="Re2f2f811d49641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31bbece26442f7" /><Relationship Type="http://schemas.openxmlformats.org/officeDocument/2006/relationships/notesSlide" Target="/ppt/notesSlides/notesSlide11.xml" Id="Rfff7a6bcbfe340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dd53062934d50" /><Relationship Type="http://schemas.openxmlformats.org/officeDocument/2006/relationships/notesSlide" Target="/ppt/notesSlides/notesSlide12.xml" Id="Rd3bbd2d7315544b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3b04c18324240" /><Relationship Type="http://schemas.openxmlformats.org/officeDocument/2006/relationships/notesSlide" Target="/ppt/notesSlides/notesSlide13.xml" Id="R5808f6ea9750473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d583e925184688" /><Relationship Type="http://schemas.openxmlformats.org/officeDocument/2006/relationships/notesSlide" Target="/ppt/notesSlides/notesSlide14.xml" Id="R37746b93132d461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f67db64f0d427e" /><Relationship Type="http://schemas.openxmlformats.org/officeDocument/2006/relationships/notesSlide" Target="/ppt/notesSlides/notesSlide15.xml" Id="Rf0ab247e0257434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600e43788344f7" /><Relationship Type="http://schemas.openxmlformats.org/officeDocument/2006/relationships/notesSlide" Target="/ppt/notesSlides/notesSlide16.xml" Id="Rdd0206cbf68744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6529a5bd1b4eb2" /><Relationship Type="http://schemas.openxmlformats.org/officeDocument/2006/relationships/notesSlide" Target="/ppt/notesSlides/notesSlide17.xml" Id="R76bba7c8294d4f8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4d7c32205f45f1" /><Relationship Type="http://schemas.openxmlformats.org/officeDocument/2006/relationships/notesSlide" Target="/ppt/notesSlides/notesSlide18.xml" Id="Rf158bd75f938490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7bf94633b64936" /><Relationship Type="http://schemas.openxmlformats.org/officeDocument/2006/relationships/chart" Target="/ppt/slides/charts/chart3.xml" Id="Rf4c0e7f74c454176" /><Relationship Type="http://schemas.openxmlformats.org/officeDocument/2006/relationships/notesSlide" Target="/ppt/notesSlides/notesSlide19.xml" Id="R55b1a580b86341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7d5bc739e14dcd" /><Relationship Type="http://schemas.openxmlformats.org/officeDocument/2006/relationships/notesSlide" Target="/ppt/notesSlides/notesSlide20.xml" Id="R10deddc06a05468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COM locus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0.05209445</c:v>
                </c:pt>
                <c:pt idx="2">
                  <c:v>0.10260604</c:v>
                </c:pt>
                <c:pt idx="3">
                  <c:v>0.15</c:v>
                </c:pt>
                <c:pt idx="4">
                  <c:v>0.19283628</c:v>
                </c:pt>
                <c:pt idx="5">
                  <c:v>0.22981333</c:v>
                </c:pt>
                <c:pt idx="6">
                  <c:v>0.25980762</c:v>
                </c:pt>
                <c:pt idx="7">
                  <c:v>0.28190779</c:v>
                </c:pt>
                <c:pt idx="8">
                  <c:v>0.29544233</c:v>
                </c:pt>
                <c:pt idx="9">
                  <c:v>0.3</c:v>
                </c:pt>
                <c:pt idx="10">
                  <c:v>0.29544233</c:v>
                </c:pt>
                <c:pt idx="11">
                  <c:v>0.28190779</c:v>
                </c:pt>
                <c:pt idx="12">
                  <c:v>0.25980762</c:v>
                </c:pt>
                <c:pt idx="13">
                  <c:v>0.22981333</c:v>
                </c:pt>
                <c:pt idx="14">
                  <c:v>0.19283628</c:v>
                </c:pt>
                <c:pt idx="15">
                  <c:v>0.15</c:v>
                </c:pt>
                <c:pt idx="16">
                  <c:v>0.10260604</c:v>
                </c:pt>
                <c:pt idx="17">
                  <c:v>0.05209445</c:v>
                </c:pt>
                <c:pt idx="18">
                  <c:v>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-0.3</c:v>
                </c:pt>
                <c:pt idx="1">
                  <c:v>-0.29544233</c:v>
                </c:pt>
                <c:pt idx="2">
                  <c:v>-0.28190779</c:v>
                </c:pt>
                <c:pt idx="3">
                  <c:v>-0.25980762</c:v>
                </c:pt>
                <c:pt idx="4">
                  <c:v>-0.22981333</c:v>
                </c:pt>
                <c:pt idx="5">
                  <c:v>-0.19283628</c:v>
                </c:pt>
                <c:pt idx="6">
                  <c:v>-0.15</c:v>
                </c:pt>
                <c:pt idx="7">
                  <c:v>-0.10260604</c:v>
                </c:pt>
                <c:pt idx="8">
                  <c:v>-0.05209445</c:v>
                </c:pt>
                <c:pt idx="9">
                  <c:v>0</c:v>
                </c:pt>
                <c:pt idx="10">
                  <c:v>0.05209445</c:v>
                </c:pt>
                <c:pt idx="11">
                  <c:v>0.10260604</c:v>
                </c:pt>
                <c:pt idx="12">
                  <c:v>0.15</c:v>
                </c:pt>
                <c:pt idx="13">
                  <c:v>0.19283628</c:v>
                </c:pt>
                <c:pt idx="14">
                  <c:v>0.22981333</c:v>
                </c:pt>
                <c:pt idx="15">
                  <c:v>0.25980762</c:v>
                </c:pt>
                <c:pt idx="16">
                  <c:v>0.28190779</c:v>
                </c:pt>
                <c:pt idx="17">
                  <c:v>0.29544233</c:v>
                </c:pt>
                <c:pt idx="18">
                  <c:v>0.3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COM y (m)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COM x (m)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No payload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Data'!$B$2:$B$20</c:f>
              <c:numCache>
                <c:formatCode>0.00</c:formatCode>
                <c:ptCount val="19"/>
                <c:pt idx="0">
                  <c:v>0</c:v>
                </c:pt>
                <c:pt idx="1">
                  <c:v>1.04188907</c:v>
                </c:pt>
                <c:pt idx="2">
                  <c:v>2.05212086</c:v>
                </c:pt>
                <c:pt idx="3">
                  <c:v>3</c:v>
                </c:pt>
                <c:pt idx="4">
                  <c:v>3.85672566</c:v>
                </c:pt>
                <c:pt idx="5">
                  <c:v>4.59626666</c:v>
                </c:pt>
                <c:pt idx="6">
                  <c:v>5.19615242</c:v>
                </c:pt>
                <c:pt idx="7">
                  <c:v>5.63815572</c:v>
                </c:pt>
                <c:pt idx="8">
                  <c:v>5.90884652</c:v>
                </c:pt>
                <c:pt idx="9">
                  <c:v>6</c:v>
                </c:pt>
                <c:pt idx="10">
                  <c:v>5.90884652</c:v>
                </c:pt>
                <c:pt idx="11">
                  <c:v>5.63815572</c:v>
                </c:pt>
                <c:pt idx="12">
                  <c:v>5.19615242</c:v>
                </c:pt>
                <c:pt idx="13">
                  <c:v>4.59626666</c:v>
                </c:pt>
                <c:pt idx="14">
                  <c:v>3.85672566</c:v>
                </c:pt>
                <c:pt idx="15">
                  <c:v>3</c:v>
                </c:pt>
                <c:pt idx="16">
                  <c:v>2.05212086</c:v>
                </c:pt>
                <c:pt idx="17">
                  <c:v>1.04188907</c:v>
                </c:pt>
                <c:pt idx="18">
                  <c:v>0</c:v>
                </c:pt>
              </c:numCache>
            </c:numRef>
          </c:yVal>
        </c:ser>
        <c:ser>
          <c:idx val="1"/>
          <c:order val="1"/>
          <c:tx>
            <c:v>0.5 kg payload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Data'!$C$2:$C$20</c:f>
              <c:numCache>
                <c:formatCode>0.0</c:formatCode>
                <c:ptCount val="19"/>
                <c:pt idx="0">
                  <c:v>0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  <c:pt idx="11">
                  <c:v>110</c:v>
                </c:pt>
                <c:pt idx="12">
                  <c:v>120</c:v>
                </c:pt>
                <c:pt idx="13">
                  <c:v>130</c:v>
                </c:pt>
                <c:pt idx="14">
                  <c:v>140</c:v>
                </c:pt>
                <c:pt idx="15">
                  <c:v>150</c:v>
                </c:pt>
                <c:pt idx="16">
                  <c:v>160</c:v>
                </c:pt>
                <c:pt idx="17">
                  <c:v>170</c:v>
                </c:pt>
                <c:pt idx="18">
                  <c:v>180</c:v>
                </c:pt>
              </c:numCache>
            </c:numRef>
          </c:xVal>
          <c:yVal>
            <c:numRef>
              <c:f>'Chart Data'!$D$2:$D$20</c:f>
              <c:numCache>
                <c:formatCode>0.00</c:formatCode>
                <c:ptCount val="19"/>
                <c:pt idx="0">
                  <c:v>0</c:v>
                </c:pt>
                <c:pt idx="1">
                  <c:v>1.5628336</c:v>
                </c:pt>
                <c:pt idx="2">
                  <c:v>3.07818129</c:v>
                </c:pt>
                <c:pt idx="3">
                  <c:v>4.5</c:v>
                </c:pt>
                <c:pt idx="4">
                  <c:v>5.78508849</c:v>
                </c:pt>
                <c:pt idx="5">
                  <c:v>6.89439999</c:v>
                </c:pt>
                <c:pt idx="6">
                  <c:v>7.79422863</c:v>
                </c:pt>
                <c:pt idx="7">
                  <c:v>8.45723359</c:v>
                </c:pt>
                <c:pt idx="8">
                  <c:v>8.86326978</c:v>
                </c:pt>
                <c:pt idx="9">
                  <c:v>9</c:v>
                </c:pt>
                <c:pt idx="10">
                  <c:v>8.86326978</c:v>
                </c:pt>
                <c:pt idx="11">
                  <c:v>8.45723359</c:v>
                </c:pt>
                <c:pt idx="12">
                  <c:v>7.79422863</c:v>
                </c:pt>
                <c:pt idx="13">
                  <c:v>6.89439999</c:v>
                </c:pt>
                <c:pt idx="14">
                  <c:v>5.78508849</c:v>
                </c:pt>
                <c:pt idx="15">
                  <c:v>4.5</c:v>
                </c:pt>
                <c:pt idx="16">
                  <c:v>3.07818129</c:v>
                </c:pt>
                <c:pt idx="17">
                  <c:v>1.5628336</c:v>
                </c:pt>
                <c:pt idx="18">
                  <c:v>0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Holding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Angle from downward vertical (deg)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varyColors val="0"/>
        <c:ser>
          <c:idx val="0"/>
          <c:order val="0"/>
          <c:tx>
            <c:v>2 s motion</c:v>
          </c:tx>
          <c:spPr>
            <a:ln xmlns:a="http://schemas.openxmlformats.org/drawingml/2006/main" w="28575">
              <a:solidFill>
                <a:srgbClr val="17324D"/>
              </a:solidFill>
            </a:ln>
          </c:spPr>
          <c:marker>
            <c:symbol val="none"/>
          </c:marker>
          <c:xVal>
            <c:numRef>
              <c:f>'Chart Data'!$A$2:$A$42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0.56548668</c:v>
                </c:pt>
                <c:pt idx="1">
                  <c:v>0.5660757</c:v>
                </c:pt>
                <c:pt idx="2">
                  <c:v>0.59965002</c:v>
                </c:pt>
                <c:pt idx="3">
                  <c:v>0.66443088</c:v>
                </c:pt>
                <c:pt idx="4">
                  <c:v>0.75860955</c:v>
                </c:pt>
                <c:pt idx="5">
                  <c:v>0.88032028</c:v>
                </c:pt>
                <c:pt idx="6">
                  <c:v>1.02761033</c:v>
                </c:pt>
                <c:pt idx="7">
                  <c:v>1.19841108</c:v>
                </c:pt>
                <c:pt idx="8">
                  <c:v>1.39051322</c:v>
                </c:pt>
                <c:pt idx="9">
                  <c:v>1.60154875</c:v>
                </c:pt>
                <c:pt idx="10">
                  <c:v>1.82898171</c:v>
                </c:pt>
                <c:pt idx="11">
                  <c:v>2.07010899</c:v>
                </c:pt>
                <c:pt idx="12">
                  <c:v>2.32207211</c:v>
                </c:pt>
                <c:pt idx="13">
                  <c:v>2.58188001</c:v>
                </c:pt>
                <c:pt idx="14">
                  <c:v>2.84644257</c:v>
                </c:pt>
                <c:pt idx="15">
                  <c:v>3.11261367</c:v>
                </c:pt>
                <c:pt idx="16">
                  <c:v>3.37724245</c:v>
                </c:pt>
                <c:pt idx="17">
                  <c:v>3.63723071</c:v>
                </c:pt>
                <c:pt idx="18">
                  <c:v>3.88959406</c:v>
                </c:pt>
                <c:pt idx="19">
                  <c:v>4.13152432</c:v>
                </c:pt>
                <c:pt idx="20">
                  <c:v>4.36045041</c:v>
                </c:pt>
                <c:pt idx="21">
                  <c:v>4.57409518</c:v>
                </c:pt>
                <c:pt idx="22">
                  <c:v>4.77052548</c:v>
                </c:pt>
                <c:pt idx="23">
                  <c:v>4.9481934</c:v>
                </c:pt>
                <c:pt idx="24">
                  <c:v>5.10596689</c:v>
                </c:pt>
                <c:pt idx="25">
                  <c:v>5.24314831</c:v>
                </c:pt>
                <c:pt idx="26">
                  <c:v>5.35948013</c:v>
                </c:pt>
                <c:pt idx="27">
                  <c:v>5.45513763</c:v>
                </c:pt>
                <c:pt idx="28">
                  <c:v>5.53070871</c:v>
                </c:pt>
                <c:pt idx="29">
                  <c:v>5.58716159</c:v>
                </c:pt>
                <c:pt idx="30">
                  <c:v>5.62580147</c:v>
                </c:pt>
                <c:pt idx="31">
                  <c:v>5.64821757</c:v>
                </c:pt>
                <c:pt idx="32">
                  <c:v>5.65622188</c:v>
                </c:pt>
                <c:pt idx="33">
                  <c:v>5.65178136</c:v>
                </c:pt>
                <c:pt idx="34">
                  <c:v>5.63694472</c:v>
                </c:pt>
                <c:pt idx="35">
                  <c:v>5.61376515</c:v>
                </c:pt>
                <c:pt idx="36">
                  <c:v>5.58421977</c:v>
                </c:pt>
                <c:pt idx="37">
                  <c:v>5.55012625</c:v>
                </c:pt>
                <c:pt idx="38">
                  <c:v>5.51305676</c:v>
                </c:pt>
                <c:pt idx="39">
                  <c:v>5.47424894</c:v>
                </c:pt>
                <c:pt idx="40">
                  <c:v>5.43451332</c:v>
                </c:pt>
              </c:numCache>
            </c:numRef>
          </c:yVal>
        </c:ser>
        <c:ser>
          <c:idx val="1"/>
          <c:order val="1"/>
          <c:tx>
            <c:v>1 s motion</c:v>
          </c:tx>
          <c:spPr>
            <a:ln xmlns:a="http://schemas.openxmlformats.org/drawingml/2006/main" w="28575">
              <a:solidFill>
                <a:srgbClr val="E6B800"/>
              </a:solidFill>
            </a:ln>
          </c:spPr>
          <c:marker>
            <c:symbol val="none"/>
          </c:marker>
          <c:xVal>
            <c:numRef>
              <c:f>'Chart Data'!$C$2:$C$42</c:f>
              <c:numCache>
                <c:formatCode>0.0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Data'!$D$2:$D$42</c:f>
              <c:numCache>
                <c:formatCode>0.00</c:formatCode>
                <c:ptCount val="41"/>
                <c:pt idx="0">
                  <c:v>2.26194671</c:v>
                </c:pt>
                <c:pt idx="1">
                  <c:v>2.18919918</c:v>
                </c:pt>
                <c:pt idx="2">
                  <c:v>2.1488479</c:v>
                </c:pt>
                <c:pt idx="3">
                  <c:v>2.1391141</c:v>
                </c:pt>
                <c:pt idx="4">
                  <c:v>2.15818908</c:v>
                </c:pt>
                <c:pt idx="5">
                  <c:v>2.20420706</c:v>
                </c:pt>
                <c:pt idx="6">
                  <c:v>2.27521532</c:v>
                </c:pt>
                <c:pt idx="7">
                  <c:v>2.36914522</c:v>
                </c:pt>
                <c:pt idx="8">
                  <c:v>2.48378746</c:v>
                </c:pt>
                <c:pt idx="9">
                  <c:v>2.61677406</c:v>
                </c:pt>
                <c:pt idx="10">
                  <c:v>2.76556902</c:v>
                </c:pt>
                <c:pt idx="11">
                  <c:v>2.92746926</c:v>
                </c:pt>
                <c:pt idx="12">
                  <c:v>3.09961629</c:v>
                </c:pt>
                <c:pt idx="13">
                  <c:v>3.27901906</c:v>
                </c:pt>
                <c:pt idx="14">
                  <c:v>3.46258743</c:v>
                </c:pt>
                <c:pt idx="15">
                  <c:v>3.64717529</c:v>
                </c:pt>
                <c:pt idx="16">
                  <c:v>3.82963179</c:v>
                </c:pt>
                <c:pt idx="17">
                  <c:v>4.00685872</c:v>
                </c:pt>
                <c:pt idx="18">
                  <c:v>4.17587169</c:v>
                </c:pt>
                <c:pt idx="19">
                  <c:v>4.33386252</c:v>
                </c:pt>
                <c:pt idx="20">
                  <c:v>4.47826014</c:v>
                </c:pt>
                <c:pt idx="21">
                  <c:v>4.60678738</c:v>
                </c:pt>
                <c:pt idx="22">
                  <c:v>4.7175111</c:v>
                </c:pt>
                <c:pt idx="23">
                  <c:v>4.8088834</c:v>
                </c:pt>
                <c:pt idx="24">
                  <c:v>4.87977222</c:v>
                </c:pt>
                <c:pt idx="25">
                  <c:v>4.92947991</c:v>
                </c:pt>
                <c:pt idx="26">
                  <c:v>4.95774897</c:v>
                </c:pt>
                <c:pt idx="27">
                  <c:v>4.96475465</c:v>
                </c:pt>
                <c:pt idx="28">
                  <c:v>4.95108487</c:v>
                </c:pt>
                <c:pt idx="29">
                  <c:v>4.91770783</c:v>
                </c:pt>
                <c:pt idx="30">
                  <c:v>4.86592875</c:v>
                </c:pt>
                <c:pt idx="31">
                  <c:v>4.79733683</c:v>
                </c:pt>
                <c:pt idx="32">
                  <c:v>4.71374409</c:v>
                </c:pt>
                <c:pt idx="33">
                  <c:v>4.61711745</c:v>
                </c:pt>
                <c:pt idx="34">
                  <c:v>4.50950565</c:v>
                </c:pt>
                <c:pt idx="35">
                  <c:v>4.39296188</c:v>
                </c:pt>
                <c:pt idx="36">
                  <c:v>4.26946324</c:v>
                </c:pt>
                <c:pt idx="37">
                  <c:v>4.14082742</c:v>
                </c:pt>
                <c:pt idx="38">
                  <c:v>4.00862658</c:v>
                </c:pt>
                <c:pt idx="39">
                  <c:v>3.87409836</c:v>
                </c:pt>
                <c:pt idx="40">
                  <c:v>3.73805329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0E6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Required torque (N m)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50112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Normalized time s = t/Tf</a:t>
                </a:r>
              </a:p>
            </c:rich>
          </c:tx>
          <c:overlay val="0"/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64A"/>
                </a:solidFill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5364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7DAE7B-5B95-4EE1-B83D-6682DE15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Manipulator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4DD649-205E-4664-A4D5-F9A69DDD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FC4481-79DD-4909-912A-650ABDB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28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 simple approach for ECE students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5D23B-2217-466D-B97F-DCBA0510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1000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Single-link torque, energy methods, and coding activities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214F28-861C-4C12-9805-5C75E936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34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Craig Chapter 6 · Bridge to Chapter 7</a:t>
            </a:r>
          </a:p>
        </p:txBody>
      </p:sp>
    </p:spTree>
    <p:extLst>
      <p:ext uri="{BB962C8B-B14F-4D97-AF65-F5344CB8AC3E}">
        <p14:creationId xmlns:p14="http://schemas.microsoft.com/office/powerpoint/2010/main" val="9514197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AED51-0183-41B0-8BAF-CCDF37A6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vertical-plane 1R 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59492-F67E-476D-87DD-217D0AE0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58774C-3A96-4E75-A7FC-58E785B4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609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0°: arm hangs downward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 = 90°: arm points right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Positive θ and τ: counterclockwise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5D50B-B804-4D71-9706-3685F589F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5619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        L = 0.6 m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 = L/2 = 0.3 m</a:t>
            </a:r>
          </a:p>
          <a:p xmlns:a="http://schemas.openxmlformats.org/drawingml/2006/main">
            <a:pPr>
              <a:buNone/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 = 10 m/s²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80464-A5BE-4FBA-9D0B-C837A32E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6262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Angles in calculations and code use radians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6CD43-3F7A-4B39-8F14-3FDBC520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67575" y="2619375"/>
            <a:ext cx="13335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A278A-6118-4351-88F4-94165243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0425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879DE-F75F-4543-AE6C-64153252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B3A4A-47E4-45D4-A4C6-9AC6DC97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342423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FB28A2-BA7A-4358-927F-F811CC284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17145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DE4A1E-29F1-4235-AE2C-06DBCAE0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34125" y="46672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Hangs downward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5E9B5D-5F1C-4141-A32A-5C93BA08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0" y="33147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421EE-592E-467A-BA2B-19BFE58D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2552700"/>
            <a:ext cx="1857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794F1-DC52-4071-9CED-69E8FB3C8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05925" y="24955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42FA7-9ABD-454E-A314-C7583C01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571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2C2A6-4C3E-40F2-BAF8-E1B8C957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2238" y="2543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0376FF-81A0-4D86-9FB8-6F7560CC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1714500"/>
            <a:ext cx="1619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54DCDA-D739-41B4-81AD-06F15180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765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56887A-F979-4BF1-8710-246073A59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051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BA6103-35A3-4E23-8EFB-EA5BBC12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337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D7529D-D1E3-418D-9EDF-C2A6394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623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E57184-B4AD-447C-B290-4734916C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909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D3463E-11A5-417E-9D55-E6449BB8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195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9283C-638C-4116-B65D-4A602C56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4815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EE3F81-DF9A-4F12-9406-86965D34F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9375"/>
            <a:ext cx="495300" cy="495300"/>
          </a:xfrm>
          <a:custGeom xmlns:a="http://schemas.openxmlformats.org/drawingml/2006/main">
            <a:pathLst>
              <a:path w="495300" h="495300">
                <a:moveTo>
                  <a:pt x="0" y="495300"/>
                </a:moveTo>
                <a:cubicBezTo>
                  <a:pt x="273554" y="495300"/>
                  <a:pt x="495300" y="273554"/>
                  <a:pt x="49530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6B80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4FCA17-A76A-44D0-A066-3EFE8E34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8375" y="25336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71319D-6811-4693-A1EE-509931E9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91700" y="3257550"/>
            <a:ext cx="161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Positive 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8C09CE-5E34-4760-A3DE-A46A2B69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4667250"/>
            <a:ext cx="2190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Points right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88CE9F8-87EC-4FAD-8FF7-B5D902DE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0" y="2133600"/>
            <a:ext cx="1000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7AF5B0-4F1E-42AF-8ED3-856F18E2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5305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Downward reference</a:t>
            </a:r>
          </a:p>
        </p:txBody>
      </p:sp>
    </p:spTree>
    <p:extLst>
      <p:ext uri="{BB962C8B-B14F-4D97-AF65-F5344CB8AC3E}">
        <p14:creationId xmlns:p14="http://schemas.microsoft.com/office/powerpoint/2010/main" val="14598710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BF826-4165-41A2-8C95-49EDCDE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Q1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A stationary 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291AE0-7181-4E75-8796-D85AD7C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34367-7649-4C38-A169-52190227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arm is stationary and horizontal. Does the motor need to produce torque?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226F7F-F36A-4D0A-A431-F348DD9B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Yes, to oppose gravity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6CB0D-7707-45A5-B3E2-48B67B30F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No, because acceleration is zero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2728D-468A-473B-B2EF-8DC23B8DB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Only if the arm is moving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A64425-3171-4B7A-B4F8-7CB46164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Only if friction is present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6DB1C-51C0-4D66-8E15-86826254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1242687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4BA36-1E9B-45A4-90E9-275AE654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Inertia about the joint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3B469-42E3-491D-8448-AFFCD30C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27E387-A94B-45E2-B0DF-F79CF22F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71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 = ⅓mL² = ⅓(2)(0.6)² = 0.24 kg m²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4349-4F50-425C-87B6-A0B8E424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uniform rod has its center of mass at L/2.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79AEC-A565-4DCE-B0CB-5B59E26B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 about its COM is mL²/12. About the joint, use mL²/3.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2A5808-63A4-434A-8705-EE438A1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Greater inertia means greater torque for the same acceleration.</a:t>
            </a:r>
          </a:p>
        </p:txBody>
      </p:sp>
    </p:spTree>
    <p:extLst>
      <p:ext uri="{BB962C8B-B14F-4D97-AF65-F5344CB8AC3E}">
        <p14:creationId xmlns:p14="http://schemas.microsoft.com/office/powerpoint/2010/main" val="15292151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C67E16-78FE-4BAD-9013-8E41B64D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1R torque equation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816947-94C7-4964-9A2C-244DDCEF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5215EA-E683-43B8-B47E-BAD511AD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τ = Iθ̈ + bθ̇ + mgr꜀ sin 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590758-D81B-4FFF-BAC1-64D87ABE4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Iθ̈: acceleration torque       bθ̇: viscous-friction compensation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7ADBD-51DF-41DF-A96F-5C0EB5493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mgr꜀ sin θ: gravity compensation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AEB4BE-7CB4-48DF-90E4-6D365D82B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Use I = 0.24 kg m² and b = 0.1 N m s/rad.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EF58C-5DCD-4DB9-A918-2C2CE9B5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Q1</a:t>
            </a:r>
            <a:r>
              <a:rPr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 answer: A. At a horizontal hold, τ = mgr꜀ = 6 N 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F2222-E58A-43F1-842C-1C2B5EF4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0" y="3648075"/>
            <a:ext cx="30003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4623DB-5B43-4B5F-8503-01CC427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35909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54E0F6-56C2-445D-851B-C4CE8A2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89DFF-DB27-4C4E-81AA-DEA2C0732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4488" y="3638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66DCA6-D9C6-4993-9873-F3BD7D3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15438" y="3943350"/>
            <a:ext cx="190500" cy="1104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3C443-28A9-4F9C-8FC9-C44CAE01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428625" cy="428625"/>
          </a:xfrm>
          <a:custGeom xmlns:a="http://schemas.openxmlformats.org/drawingml/2006/main">
            <a:pathLst>
              <a:path w="428625" h="428625">
                <a:moveTo>
                  <a:pt x="0" y="428625"/>
                </a:moveTo>
                <a:cubicBezTo>
                  <a:pt x="236730" y="428625"/>
                  <a:pt x="428625" y="236730"/>
                  <a:pt x="428625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E6B80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8FCB4-D76E-47AF-9063-60FB5C6A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2450" y="36290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994DE-C67B-44C6-AF25-5E565192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325" y="2695575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Motor torque 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BB616B-3814-4D0D-95B1-457666D5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4410075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E75D59-B292-4023-9764-EC08D046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86125"/>
            <a:ext cx="150018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FEDD0-E7D1-4001-B9E6-FB1A90329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813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F36FD2-C5B6-4557-8CF1-A2085062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0688" y="3181350"/>
            <a:ext cx="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66C720-BBCC-4278-A2F6-5CD8C11D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2847975"/>
            <a:ext cx="61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F7921-5716-4A1C-9EB3-178DC1E80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53816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Horizontal hold</a:t>
            </a:r>
          </a:p>
        </p:txBody>
      </p:sp>
    </p:spTree>
    <p:extLst>
      <p:ext uri="{BB962C8B-B14F-4D97-AF65-F5344CB8AC3E}">
        <p14:creationId xmlns:p14="http://schemas.microsoft.com/office/powerpoint/2010/main" val="18618569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8E2963-1E52-4BF8-A280-6B7E42C43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Holding at 30°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FD54-0922-45EC-9C12-5D7AF6F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F9371-4567-40FD-82B7-31DD8F75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 = 2 kg, r꜀ = 0.3 m, g = 10 m/s².</a:t>
            </a:r>
          </a:p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θ = 30°, θ̇ = 0, θ̈ = 0, what holding torque is required?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83EDA-B0FA-454F-8035-EDB4AABB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0 N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8355A-C657-4E3D-A273-043D624B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3 N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CF68B-A49C-42FA-AF15-A308C0B0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6 N 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E3DD2-8DC7-4391-B6EE-43C2888E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12 N 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075A10-346F-47B7-A717-82DD9368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12081871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E32024-5339-48E5-9A42-7FE7EDB7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Q2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answer: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C840C-5F35-4386-BB3B-C33FCA38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194314-283A-4910-B40D-19736D01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71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τ = (2)(10)(0.3) sin 30° = 3 N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FA5A2-5229-47F8-89A2-0467079B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rest, inertia and viscous-friction terms are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21B5A-E15C-4D49-905E-54369C3F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torque depends on the arm’s orientation.</a:t>
            </a:r>
          </a:p>
        </p:txBody>
      </p:sp>
    </p:spTree>
    <p:extLst>
      <p:ext uri="{BB962C8B-B14F-4D97-AF65-F5344CB8AC3E}">
        <p14:creationId xmlns:p14="http://schemas.microsoft.com/office/powerpoint/2010/main" val="16522853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7C4C7E-17C5-4BE2-826A-7DA53D42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point payload at the tip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018B7-36A9-45DD-A5C4-6B359C2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3EFFB-D14F-4475-8479-BD83CF9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647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Inew = I + mₚL²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8A497-F176-4269-A7FD-56DC660C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coefficient becomes mgr꜀ + mₚgL.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4C63E-B9A4-42A0-9714-F76176A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 mₚ = 0.5 kg: Inew = 0.24 + 0.18 = 0.42 kg m².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5EF79-2E59-40A2-8D0F-73E29F8DF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47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Required torque: τ = Inewθ̈ + bθ̇ + (mgr꜀ + mₚgL) sin 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D8460-2E2D-4FE0-876A-B009BC05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962275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2026B1-F945-4729-81D6-171471FA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29051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FCE3F9-F923-4276-A4F0-F06D0317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2981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A689E-575E-4555-B1B4-9BC1B063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913" y="29527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CB804-2103-4BA9-A625-D2AD19DA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Link 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8ABDF-A1A9-4C7E-8BD0-54453A44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3400425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τhold = 6 N 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387A4-0027-4111-9D2C-CE9BBBFA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886325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A825C9-1725-4DB2-82B1-F86DA3C3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96225" y="48291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340B44-4FA4-44FD-9DC9-D9785DB1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72425" y="4905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A1429-1B47-43FE-AD10-A6CD0DAD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5913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211588-ECD7-4012-84F2-B2F88D1B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63200" y="4743450"/>
            <a:ext cx="400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EC1DAE-0ED0-44E2-A4C4-CC783B12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81925" y="4010025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0.5 kg at the tip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C377D-848E-4C4C-BA6C-898A9C0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48625" y="5391150"/>
            <a:ext cx="323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τhold = 9 N m</a:t>
            </a:r>
          </a:p>
        </p:txBody>
      </p:sp>
    </p:spTree>
    <p:extLst>
      <p:ext uri="{BB962C8B-B14F-4D97-AF65-F5344CB8AC3E}">
        <p14:creationId xmlns:p14="http://schemas.microsoft.com/office/powerpoint/2010/main" val="12722746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9E852A-4D5C-4DFF-8D3F-C7EA9BD6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1: Holding torque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0634C-94D4-4B3B-A20B-A8927AEB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6CA345B-13E1-432D-8765-CD45218337B5}"/>
              </a:ext>
            </a:extLst>
          </p:cNvPr>
          <p:cNvGraphicFramePr/>
          <p:nvPr/>
        </p:nvGraphicFramePr>
        <p:xfrm>
          <a:off xmlns:a="http://schemas.openxmlformats.org/drawingml/2006/main" x="666750" y="1762125"/>
          <a:ext xmlns:a="http://schemas.openxmlformats.org/drawingml/2006/main" cx="6191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03d09bfe7ab495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E3D37-CB55-4509-BF4F-D8FC2E33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14500"/>
            <a:ext cx="41910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1 in the notebook.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torque at 0°, 30°, 90°, 180°.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Compare payload cases and explain the curve.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0BFBF3-E5B4-475A-A525-04060C075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8 minutes · Submit your plot and a two-sentence explanation</a:t>
            </a:r>
          </a:p>
        </p:txBody>
      </p:sp>
    </p:spTree>
    <p:extLst>
      <p:ext uri="{BB962C8B-B14F-4D97-AF65-F5344CB8AC3E}">
        <p14:creationId xmlns:p14="http://schemas.microsoft.com/office/powerpoint/2010/main" val="12198009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6C58FC-F359-4BE1-BAF8-2588E3F3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Kinetic and potential energy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980FE-A35D-4D13-9AF8-488ED318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7CC6CB-C325-4DD7-A64D-7BD2D0E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63341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6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T = ½Iθ̇²</a:t>
            </a:r>
          </a:p>
          <a:p xmlns:a="http://schemas.openxmlformats.org/drawingml/2006/main">
            <a:pPr>
              <a:buNone/>
              <a:defRPr sz="262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V = mgr꜀(1 − cos θ)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B6F9DC-BDBA-444A-912E-F7B0F631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Kinetic energy measures motion.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8A460-A21E-490C-AB5F-7E11BD6D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Potential energy measures height relative to the lowest position.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906D2-AC6B-4190-8A89-08AE6D32D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334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buNone/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Lagrangian is ℒ = T − V.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C57682-2BA9-4549-8B2E-959981BD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86700" y="2638425"/>
            <a:ext cx="1333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A7B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23503-CD3E-41A4-AF20-1F373A8E3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514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C3CB13-8816-43D8-8735-730BE8E6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1E1E3-97D3-4943-8DAB-75BCC6DB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77175" y="3633788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895ABB-44B1-49DA-B0E2-B4BB3F1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2571750"/>
            <a:ext cx="2143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CEB024-1DE8-46CB-B4CD-0F63856E4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514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1C7C31-697B-4441-B3A5-56F953D4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590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1CDBF-772C-45C7-B33C-51264492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8738" y="2562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B80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6BBBF-5867-40C4-8562-711C27AA9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4938" y="2638425"/>
            <a:ext cx="176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574CD-4805-4FA8-ACC1-835A418F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09988"/>
            <a:ext cx="2828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CD91D-0D39-49D3-AF77-526E5D4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638425"/>
            <a:ext cx="0" cy="10715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2CE338-34C6-4B32-B5BF-2A3E0484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38425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D9AE7-C510-41E5-82B6-7FC9212D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09988"/>
            <a:ext cx="22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A7B4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575012-1482-401E-8E17-28C14BAE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3038475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Δh = r꜀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E9ED9-78BF-4D64-B4D3-CFCEB42B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2038350"/>
            <a:ext cx="219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θ = 90°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0B7C4-32B3-44AB-820B-CF0A95523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3475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θ = 0°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59F6C4-A5A3-4D6D-AF55-F9EABD1A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975" y="5667375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COM rises by r꜀ at 90°</a:t>
            </a:r>
          </a:p>
        </p:txBody>
      </p:sp>
    </p:spTree>
    <p:extLst>
      <p:ext uri="{BB962C8B-B14F-4D97-AF65-F5344CB8AC3E}">
        <p14:creationId xmlns:p14="http://schemas.microsoft.com/office/powerpoint/2010/main" val="15639472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091423-3358-4B91-961E-ED765584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Partial derivatives in the energy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6D387-D29B-405C-A1A9-25F7E4C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CA720E-4D7E-4FBC-BFD8-7A26AEC0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7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τ = d/dt(∂ℒ/∂θ̇) − ∂ℒ/∂θ + bθ̇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BB4228-40CA-412B-96DA-10B3105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∂ℒ/∂θ̇ = Iθ̇          d/dt(Iθ̇) = Iθ̈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D126C7-A364-4B81-B411-45E6DA8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∂ℒ/∂θ = −mgr꜀ sin 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59A4E-7B20-4888-BD70-4DBA04F1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Substitution gives τ = Iθ̈ + mgr꜀ sin θ + bθ̇.</a:t>
            </a:r>
          </a:p>
        </p:txBody>
      </p:sp>
    </p:spTree>
    <p:extLst>
      <p:ext uri="{BB962C8B-B14F-4D97-AF65-F5344CB8AC3E}">
        <p14:creationId xmlns:p14="http://schemas.microsoft.com/office/powerpoint/2010/main" val="3460235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49AB2-6B11-4305-BC83-B27D48A9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Forward dynamics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CEC2F-CBCC-4913-AD40-54CB4313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8C6DBD-2AFE-43AA-84DE-8240AD90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71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θ̈ = [τ − bθ̇ − mgr꜀ sin θ] / 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76EFA-4499-4D58-99A7-2D957C866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Inverse dynamics: known motion, calculate required torque.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B1B1E-9DBC-481C-8660-6A5F4116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Forward dynamics: known torque and state, calculate acceleration.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C74E4-CE42-4F3E-A0FF-B83E80A1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simulation integrates acceleration to update velocity and angle.</a:t>
            </a:r>
          </a:p>
        </p:txBody>
      </p:sp>
    </p:spTree>
    <p:extLst>
      <p:ext uri="{BB962C8B-B14F-4D97-AF65-F5344CB8AC3E}">
        <p14:creationId xmlns:p14="http://schemas.microsoft.com/office/powerpoint/2010/main" val="11984307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40045C-42D9-44D2-9361-0198697C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The released 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1571FC-3A80-4EC4-B06E-AD111C824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639B6-21EF-4B8B-970F-8BE0D3095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 = 0.24 kg m², mgr꜀ = 6 N m.</a:t>
            </a:r>
          </a:p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Release at θ = 30° with θ̇ = 0 and τ = 0. What is the initial acceleration?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8371-F58D-4E4F-B9F9-7833FADD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-12.5 rad/s^2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347495-0E99-41F2-83DE-1B1EE747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0 rad/s^2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8DA796-0741-4784-8597-BCC911D9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+12.5 rad/s^2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57468A-FED7-4F4B-BA4B-0B0311A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-25 rad/s^2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2F9CB-9EF2-426E-83DC-07A6434D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</p:spTree>
    <p:extLst>
      <p:ext uri="{BB962C8B-B14F-4D97-AF65-F5344CB8AC3E}">
        <p14:creationId xmlns:p14="http://schemas.microsoft.com/office/powerpoint/2010/main" val="164995425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56F188-46F7-411A-99A3-3DB7886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Q3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answer: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7DA95-E6E1-4C3E-BEAC-6F26D7BC6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C95EA8-C29A-41D0-AD71-7F3E2F13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71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θ̈ = −6 sin 30° / 0.24 = −12.5 rad/s²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CE88B-7679-430A-AFCD-767B4CFD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The negative acceleration initially moves the arm toward θ = 0.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F12B0-C1A9-4E2E-8265-46D4E407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release, viscous-friction torque is zero because velocity is zero.</a:t>
            </a:r>
          </a:p>
        </p:txBody>
      </p:sp>
    </p:spTree>
    <p:extLst>
      <p:ext uri="{BB962C8B-B14F-4D97-AF65-F5344CB8AC3E}">
        <p14:creationId xmlns:p14="http://schemas.microsoft.com/office/powerpoint/2010/main" val="20812991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4A26A-ED3A-447D-95C8-250B1DD1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 preview of trajectory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BBAFA-22B1-46B7-A472-1DA5C763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96FF3-604A-4C7C-AB49-8E67548B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71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θ(t) = θ₀ + Δθ(3s² − 2s³),    s = t/Tf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9861-2B5A-4F4E-B2DE-89B5328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θ̇(t) = Δθ(6s − 6s²)/Tf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2991DE-7848-44E8-8E99-21C2A541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θ̈(t) = Δθ(6 − 12s)/Tf²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73F89-2F8C-4BC3-8D8E-BE2801B6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Move from θ₀ = 0 to θf = π/2, with zero endpoint velocity.</a:t>
            </a:r>
          </a:p>
        </p:txBody>
      </p:sp>
    </p:spTree>
    <p:extLst>
      <p:ext uri="{BB962C8B-B14F-4D97-AF65-F5344CB8AC3E}">
        <p14:creationId xmlns:p14="http://schemas.microsoft.com/office/powerpoint/2010/main" val="196369670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46832-2131-4262-9C36-A7CB0F8B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The same motion in half the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2C5CB-B8B6-4C7D-9563-7AB21638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D0622-A955-48DC-B22C-1AA758C2D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71625"/>
            <a:ext cx="107156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cubic rest-to-rest motion takes 1 s instead of 2 s.</a:t>
            </a:r>
          </a:p>
          <a:p xmlns:a="http://schemas.openxmlformats.org/drawingml/2006/main">
            <a:pPr>
              <a:defRPr sz="217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How do peak absolute velocity and acceleration change?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DB3DA3-DF43-4158-B457-8F8B6C06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956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A.  Velocity x2, acceleration x2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96AB2-4CF1-4185-986A-272B87255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242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B.  Velocity x2, acceleration x4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C7E6C7-AC14-4256-998C-D6983C99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5292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C.  Velocity x4, acceleration x2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6D634-2E91-4AA0-A43E-D3E5060F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815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D.  Both unchanged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EC3010-4480-4E45-AED2-85BEF889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Poll Everywhere · </a:t>
            </a: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</p:spTree>
    <p:extLst>
      <p:ext uri="{BB962C8B-B14F-4D97-AF65-F5344CB8AC3E}">
        <p14:creationId xmlns:p14="http://schemas.microsoft.com/office/powerpoint/2010/main" val="206423943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1F7C1-2F3F-45FC-84A2-EF017331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Q4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 answer: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1456A-811A-4239-A8CC-614243CF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97AC7E-521A-4D64-8CA4-F4914570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715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Peak |θ̇| doubles. Peak |θ̈| quadruples.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CD4E6-81E1-4987-A313-D9271E8D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Velocity scales as 1/Tf, and acceleration as 1/Tf².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B34B54-3F48-4557-A36B-3DF72363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15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torque quadruples. Total torque need not quadruple.</a:t>
            </a:r>
          </a:p>
        </p:txBody>
      </p:sp>
    </p:spTree>
    <p:extLst>
      <p:ext uri="{BB962C8B-B14F-4D97-AF65-F5344CB8AC3E}">
        <p14:creationId xmlns:p14="http://schemas.microsoft.com/office/powerpoint/2010/main" val="100491428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114F3-8787-40F8-A1F3-18A049AA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Coding activity 2</a:t>
            </a: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: Motion time and torque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071910-5C65-4BA4-BCC9-724EEF50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AC9D1-BBB1-483A-83BB-7C64F334C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Run Activity 2</a:t>
            </a: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. Compare 0° to 90° motions in 2 s and 1 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E1371-07B4-4C60-AB50-9E0EC5A8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Report peak |θ̇|, |θ̈|, inertial torque and total torque.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081624-6C21-43A5-9BCF-4C8CFBC7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Check a ±6 N m joint torque limit, including the final hold.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26469-1227-4981-A066-352115A5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Repeat with a 0.5 kg tip payload. Explain whether slowing helps.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32C0-D83B-4F17-958C-520073A8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12 minutes · Submit plots, peak values, and a feasibility conclusion</a:t>
            </a:r>
          </a:p>
        </p:txBody>
      </p:sp>
    </p:spTree>
    <p:extLst>
      <p:ext uri="{BB962C8B-B14F-4D97-AF65-F5344CB8AC3E}">
        <p14:creationId xmlns:p14="http://schemas.microsoft.com/office/powerpoint/2010/main" val="75992879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FCC1C5-866D-4759-BDE1-FF4CA53F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Motion-time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4E786-1A37-406E-A47F-285337C7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5522E6B8-6850-48BB-A1CC-F862D788A470}"/>
              </a:ext>
            </a:extLst>
          </p:cNvPr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6667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c0e7f74c454176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2551AD-B806-44A9-B079-E2E7D604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66712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At the same 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Gravity term is unchanged.</a:t>
            </a:r>
          </a:p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Friction term doubles.</a:t>
            </a:r>
          </a:p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Inertial term quadruples.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A payload needs 9 N m at the final hold.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4BE040-B6AC-4F25-B579-670FBDD8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No payload · Both motions reach the same final pose</a:t>
            </a:r>
          </a:p>
        </p:txBody>
      </p:sp>
    </p:spTree>
    <p:extLst>
      <p:ext uri="{BB962C8B-B14F-4D97-AF65-F5344CB8AC3E}">
        <p14:creationId xmlns:p14="http://schemas.microsoft.com/office/powerpoint/2010/main" val="212707783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2669E-5342-4690-9963-13B37EDF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Next: Chapter 7 trajectory generation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51DC9B-D3C8-403C-A470-792EC08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34125"/>
            <a:ext cx="523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7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6A7B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522E5-731C-4701-B43A-8D729D026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Kinematics selects the joint configuration.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BBE15-0893-4C5F-95C0-BD781EAD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Trajectory generation specifies how that configuration changes over time.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4058BB-B230-4820-A63D-06F468C2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Dynamics checks the torque required for that motion.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D917C-5797-42B6-BEAF-D35C8D64A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7156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5364A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64A"/>
                </a:solidFill>
                <a:latin typeface="Aptos"/>
                <a:ea typeface="Aptos"/>
                <a:cs typeface="Aptos"/>
              </a:rPr>
              <a:t>Feedback control helps the real robot follow the desired trajectory.</a:t>
            </a:r>
          </a:p>
        </p:txBody>
      </p:sp>
    </p:spTree>
    <p:extLst>
      <p:ext uri="{BB962C8B-B14F-4D97-AF65-F5344CB8AC3E}">
        <p14:creationId xmlns:p14="http://schemas.microsoft.com/office/powerpoint/2010/main" val="1301299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2026-10-14T01:12:54.0820000Z</dcterms:created>
  <dcterms:modified xsi:type="dcterms:W3CDTF">2026-10-14T01:12:54.0820000Z</dcterms:modified>
</coreProperties>
</file>