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rts/chart2.xml" ContentType="application/vnd.openxmlformats-officedocument.drawingml.chart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v>No payload</c:v>
          </c:tx>
          <c:spPr>
            <a:ln w="28575">
              <a:solidFill>
                <a:srgbClr val="17324D"/>
              </a:solidFill>
            </a:ln>
          </c:spPr>
          <c:marker>
            <c:symbol val="none"/>
          </c:marker>
          <c:xVal>
            <c:numRef>
              <c:f>'Chart Data'!$A$2:$A$20</c:f>
              <c:numCache>
                <c:formatCode>0.0</c:formatCode>
                <c:ptCount val="19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40</c:v>
                </c:pt>
                <c:pt idx="5">
                  <c:v>50</c:v>
                </c:pt>
                <c:pt idx="6">
                  <c:v>60</c:v>
                </c:pt>
                <c:pt idx="7">
                  <c:v>70</c:v>
                </c:pt>
                <c:pt idx="8">
                  <c:v>80</c:v>
                </c:pt>
                <c:pt idx="9">
                  <c:v>90</c:v>
                </c:pt>
                <c:pt idx="10">
                  <c:v>100</c:v>
                </c:pt>
                <c:pt idx="11">
                  <c:v>110</c:v>
                </c:pt>
                <c:pt idx="12">
                  <c:v>120</c:v>
                </c:pt>
                <c:pt idx="13">
                  <c:v>130</c:v>
                </c:pt>
                <c:pt idx="14">
                  <c:v>140</c:v>
                </c:pt>
                <c:pt idx="15">
                  <c:v>150</c:v>
                </c:pt>
                <c:pt idx="16">
                  <c:v>160</c:v>
                </c:pt>
                <c:pt idx="17">
                  <c:v>170</c:v>
                </c:pt>
                <c:pt idx="18">
                  <c:v>180</c:v>
                </c:pt>
              </c:numCache>
            </c:numRef>
          </c:xVal>
          <c:yVal>
            <c:numRef>
              <c:f>'Chart Data'!$B$2:$B$20</c:f>
              <c:numCache>
                <c:formatCode>0.00</c:formatCode>
                <c:ptCount val="19"/>
                <c:pt idx="0">
                  <c:v>0</c:v>
                </c:pt>
                <c:pt idx="1">
                  <c:v>1.0418890700000001</c:v>
                </c:pt>
                <c:pt idx="2">
                  <c:v>2.05212086</c:v>
                </c:pt>
                <c:pt idx="3">
                  <c:v>3</c:v>
                </c:pt>
                <c:pt idx="4">
                  <c:v>3.8567256599999999</c:v>
                </c:pt>
                <c:pt idx="5">
                  <c:v>4.5962666600000004</c:v>
                </c:pt>
                <c:pt idx="6">
                  <c:v>5.1961524199999998</c:v>
                </c:pt>
                <c:pt idx="7">
                  <c:v>5.6381557200000003</c:v>
                </c:pt>
                <c:pt idx="8">
                  <c:v>5.90884652</c:v>
                </c:pt>
                <c:pt idx="9">
                  <c:v>6</c:v>
                </c:pt>
                <c:pt idx="10">
                  <c:v>5.90884652</c:v>
                </c:pt>
                <c:pt idx="11">
                  <c:v>5.6381557200000003</c:v>
                </c:pt>
                <c:pt idx="12">
                  <c:v>5.1961524199999998</c:v>
                </c:pt>
                <c:pt idx="13">
                  <c:v>4.5962666600000004</c:v>
                </c:pt>
                <c:pt idx="14">
                  <c:v>3.8567256599999999</c:v>
                </c:pt>
                <c:pt idx="15">
                  <c:v>3</c:v>
                </c:pt>
                <c:pt idx="16">
                  <c:v>2.05212086</c:v>
                </c:pt>
                <c:pt idx="17">
                  <c:v>1.0418890700000001</c:v>
                </c:pt>
                <c:pt idx="18">
                  <c:v>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E580-4F21-98E5-B3E225F8F089}"/>
            </c:ext>
          </c:extLst>
        </c:ser>
        <c:ser>
          <c:idx val="1"/>
          <c:order val="1"/>
          <c:tx>
            <c:v>0.5 kg payload</c:v>
          </c:tx>
          <c:spPr>
            <a:ln w="28575">
              <a:solidFill>
                <a:srgbClr val="E6B800"/>
              </a:solidFill>
            </a:ln>
          </c:spPr>
          <c:marker>
            <c:symbol val="none"/>
          </c:marker>
          <c:xVal>
            <c:numRef>
              <c:f>'Chart Data'!$C$2:$C$20</c:f>
              <c:numCache>
                <c:formatCode>0.0</c:formatCode>
                <c:ptCount val="19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40</c:v>
                </c:pt>
                <c:pt idx="5">
                  <c:v>50</c:v>
                </c:pt>
                <c:pt idx="6">
                  <c:v>60</c:v>
                </c:pt>
                <c:pt idx="7">
                  <c:v>70</c:v>
                </c:pt>
                <c:pt idx="8">
                  <c:v>80</c:v>
                </c:pt>
                <c:pt idx="9">
                  <c:v>90</c:v>
                </c:pt>
                <c:pt idx="10">
                  <c:v>100</c:v>
                </c:pt>
                <c:pt idx="11">
                  <c:v>110</c:v>
                </c:pt>
                <c:pt idx="12">
                  <c:v>120</c:v>
                </c:pt>
                <c:pt idx="13">
                  <c:v>130</c:v>
                </c:pt>
                <c:pt idx="14">
                  <c:v>140</c:v>
                </c:pt>
                <c:pt idx="15">
                  <c:v>150</c:v>
                </c:pt>
                <c:pt idx="16">
                  <c:v>160</c:v>
                </c:pt>
                <c:pt idx="17">
                  <c:v>170</c:v>
                </c:pt>
                <c:pt idx="18">
                  <c:v>180</c:v>
                </c:pt>
              </c:numCache>
            </c:numRef>
          </c:xVal>
          <c:yVal>
            <c:numRef>
              <c:f>'Chart Data'!$D$2:$D$20</c:f>
              <c:numCache>
                <c:formatCode>0.00</c:formatCode>
                <c:ptCount val="19"/>
                <c:pt idx="0">
                  <c:v>0</c:v>
                </c:pt>
                <c:pt idx="1">
                  <c:v>1.5628336</c:v>
                </c:pt>
                <c:pt idx="2">
                  <c:v>3.0781812899999998</c:v>
                </c:pt>
                <c:pt idx="3">
                  <c:v>4.5</c:v>
                </c:pt>
                <c:pt idx="4">
                  <c:v>5.7850884899999997</c:v>
                </c:pt>
                <c:pt idx="5">
                  <c:v>6.8943999900000001</c:v>
                </c:pt>
                <c:pt idx="6">
                  <c:v>7.7942286300000001</c:v>
                </c:pt>
                <c:pt idx="7">
                  <c:v>8.4572335899999995</c:v>
                </c:pt>
                <c:pt idx="8">
                  <c:v>8.8632697799999995</c:v>
                </c:pt>
                <c:pt idx="9">
                  <c:v>9</c:v>
                </c:pt>
                <c:pt idx="10">
                  <c:v>8.8632697799999995</c:v>
                </c:pt>
                <c:pt idx="11">
                  <c:v>8.4572335899999995</c:v>
                </c:pt>
                <c:pt idx="12">
                  <c:v>7.7942286300000001</c:v>
                </c:pt>
                <c:pt idx="13">
                  <c:v>6.8943999900000001</c:v>
                </c:pt>
                <c:pt idx="14">
                  <c:v>5.7850884899999997</c:v>
                </c:pt>
                <c:pt idx="15">
                  <c:v>4.5</c:v>
                </c:pt>
                <c:pt idx="16">
                  <c:v>3.0781812899999998</c:v>
                </c:pt>
                <c:pt idx="17">
                  <c:v>1.5628336</c:v>
                </c:pt>
                <c:pt idx="18">
                  <c:v>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E580-4F21-98E5-B3E225F8F08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</c:scaling>
        <c:delete val="0"/>
        <c:axPos val="l"/>
        <c:majorGridlines>
          <c:spPr>
            <a:ln w="9525">
              <a:solidFill>
                <a:srgbClr val="D9E0E6"/>
              </a:solidFill>
            </a:ln>
          </c:spPr>
        </c:majorGridlines>
        <c:title>
          <c:tx>
            <c:rich>
              <a:bodyPr/>
              <a:lstStyle/>
              <a:p>
                <a:r>
                  <a:t>Holding torque (N m)</a:t>
                </a:r>
              </a:p>
            </c:rich>
          </c:tx>
          <c:overlay val="0"/>
        </c:title>
        <c:numFmt formatCode="0.0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00">
                <a:solidFill>
                  <a:srgbClr val="25364A"/>
                </a:solidFill>
              </a:defRPr>
            </a:pPr>
            <a:endParaRPr lang="en-US"/>
          </a:p>
        </c:txPr>
        <c:crossAx val="48650112"/>
        <c:crosses val="autoZero"/>
        <c:crossBetween val="midCat"/>
      </c:valAx>
      <c:val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Angle from downward vertical (deg)</a:t>
                </a:r>
              </a:p>
            </c:rich>
          </c:tx>
          <c:overlay val="0"/>
        </c:title>
        <c:numFmt formatCode="0.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00">
                <a:solidFill>
                  <a:srgbClr val="25364A"/>
                </a:solidFill>
              </a:defRPr>
            </a:pPr>
            <a:endParaRPr lang="en-US"/>
          </a:p>
        </c:txPr>
        <c:crossAx val="48672768"/>
        <c:crosses val="autoZero"/>
        <c:crossBetween val="midCat"/>
      </c:valAx>
      <c:spPr>
        <a:solidFill>
          <a:srgbClr val="FFFFFF"/>
        </a:solidFill>
      </c:spPr>
    </c:plotArea>
    <c:legend>
      <c:legendPos val="b"/>
      <c:overlay val="0"/>
      <c:txPr>
        <a:bodyPr anchorCtr="1"/>
        <a:lstStyle/>
        <a:p>
          <a:pPr>
            <a:defRPr sz="1650">
              <a:solidFill>
                <a:srgbClr val="25364A"/>
              </a:solidFill>
            </a:defRPr>
          </a:pPr>
          <a:endParaRPr lang="en-US"/>
        </a:p>
      </c:txPr>
    </c:legend>
    <c:plotVisOnly val="1"/>
    <c:dispBlanksAs val="zero"/>
    <c:showDLblsOverMax val="1"/>
  </c:chart>
  <c:spPr>
    <a:solidFill>
      <a:srgbClr val="FFFFFF"/>
    </a:solidFill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v>2 s motion</c:v>
          </c:tx>
          <c:spPr>
            <a:ln w="28575">
              <a:solidFill>
                <a:srgbClr val="17324D"/>
              </a:solidFill>
            </a:ln>
          </c:spPr>
          <c:marker>
            <c:symbol val="none"/>
          </c:marker>
          <c:xVal>
            <c:numRef>
              <c:f>'Chart Data'!$A$2:$A$42</c:f>
              <c:numCache>
                <c:formatCode>0.0</c:formatCode>
                <c:ptCount val="41"/>
                <c:pt idx="0">
                  <c:v>0</c:v>
                </c:pt>
                <c:pt idx="1">
                  <c:v>2.5000000000000001E-2</c:v>
                </c:pt>
                <c:pt idx="2">
                  <c:v>0.05</c:v>
                </c:pt>
                <c:pt idx="3">
                  <c:v>7.4999999999999997E-2</c:v>
                </c:pt>
                <c:pt idx="4">
                  <c:v>0.1</c:v>
                </c:pt>
                <c:pt idx="5">
                  <c:v>0.125</c:v>
                </c:pt>
                <c:pt idx="6">
                  <c:v>0.15</c:v>
                </c:pt>
                <c:pt idx="7">
                  <c:v>0.17499999999999999</c:v>
                </c:pt>
                <c:pt idx="8">
                  <c:v>0.2</c:v>
                </c:pt>
                <c:pt idx="9">
                  <c:v>0.22500000000000001</c:v>
                </c:pt>
                <c:pt idx="10">
                  <c:v>0.25</c:v>
                </c:pt>
                <c:pt idx="11">
                  <c:v>0.27500000000000002</c:v>
                </c:pt>
                <c:pt idx="12">
                  <c:v>0.3</c:v>
                </c:pt>
                <c:pt idx="13">
                  <c:v>0.32500000000000001</c:v>
                </c:pt>
                <c:pt idx="14">
                  <c:v>0.35</c:v>
                </c:pt>
                <c:pt idx="15">
                  <c:v>0.375</c:v>
                </c:pt>
                <c:pt idx="16">
                  <c:v>0.4</c:v>
                </c:pt>
                <c:pt idx="17">
                  <c:v>0.42499999999999999</c:v>
                </c:pt>
                <c:pt idx="18">
                  <c:v>0.45</c:v>
                </c:pt>
                <c:pt idx="19">
                  <c:v>0.47499999999999998</c:v>
                </c:pt>
                <c:pt idx="20">
                  <c:v>0.5</c:v>
                </c:pt>
                <c:pt idx="21">
                  <c:v>0.52500000000000002</c:v>
                </c:pt>
                <c:pt idx="22">
                  <c:v>0.55000000000000004</c:v>
                </c:pt>
                <c:pt idx="23">
                  <c:v>0.57499999999999996</c:v>
                </c:pt>
                <c:pt idx="24">
                  <c:v>0.6</c:v>
                </c:pt>
                <c:pt idx="25">
                  <c:v>0.625</c:v>
                </c:pt>
                <c:pt idx="26">
                  <c:v>0.65</c:v>
                </c:pt>
                <c:pt idx="27">
                  <c:v>0.67500000000000004</c:v>
                </c:pt>
                <c:pt idx="28">
                  <c:v>0.7</c:v>
                </c:pt>
                <c:pt idx="29">
                  <c:v>0.72499999999999998</c:v>
                </c:pt>
                <c:pt idx="30">
                  <c:v>0.75</c:v>
                </c:pt>
                <c:pt idx="31">
                  <c:v>0.77500000000000002</c:v>
                </c:pt>
                <c:pt idx="32">
                  <c:v>0.8</c:v>
                </c:pt>
                <c:pt idx="33">
                  <c:v>0.82499999999999996</c:v>
                </c:pt>
                <c:pt idx="34">
                  <c:v>0.85</c:v>
                </c:pt>
                <c:pt idx="35">
                  <c:v>0.875</c:v>
                </c:pt>
                <c:pt idx="36">
                  <c:v>0.9</c:v>
                </c:pt>
                <c:pt idx="37">
                  <c:v>0.92500000000000004</c:v>
                </c:pt>
                <c:pt idx="38">
                  <c:v>0.95</c:v>
                </c:pt>
                <c:pt idx="39">
                  <c:v>0.97499999999999998</c:v>
                </c:pt>
                <c:pt idx="40">
                  <c:v>1</c:v>
                </c:pt>
              </c:numCache>
            </c:numRef>
          </c:xVal>
          <c:yVal>
            <c:numRef>
              <c:f>'Chart Data'!$B$2:$B$42</c:f>
              <c:numCache>
                <c:formatCode>0.00</c:formatCode>
                <c:ptCount val="41"/>
                <c:pt idx="0">
                  <c:v>0.56548668000000002</c:v>
                </c:pt>
                <c:pt idx="1">
                  <c:v>0.56607569999999996</c:v>
                </c:pt>
                <c:pt idx="2">
                  <c:v>0.59965002000000001</c:v>
                </c:pt>
                <c:pt idx="3">
                  <c:v>0.66443087999999995</c:v>
                </c:pt>
                <c:pt idx="4">
                  <c:v>0.75860954999999997</c:v>
                </c:pt>
                <c:pt idx="5">
                  <c:v>0.88032027999999996</c:v>
                </c:pt>
                <c:pt idx="6">
                  <c:v>1.0276103299999999</c:v>
                </c:pt>
                <c:pt idx="7">
                  <c:v>1.1984110800000001</c:v>
                </c:pt>
                <c:pt idx="8">
                  <c:v>1.3905132200000001</c:v>
                </c:pt>
                <c:pt idx="9">
                  <c:v>1.6015487500000001</c:v>
                </c:pt>
                <c:pt idx="10">
                  <c:v>1.8289817100000001</c:v>
                </c:pt>
                <c:pt idx="11">
                  <c:v>2.07010899</c:v>
                </c:pt>
                <c:pt idx="12">
                  <c:v>2.3220721100000001</c:v>
                </c:pt>
                <c:pt idx="13">
                  <c:v>2.5818800099999999</c:v>
                </c:pt>
                <c:pt idx="14">
                  <c:v>2.8464425699999998</c:v>
                </c:pt>
                <c:pt idx="15">
                  <c:v>3.11261367</c:v>
                </c:pt>
                <c:pt idx="16">
                  <c:v>3.3772424499999998</c:v>
                </c:pt>
                <c:pt idx="17">
                  <c:v>3.6372307099999999</c:v>
                </c:pt>
                <c:pt idx="18">
                  <c:v>3.8895940599999999</c:v>
                </c:pt>
                <c:pt idx="19">
                  <c:v>4.1315243199999996</c:v>
                </c:pt>
                <c:pt idx="20">
                  <c:v>4.3604504100000003</c:v>
                </c:pt>
                <c:pt idx="21">
                  <c:v>4.5740951799999996</c:v>
                </c:pt>
                <c:pt idx="22">
                  <c:v>4.7705254799999999</c:v>
                </c:pt>
                <c:pt idx="23">
                  <c:v>4.9481934000000001</c:v>
                </c:pt>
                <c:pt idx="24">
                  <c:v>5.1059668900000004</c:v>
                </c:pt>
                <c:pt idx="25">
                  <c:v>5.2431483099999996</c:v>
                </c:pt>
                <c:pt idx="26">
                  <c:v>5.3594801299999997</c:v>
                </c:pt>
                <c:pt idx="27">
                  <c:v>5.4551376300000003</c:v>
                </c:pt>
                <c:pt idx="28">
                  <c:v>5.5307087099999999</c:v>
                </c:pt>
                <c:pt idx="29">
                  <c:v>5.58716159</c:v>
                </c:pt>
                <c:pt idx="30">
                  <c:v>5.6258014699999999</c:v>
                </c:pt>
                <c:pt idx="31">
                  <c:v>5.6482175699999999</c:v>
                </c:pt>
                <c:pt idx="32">
                  <c:v>5.6562218800000004</c:v>
                </c:pt>
                <c:pt idx="33">
                  <c:v>5.6517813600000002</c:v>
                </c:pt>
                <c:pt idx="34">
                  <c:v>5.6369447199999998</c:v>
                </c:pt>
                <c:pt idx="35">
                  <c:v>5.6137651499999999</c:v>
                </c:pt>
                <c:pt idx="36">
                  <c:v>5.5842197699999998</c:v>
                </c:pt>
                <c:pt idx="37">
                  <c:v>5.5501262499999999</c:v>
                </c:pt>
                <c:pt idx="38">
                  <c:v>5.5130567599999996</c:v>
                </c:pt>
                <c:pt idx="39">
                  <c:v>5.4742489399999998</c:v>
                </c:pt>
                <c:pt idx="40">
                  <c:v>5.4345133199999998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D13A-44F6-9A3B-9A0175121C08}"/>
            </c:ext>
          </c:extLst>
        </c:ser>
        <c:ser>
          <c:idx val="1"/>
          <c:order val="1"/>
          <c:tx>
            <c:v>1 s motion</c:v>
          </c:tx>
          <c:spPr>
            <a:ln w="28575">
              <a:solidFill>
                <a:srgbClr val="E6B800"/>
              </a:solidFill>
            </a:ln>
          </c:spPr>
          <c:marker>
            <c:symbol val="none"/>
          </c:marker>
          <c:xVal>
            <c:numRef>
              <c:f>'Chart Data'!$C$2:$C$42</c:f>
              <c:numCache>
                <c:formatCode>0.0</c:formatCode>
                <c:ptCount val="41"/>
                <c:pt idx="0">
                  <c:v>0</c:v>
                </c:pt>
                <c:pt idx="1">
                  <c:v>2.5000000000000001E-2</c:v>
                </c:pt>
                <c:pt idx="2">
                  <c:v>0.05</c:v>
                </c:pt>
                <c:pt idx="3">
                  <c:v>7.4999999999999997E-2</c:v>
                </c:pt>
                <c:pt idx="4">
                  <c:v>0.1</c:v>
                </c:pt>
                <c:pt idx="5">
                  <c:v>0.125</c:v>
                </c:pt>
                <c:pt idx="6">
                  <c:v>0.15</c:v>
                </c:pt>
                <c:pt idx="7">
                  <c:v>0.17499999999999999</c:v>
                </c:pt>
                <c:pt idx="8">
                  <c:v>0.2</c:v>
                </c:pt>
                <c:pt idx="9">
                  <c:v>0.22500000000000001</c:v>
                </c:pt>
                <c:pt idx="10">
                  <c:v>0.25</c:v>
                </c:pt>
                <c:pt idx="11">
                  <c:v>0.27500000000000002</c:v>
                </c:pt>
                <c:pt idx="12">
                  <c:v>0.3</c:v>
                </c:pt>
                <c:pt idx="13">
                  <c:v>0.32500000000000001</c:v>
                </c:pt>
                <c:pt idx="14">
                  <c:v>0.35</c:v>
                </c:pt>
                <c:pt idx="15">
                  <c:v>0.375</c:v>
                </c:pt>
                <c:pt idx="16">
                  <c:v>0.4</c:v>
                </c:pt>
                <c:pt idx="17">
                  <c:v>0.42499999999999999</c:v>
                </c:pt>
                <c:pt idx="18">
                  <c:v>0.45</c:v>
                </c:pt>
                <c:pt idx="19">
                  <c:v>0.47499999999999998</c:v>
                </c:pt>
                <c:pt idx="20">
                  <c:v>0.5</c:v>
                </c:pt>
                <c:pt idx="21">
                  <c:v>0.52500000000000002</c:v>
                </c:pt>
                <c:pt idx="22">
                  <c:v>0.55000000000000004</c:v>
                </c:pt>
                <c:pt idx="23">
                  <c:v>0.57499999999999996</c:v>
                </c:pt>
                <c:pt idx="24">
                  <c:v>0.6</c:v>
                </c:pt>
                <c:pt idx="25">
                  <c:v>0.625</c:v>
                </c:pt>
                <c:pt idx="26">
                  <c:v>0.65</c:v>
                </c:pt>
                <c:pt idx="27">
                  <c:v>0.67500000000000004</c:v>
                </c:pt>
                <c:pt idx="28">
                  <c:v>0.7</c:v>
                </c:pt>
                <c:pt idx="29">
                  <c:v>0.72499999999999998</c:v>
                </c:pt>
                <c:pt idx="30">
                  <c:v>0.75</c:v>
                </c:pt>
                <c:pt idx="31">
                  <c:v>0.77500000000000002</c:v>
                </c:pt>
                <c:pt idx="32">
                  <c:v>0.8</c:v>
                </c:pt>
                <c:pt idx="33">
                  <c:v>0.82499999999999996</c:v>
                </c:pt>
                <c:pt idx="34">
                  <c:v>0.85</c:v>
                </c:pt>
                <c:pt idx="35">
                  <c:v>0.875</c:v>
                </c:pt>
                <c:pt idx="36">
                  <c:v>0.9</c:v>
                </c:pt>
                <c:pt idx="37">
                  <c:v>0.92500000000000004</c:v>
                </c:pt>
                <c:pt idx="38">
                  <c:v>0.95</c:v>
                </c:pt>
                <c:pt idx="39">
                  <c:v>0.97499999999999998</c:v>
                </c:pt>
                <c:pt idx="40">
                  <c:v>1</c:v>
                </c:pt>
              </c:numCache>
            </c:numRef>
          </c:xVal>
          <c:yVal>
            <c:numRef>
              <c:f>'Chart Data'!$D$2:$D$42</c:f>
              <c:numCache>
                <c:formatCode>0.00</c:formatCode>
                <c:ptCount val="41"/>
                <c:pt idx="0">
                  <c:v>2.2619467100000001</c:v>
                </c:pt>
                <c:pt idx="1">
                  <c:v>2.1891991800000001</c:v>
                </c:pt>
                <c:pt idx="2">
                  <c:v>2.1488478999999998</c:v>
                </c:pt>
                <c:pt idx="3">
                  <c:v>2.1391141</c:v>
                </c:pt>
                <c:pt idx="4">
                  <c:v>2.1581890800000001</c:v>
                </c:pt>
                <c:pt idx="5">
                  <c:v>2.2042070599999999</c:v>
                </c:pt>
                <c:pt idx="6">
                  <c:v>2.27521532</c:v>
                </c:pt>
                <c:pt idx="7">
                  <c:v>2.3691452200000001</c:v>
                </c:pt>
                <c:pt idx="8">
                  <c:v>2.4837874599999998</c:v>
                </c:pt>
                <c:pt idx="9">
                  <c:v>2.61677406</c:v>
                </c:pt>
                <c:pt idx="10">
                  <c:v>2.76556902</c:v>
                </c:pt>
                <c:pt idx="11">
                  <c:v>2.9274692600000001</c:v>
                </c:pt>
                <c:pt idx="12">
                  <c:v>3.0996162900000002</c:v>
                </c:pt>
                <c:pt idx="13">
                  <c:v>3.27901906</c:v>
                </c:pt>
                <c:pt idx="14">
                  <c:v>3.4625874300000001</c:v>
                </c:pt>
                <c:pt idx="15">
                  <c:v>3.6471752899999998</c:v>
                </c:pt>
                <c:pt idx="16">
                  <c:v>3.8296317900000001</c:v>
                </c:pt>
                <c:pt idx="17">
                  <c:v>4.0068587200000003</c:v>
                </c:pt>
                <c:pt idx="18">
                  <c:v>4.1758716900000001</c:v>
                </c:pt>
                <c:pt idx="19">
                  <c:v>4.3338625200000003</c:v>
                </c:pt>
                <c:pt idx="20">
                  <c:v>4.4782601399999997</c:v>
                </c:pt>
                <c:pt idx="21">
                  <c:v>4.6067873800000001</c:v>
                </c:pt>
                <c:pt idx="22">
                  <c:v>4.7175111000000003</c:v>
                </c:pt>
                <c:pt idx="23">
                  <c:v>4.8088834</c:v>
                </c:pt>
                <c:pt idx="24">
                  <c:v>4.8797722200000004</c:v>
                </c:pt>
                <c:pt idx="25">
                  <c:v>4.9294799100000004</c:v>
                </c:pt>
                <c:pt idx="26">
                  <c:v>4.9577489699999999</c:v>
                </c:pt>
                <c:pt idx="27">
                  <c:v>4.9647546499999997</c:v>
                </c:pt>
                <c:pt idx="28">
                  <c:v>4.9510848699999999</c:v>
                </c:pt>
                <c:pt idx="29">
                  <c:v>4.9177078300000003</c:v>
                </c:pt>
                <c:pt idx="30">
                  <c:v>4.8659287500000001</c:v>
                </c:pt>
                <c:pt idx="31">
                  <c:v>4.7973368299999999</c:v>
                </c:pt>
                <c:pt idx="32">
                  <c:v>4.7137440899999996</c:v>
                </c:pt>
                <c:pt idx="33">
                  <c:v>4.6171174500000003</c:v>
                </c:pt>
                <c:pt idx="34">
                  <c:v>4.5095056500000004</c:v>
                </c:pt>
                <c:pt idx="35">
                  <c:v>4.3929618799999997</c:v>
                </c:pt>
                <c:pt idx="36">
                  <c:v>4.2694632400000003</c:v>
                </c:pt>
                <c:pt idx="37">
                  <c:v>4.1408274199999999</c:v>
                </c:pt>
                <c:pt idx="38">
                  <c:v>4.0086265799999996</c:v>
                </c:pt>
                <c:pt idx="39">
                  <c:v>3.8740983600000001</c:v>
                </c:pt>
                <c:pt idx="40">
                  <c:v>3.7380532899999999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D13A-44F6-9A3B-9A0175121C0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</c:scaling>
        <c:delete val="0"/>
        <c:axPos val="l"/>
        <c:majorGridlines>
          <c:spPr>
            <a:ln w="9525">
              <a:solidFill>
                <a:srgbClr val="D9E0E6"/>
              </a:solidFill>
            </a:ln>
          </c:spPr>
        </c:majorGridlines>
        <c:title>
          <c:tx>
            <c:rich>
              <a:bodyPr/>
              <a:lstStyle/>
              <a:p>
                <a:r>
                  <a:t>Required torque (N m)</a:t>
                </a:r>
              </a:p>
            </c:rich>
          </c:tx>
          <c:overlay val="0"/>
        </c:title>
        <c:numFmt formatCode="0.0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00">
                <a:solidFill>
                  <a:srgbClr val="25364A"/>
                </a:solidFill>
              </a:defRPr>
            </a:pPr>
            <a:endParaRPr lang="en-US"/>
          </a:p>
        </c:txPr>
        <c:crossAx val="48650112"/>
        <c:crosses val="autoZero"/>
        <c:crossBetween val="midCat"/>
      </c:valAx>
      <c:val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Normalized time s = t/Tf</a:t>
                </a:r>
              </a:p>
            </c:rich>
          </c:tx>
          <c:overlay val="0"/>
        </c:title>
        <c:numFmt formatCode="0.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00">
                <a:solidFill>
                  <a:srgbClr val="25364A"/>
                </a:solidFill>
              </a:defRPr>
            </a:pPr>
            <a:endParaRPr lang="en-US"/>
          </a:p>
        </c:txPr>
        <c:crossAx val="48672768"/>
        <c:crosses val="autoZero"/>
        <c:crossBetween val="midCat"/>
      </c:valAx>
      <c:spPr>
        <a:solidFill>
          <a:srgbClr val="FFFFFF"/>
        </a:solidFill>
      </c:spPr>
    </c:plotArea>
    <c:legend>
      <c:legendPos val="b"/>
      <c:overlay val="0"/>
      <c:txPr>
        <a:bodyPr anchorCtr="1"/>
        <a:lstStyle/>
        <a:p>
          <a:pPr>
            <a:defRPr sz="1650">
              <a:solidFill>
                <a:srgbClr val="25364A"/>
              </a:solidFill>
            </a:defRPr>
          </a:pPr>
          <a:endParaRPr lang="en-US"/>
        </a:p>
      </c:txPr>
    </c:legend>
    <c:plotVisOnly val="1"/>
    <c:dispBlanksAs val="zero"/>
    <c:showDLblsOverMax val="1"/>
  </c:chart>
  <c:spPr>
    <a:solidFill>
      <a:srgbClr val="FFFFFF"/>
    </a:solidFill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Two meetings of about 50 minutes. Meeting 1 slides 1–9: physical torque, inertia, holding torque, payload and Coding Activity 1. Meeting 2 slides 10–20: energy derivation, forward dynamics, motion-time preview and Coding Activity 2. Four polls total, including an opening conceptual poll whose answer is explained on slide 5. Use two coding activities, about 8 and 12 minutes. Full 2R dynamics and release simulations are outside this compact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pivot is the joint. Yellow dot marks the center of mass. θ is measured counterclockwise from the downward vertical. Left: θ=0°, the arm hangs downward. Right: θ=90°, the arm points right. Gray dashes show the downward reference. The gold arc indicates positive rotation. Figures are schematic, with matching pose convention throughout.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Poll Q1. Allow 1–2 minutes for individual calculation. Ask pairs to compare reasoning, then reveal the next slide. Correct answer: A. At rest the inertia and viscous-friction terms vanish, but gravity remains.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If useful show parallel-axis theorem: Ijoint=Icom+m*(L/2)^2. All motion is rigid-body planar rotation.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Dots are time derivatives: θdot is rad/s and θdouble-dot is rad/s². Actual gravitational torque is -mgrc*sin θ. Moving it to the required motor-torque side gives the plus sign. Actual viscous-friction torque is -b*θdot.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  <a:p>
            <a:r>
              <a:t>Figure: gravity acts downward at the COM. Its torque is clockwise. Positive motor torque counteracts gravity. The distance from the pivot to COM is rc. At a horizontal hold, torque is mgrc. Gold arc represents positive counterclockwise rotation.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Poll Q2. Allow 1–2 minutes for individual calculation. Ask pairs to compare reasoning, then reveal the next slide. Correct answer: B. m*g*rc*sin(30 deg)=3 N m.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why each distractor is tempting. m*g*rc*sin(30 deg)=3 N m.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Treat payload as a point mass rigidly attached to the tip. Additional payload rotational inertia about its own COM is neglected.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  <a:p>
            <a:r>
              <a:t>Figure: both arms are horizontal. The yellow COM dot belongs to the 2 kg link. The yellow square at the tip in the lower figure is an added 0.5 kg point payload. Compare 6 N m and 9 N m holding torque. Figures are schematic.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Expected no-payload values 0,3,6,0 N m. With 0.5 kg payload 0,4.5,9,0. At 180° ideal gravity torque is zero but equilibrium is unstable. A horizontal tabletop arm with a vertical rotation axis has no gravity torque about that axis. Complete code is provided in Activity 1, students modify parameters.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that a zero reference for V is arbitrary. COM height relative to θ=0 is rc*(1-cos θ). Distinguish kinetic-energy symbol T from motion duration Tf used later.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  <a:p>
            <a:r>
              <a:t>Figure: the gray arm shows the downward reference pose, and the navy arm shows 90°. Yellow dots mark both COM positions. At 90° the COM rises by rc, giving V=mgrc relative to the downward pose. General rise is rc*(1-cos θ).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Treat angle and angular velocity as independent arguments for the partial derivatives. Hold angle fixed when differentiating with respect to velocity, and vice versa. I is constant. This is the only hand derivation required. Source: https://modernrobotics.northwestern.edu/nu-gm-book-resource/chapter-8-1-lagrangian-formulation-of-dynamics-part-1-of-2/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Ask students to compare this with F=ma. Knowing torque does not determine angle immediately. The simulator uses RK4 and a small time step.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Poll Q3. Allow 1–2 minutes for individual calculation. Ask pairs to compare reasoning, then reveal the next slide. Correct answer: A. Acceleration=(0-6*sin(30 deg))/0.24=-12.5 rad/s^2.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why each distractor is tempting. Acceleration=(0-6*sin(30 deg))/0.24=-12.5 rad/s^2.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Δθ=θf−θ0. This is a preview, not a full derivation of cubic coefficients. Valid for 0≤t≤Tf. Endpoint acceleration is nonzero and jumps when joined to a stationary hold. A quintic can impose zero endpoint acceleration.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Poll Q4. Allow 1–2 minutes for individual calculation. Ask pairs to compare reasoning, then reveal the next slide. Correct answer: B. For unchanged normalized path, velocity scales as 1/T and acceleration as 1/T^2.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why each distractor is tempting. For unchanged normalized path, velocity scales as 1/T and acceleration as 1/T^2.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12 minutes. Required torque is calculated for the desired path, not a simulated tracking controller. Check code peaks including endpoint values. Cubic acceleration is nonzero at endpoints. The final hold is a separate state. Sampled feasibility under an ideal symmetric limit is not hardware validation.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These curves compare corresponding points on the same normalized path, not the same physical time. At s=1 the plotted torque includes deceleration. Immediately after the motion, stationary holding torque is 6 N m with no payload, or 9 N m with payload. Slowdown cannot eliminate the required static holding torque.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Next teach cubic coefficient derivation, joint-space interpolation and velocity/acceleration profiles. Revisit endpoint acceleration and quintic trajectories. Explain that joint-space interpolation does not generally create a straight Cartesian path.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62239E48-5B89-42DA-9C24-06C40E3DC9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C84004C1-4881-47CD-AF91-DF4D954B86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D0C19642-9E63-4F86-B7E7-890B6A6D1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1E1B42A8-846F-4EF9-8BCE-C25966F1B2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490F921F-5C27-48E4-9CB3-3E006990B5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008A0389-3A56-49F6-AAB4-ED46413CE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983E0B94-4DE7-41B4-8D19-7DF2154D30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FAD586C6-3F68-4939-956E-F82880D09EEF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4D2E4E8A-CA12-4CE0-8E7E-4B03654E78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89AA4F1E-1BAA-4670-8A8E-6C420C8D6A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D7DAE7B-5B95-4EE1-B83D-6682DE15F9F5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Manipulator dynamics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C4DD649-205E-4664-A4D5-F9A69DDD328B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6FC4481-79DD-4909-912A-650ABDB30F2A}"/>
              </a:ext>
            </a:extLst>
          </p:cNvPr>
          <p:cNvSpPr>
            <a:spLocks noGrp="1"/>
          </p:cNvSpPr>
          <p:nvPr/>
        </p:nvSpPr>
        <p:spPr>
          <a:xfrm>
            <a:off x="742950" y="2000250"/>
            <a:ext cx="10477500" cy="809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8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8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28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A simple approach for ECE students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855D23B-2217-466D-B97F-DCBA0510500E}"/>
              </a:ext>
            </a:extLst>
          </p:cNvPr>
          <p:cNvSpPr>
            <a:spLocks noGrp="1"/>
          </p:cNvSpPr>
          <p:nvPr/>
        </p:nvSpPr>
        <p:spPr>
          <a:xfrm>
            <a:off x="742950" y="3238500"/>
            <a:ext cx="10001250" cy="1047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4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4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Single-link torque, energy methods, and coding activities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8214F28-861C-4C12-9805-5C75E936616D}"/>
              </a:ext>
            </a:extLst>
          </p:cNvPr>
          <p:cNvSpPr>
            <a:spLocks noGrp="1"/>
          </p:cNvSpPr>
          <p:nvPr/>
        </p:nvSpPr>
        <p:spPr>
          <a:xfrm>
            <a:off x="742950" y="5334000"/>
            <a:ext cx="10477500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Craig Chapter 6 · Bridge to Chapter 7</a:t>
            </a:r>
          </a:p>
        </p:txBody>
      </p:sp>
    </p:spTree>
    <p:extLst>
      <p:ext uri="{BB962C8B-B14F-4D97-AF65-F5344CB8AC3E}">
        <p14:creationId xmlns:p14="http://schemas.microsoft.com/office/powerpoint/2010/main" val="9514197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2AAED51-0183-41B0-8BAF-CCDF37A6E270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A vertical-plane 1R arm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2A59492-F67E-476D-87DD-217D0AE06020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958774C-3A96-4E75-A7FC-58E785B4E515}"/>
              </a:ext>
            </a:extLst>
          </p:cNvPr>
          <p:cNvSpPr>
            <a:spLocks noGrp="1"/>
          </p:cNvSpPr>
          <p:nvPr/>
        </p:nvSpPr>
        <p:spPr>
          <a:xfrm>
            <a:off x="742950" y="1619250"/>
            <a:ext cx="6096000" cy="1524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θ</a:t>
            </a: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0°: arm hangs downward</a:t>
            </a:r>
          </a:p>
          <a:p>
            <a:pPr>
              <a:buNone/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θ</a:t>
            </a: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90°: arm points right</a:t>
            </a:r>
          </a:p>
          <a:p>
            <a:pPr>
              <a:buNone/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Positive </a:t>
            </a:r>
            <a:r>
              <a:rPr sz="225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θ</a:t>
            </a: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and </a:t>
            </a:r>
            <a:r>
              <a:rPr sz="225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τ</a:t>
            </a: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: counterclockwise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F75D50B-B804-4D71-9706-3685F589FD40}"/>
              </a:ext>
            </a:extLst>
          </p:cNvPr>
          <p:cNvSpPr>
            <a:spLocks noGrp="1"/>
          </p:cNvSpPr>
          <p:nvPr/>
        </p:nvSpPr>
        <p:spPr>
          <a:xfrm>
            <a:off x="742950" y="3667125"/>
            <a:ext cx="5619750" cy="1571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m</a:t>
            </a: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2 kg        </a:t>
            </a:r>
            <a:r>
              <a:rPr sz="225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L</a:t>
            </a: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0.6 m</a:t>
            </a:r>
          </a:p>
          <a:p>
            <a:pPr>
              <a:buNone/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r꜀</a:t>
            </a: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</a:t>
            </a:r>
            <a:r>
              <a:rPr sz="225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L</a:t>
            </a: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/2 = 0.3 m</a:t>
            </a:r>
          </a:p>
          <a:p>
            <a:pPr>
              <a:buNone/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g</a:t>
            </a: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10 m/s²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2580464-A5BE-4FBA-9D0B-C837A32EC93C}"/>
              </a:ext>
            </a:extLst>
          </p:cNvPr>
          <p:cNvSpPr>
            <a:spLocks noGrp="1"/>
          </p:cNvSpPr>
          <p:nvPr/>
        </p:nvSpPr>
        <p:spPr>
          <a:xfrm>
            <a:off x="742950" y="5762625"/>
            <a:ext cx="10382250" cy="333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0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180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Angles in calculations and code use radians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7A6CD43-3F7A-4B39-8F14-3FDBC520B147}"/>
              </a:ext>
            </a:extLst>
          </p:cNvPr>
          <p:cNvSpPr>
            <a:spLocks noGrp="1"/>
          </p:cNvSpPr>
          <p:nvPr/>
        </p:nvSpPr>
        <p:spPr>
          <a:xfrm>
            <a:off x="7267575" y="2619375"/>
            <a:ext cx="133350" cy="1762125"/>
          </a:xfrm>
          <a:prstGeom prst="rect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14A278A-6118-4351-88F4-94165243455B}"/>
              </a:ext>
            </a:extLst>
          </p:cNvPr>
          <p:cNvSpPr>
            <a:spLocks noGrp="1"/>
          </p:cNvSpPr>
          <p:nvPr/>
        </p:nvSpPr>
        <p:spPr>
          <a:xfrm>
            <a:off x="7210425" y="2495550"/>
            <a:ext cx="247650" cy="247650"/>
          </a:xfrm>
          <a:prstGeom prst="ellipse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1A879DE-F75F-4543-AE6C-64153252F707}"/>
              </a:ext>
            </a:extLst>
          </p:cNvPr>
          <p:cNvSpPr>
            <a:spLocks noGrp="1"/>
          </p:cNvSpPr>
          <p:nvPr/>
        </p:nvSpPr>
        <p:spPr>
          <a:xfrm>
            <a:off x="7286625" y="2571750"/>
            <a:ext cx="95250" cy="9525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77B3A4A-47E4-45D4-A4C6-9AC6DC97DFC3}"/>
              </a:ext>
            </a:extLst>
          </p:cNvPr>
          <p:cNvSpPr>
            <a:spLocks noGrp="1"/>
          </p:cNvSpPr>
          <p:nvPr/>
        </p:nvSpPr>
        <p:spPr>
          <a:xfrm>
            <a:off x="7258050" y="3424238"/>
            <a:ext cx="152400" cy="152400"/>
          </a:xfrm>
          <a:prstGeom prst="ellipse">
            <a:avLst/>
          </a:prstGeom>
          <a:solidFill>
            <a:srgbClr val="E6B800"/>
          </a:solidFill>
          <a:ln w="0">
            <a:noFill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0FB28A2-BA7A-4358-927F-F811CC284F50}"/>
              </a:ext>
            </a:extLst>
          </p:cNvPr>
          <p:cNvSpPr>
            <a:spLocks noGrp="1"/>
          </p:cNvSpPr>
          <p:nvPr/>
        </p:nvSpPr>
        <p:spPr>
          <a:xfrm>
            <a:off x="6705600" y="1714500"/>
            <a:ext cx="1524000" cy="523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2100" b="1" i="1">
                <a:solidFill>
                  <a:srgbClr val="17324D"/>
                </a:solidFill>
                <a:latin typeface="Cambria Math" panose="02040503050406030204" pitchFamily="18" charset="0"/>
                <a:ea typeface="Aptos"/>
                <a:cs typeface="Aptos"/>
              </a:rPr>
              <a:t>θ</a:t>
            </a:r>
            <a:r>
              <a:rPr sz="210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 = 0°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9DE4A1E-29F1-4235-AE2C-06DBCAE0416D}"/>
              </a:ext>
            </a:extLst>
          </p:cNvPr>
          <p:cNvSpPr>
            <a:spLocks noGrp="1"/>
          </p:cNvSpPr>
          <p:nvPr/>
        </p:nvSpPr>
        <p:spPr>
          <a:xfrm>
            <a:off x="6334125" y="4667250"/>
            <a:ext cx="2190750" cy="619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8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Hangs downward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35E9B5D-5F1C-4141-A32A-5C93BA086E33}"/>
              </a:ext>
            </a:extLst>
          </p:cNvPr>
          <p:cNvSpPr>
            <a:spLocks noGrp="1"/>
          </p:cNvSpPr>
          <p:nvPr/>
        </p:nvSpPr>
        <p:spPr>
          <a:xfrm>
            <a:off x="7524750" y="3314700"/>
            <a:ext cx="1143000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6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COM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09421EE-592E-467A-BA2B-19BFE58D776E}"/>
              </a:ext>
            </a:extLst>
          </p:cNvPr>
          <p:cNvSpPr>
            <a:spLocks noGrp="1"/>
          </p:cNvSpPr>
          <p:nvPr/>
        </p:nvSpPr>
        <p:spPr>
          <a:xfrm>
            <a:off x="9429750" y="2552700"/>
            <a:ext cx="1857375" cy="133350"/>
          </a:xfrm>
          <a:prstGeom prst="rect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58E794F1-DC52-4071-9CED-69E8FB3C8D6B}"/>
              </a:ext>
            </a:extLst>
          </p:cNvPr>
          <p:cNvSpPr>
            <a:spLocks noGrp="1"/>
          </p:cNvSpPr>
          <p:nvPr/>
        </p:nvSpPr>
        <p:spPr>
          <a:xfrm>
            <a:off x="9305925" y="2495550"/>
            <a:ext cx="247650" cy="247650"/>
          </a:xfrm>
          <a:prstGeom prst="ellipse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1442FA7-9ABD-454E-A314-C7583C01A42F}"/>
              </a:ext>
            </a:extLst>
          </p:cNvPr>
          <p:cNvSpPr>
            <a:spLocks noGrp="1"/>
          </p:cNvSpPr>
          <p:nvPr/>
        </p:nvSpPr>
        <p:spPr>
          <a:xfrm>
            <a:off x="9382125" y="2571750"/>
            <a:ext cx="95250" cy="9525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C32C2A6-4C3E-40F2-BAF8-E1B8C9573985}"/>
              </a:ext>
            </a:extLst>
          </p:cNvPr>
          <p:cNvSpPr>
            <a:spLocks noGrp="1"/>
          </p:cNvSpPr>
          <p:nvPr/>
        </p:nvSpPr>
        <p:spPr>
          <a:xfrm>
            <a:off x="10282238" y="2543175"/>
            <a:ext cx="152400" cy="152400"/>
          </a:xfrm>
          <a:prstGeom prst="ellipse">
            <a:avLst/>
          </a:prstGeom>
          <a:solidFill>
            <a:srgbClr val="E6B800"/>
          </a:solidFill>
          <a:ln w="0">
            <a:noFill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00376FF-81A0-4D86-9FB8-6F7560CC91B5}"/>
              </a:ext>
            </a:extLst>
          </p:cNvPr>
          <p:cNvSpPr>
            <a:spLocks noGrp="1"/>
          </p:cNvSpPr>
          <p:nvPr/>
        </p:nvSpPr>
        <p:spPr>
          <a:xfrm>
            <a:off x="9525000" y="1714500"/>
            <a:ext cx="1619250" cy="523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2100" b="1" i="1">
                <a:solidFill>
                  <a:srgbClr val="17324D"/>
                </a:solidFill>
                <a:latin typeface="Cambria Math" panose="02040503050406030204" pitchFamily="18" charset="0"/>
                <a:ea typeface="Aptos"/>
                <a:cs typeface="Aptos"/>
              </a:rPr>
              <a:t>θ</a:t>
            </a:r>
            <a:r>
              <a:rPr sz="210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 = 90°</a:t>
            </a:r>
          </a:p>
        </p:txBody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E054DCDA-D739-41B4-81AD-06F151807A6C}"/>
              </a:ext>
            </a:extLst>
          </p:cNvPr>
          <p:cNvSpPr>
            <a:spLocks noGrp="1"/>
          </p:cNvSpPr>
          <p:nvPr/>
        </p:nvSpPr>
        <p:spPr>
          <a:xfrm>
            <a:off x="9429750" y="2876550"/>
            <a:ext cx="0" cy="123825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C756887A-F979-4BF1-8710-246073A592F9}"/>
              </a:ext>
            </a:extLst>
          </p:cNvPr>
          <p:cNvSpPr>
            <a:spLocks noGrp="1"/>
          </p:cNvSpPr>
          <p:nvPr/>
        </p:nvSpPr>
        <p:spPr>
          <a:xfrm>
            <a:off x="9429750" y="3105150"/>
            <a:ext cx="0" cy="123825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22" name="Straight Connector 21">
            <a:extLst>
              <a:ext uri="{FF2B5EF4-FFF2-40B4-BE49-F238E27FC236}">
                <a16:creationId xmlns:a16="http://schemas.microsoft.com/office/drawing/2014/main" id="{59BA6103-35A3-4E23-8EFB-EA5BBC12787D}"/>
              </a:ext>
            </a:extLst>
          </p:cNvPr>
          <p:cNvSpPr>
            <a:spLocks noGrp="1"/>
          </p:cNvSpPr>
          <p:nvPr/>
        </p:nvSpPr>
        <p:spPr>
          <a:xfrm>
            <a:off x="9429750" y="3333750"/>
            <a:ext cx="0" cy="123825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23" name="Straight Connector 22">
            <a:extLst>
              <a:ext uri="{FF2B5EF4-FFF2-40B4-BE49-F238E27FC236}">
                <a16:creationId xmlns:a16="http://schemas.microsoft.com/office/drawing/2014/main" id="{B8D7529D-D1E3-418D-9EDF-C2A6394D2A16}"/>
              </a:ext>
            </a:extLst>
          </p:cNvPr>
          <p:cNvSpPr>
            <a:spLocks noGrp="1"/>
          </p:cNvSpPr>
          <p:nvPr/>
        </p:nvSpPr>
        <p:spPr>
          <a:xfrm>
            <a:off x="9429750" y="3562350"/>
            <a:ext cx="0" cy="123825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24" name="Straight Connector 23">
            <a:extLst>
              <a:ext uri="{FF2B5EF4-FFF2-40B4-BE49-F238E27FC236}">
                <a16:creationId xmlns:a16="http://schemas.microsoft.com/office/drawing/2014/main" id="{4FE57184-B4AD-447C-B290-4734916CC37D}"/>
              </a:ext>
            </a:extLst>
          </p:cNvPr>
          <p:cNvSpPr>
            <a:spLocks noGrp="1"/>
          </p:cNvSpPr>
          <p:nvPr/>
        </p:nvSpPr>
        <p:spPr>
          <a:xfrm>
            <a:off x="9429750" y="3790950"/>
            <a:ext cx="0" cy="123825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25" name="Straight Connector 24">
            <a:extLst>
              <a:ext uri="{FF2B5EF4-FFF2-40B4-BE49-F238E27FC236}">
                <a16:creationId xmlns:a16="http://schemas.microsoft.com/office/drawing/2014/main" id="{A4D3463E-11A5-417E-9D55-E6449BB8425F}"/>
              </a:ext>
            </a:extLst>
          </p:cNvPr>
          <p:cNvSpPr>
            <a:spLocks noGrp="1"/>
          </p:cNvSpPr>
          <p:nvPr/>
        </p:nvSpPr>
        <p:spPr>
          <a:xfrm>
            <a:off x="9429750" y="4019550"/>
            <a:ext cx="0" cy="123825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26" name="Straight Connector 25">
            <a:extLst>
              <a:ext uri="{FF2B5EF4-FFF2-40B4-BE49-F238E27FC236}">
                <a16:creationId xmlns:a16="http://schemas.microsoft.com/office/drawing/2014/main" id="{E4D9283C-638C-4116-B65D-4A602C565643}"/>
              </a:ext>
            </a:extLst>
          </p:cNvPr>
          <p:cNvSpPr>
            <a:spLocks noGrp="1"/>
          </p:cNvSpPr>
          <p:nvPr/>
        </p:nvSpPr>
        <p:spPr>
          <a:xfrm>
            <a:off x="9429750" y="4248150"/>
            <a:ext cx="0" cy="123825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E0EE3F81-DF9A-4F12-9406-86965D34FA4A}"/>
              </a:ext>
            </a:extLst>
          </p:cNvPr>
          <p:cNvSpPr>
            <a:spLocks noGrp="1"/>
          </p:cNvSpPr>
          <p:nvPr/>
        </p:nvSpPr>
        <p:spPr>
          <a:xfrm>
            <a:off x="9429750" y="2619375"/>
            <a:ext cx="495300" cy="495300"/>
          </a:xfrm>
          <a:custGeom>
            <a:avLst/>
            <a:gdLst/>
            <a:ahLst/>
            <a:cxnLst/>
            <a:rect l="0" t="0" r="0" b="0"/>
            <a:pathLst>
              <a:path w="495300" h="495300">
                <a:moveTo>
                  <a:pt x="0" y="495300"/>
                </a:moveTo>
                <a:cubicBezTo>
                  <a:pt x="273554" y="495300"/>
                  <a:pt x="495300" y="273554"/>
                  <a:pt x="495300" y="0"/>
                </a:cubicBezTo>
              </a:path>
            </a:pathLst>
          </a:custGeom>
          <a:noFill/>
          <a:ln w="28575">
            <a:solidFill>
              <a:srgbClr val="E6B800"/>
            </a:solidFill>
          </a:ln>
        </p:spPr>
      </p:sp>
      <p:sp>
        <p:nvSpPr>
          <p:cNvPr id="28" name="Isosceles Triangle 27">
            <a:extLst>
              <a:ext uri="{FF2B5EF4-FFF2-40B4-BE49-F238E27FC236}">
                <a16:creationId xmlns:a16="http://schemas.microsoft.com/office/drawing/2014/main" id="{4B4FCA17-A76A-44D0-A066-3EFE8E34A9E2}"/>
              </a:ext>
            </a:extLst>
          </p:cNvPr>
          <p:cNvSpPr>
            <a:spLocks noGrp="1"/>
          </p:cNvSpPr>
          <p:nvPr/>
        </p:nvSpPr>
        <p:spPr>
          <a:xfrm>
            <a:off x="9858375" y="2533650"/>
            <a:ext cx="133350" cy="142875"/>
          </a:xfrm>
          <a:prstGeom prst="triangle">
            <a:avLst/>
          </a:prstGeom>
          <a:solidFill>
            <a:srgbClr val="E6B800"/>
          </a:solidFill>
          <a:ln w="0">
            <a:noFill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971319D-6811-4693-A1EE-509931E901DE}"/>
              </a:ext>
            </a:extLst>
          </p:cNvPr>
          <p:cNvSpPr>
            <a:spLocks noGrp="1"/>
          </p:cNvSpPr>
          <p:nvPr/>
        </p:nvSpPr>
        <p:spPr>
          <a:xfrm>
            <a:off x="9791700" y="3257550"/>
            <a:ext cx="1619250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7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7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Positive </a:t>
            </a:r>
            <a:r>
              <a:rPr sz="1725" b="0" i="1">
                <a:solidFill>
                  <a:srgbClr val="17324D"/>
                </a:solidFill>
                <a:latin typeface="Cambria Math" panose="02040503050406030204" pitchFamily="18" charset="0"/>
                <a:ea typeface="Aptos"/>
                <a:cs typeface="Aptos"/>
              </a:rPr>
              <a:t>θ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78C09CE-5E34-4760-A3DE-A46A2B694E38}"/>
              </a:ext>
            </a:extLst>
          </p:cNvPr>
          <p:cNvSpPr>
            <a:spLocks noGrp="1"/>
          </p:cNvSpPr>
          <p:nvPr/>
        </p:nvSpPr>
        <p:spPr>
          <a:xfrm>
            <a:off x="9477375" y="4667250"/>
            <a:ext cx="2190750" cy="619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8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Points right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88CE9F8-87EC-4FAD-8FF7-B5D902DEAA18}"/>
              </a:ext>
            </a:extLst>
          </p:cNvPr>
          <p:cNvSpPr>
            <a:spLocks noGrp="1"/>
          </p:cNvSpPr>
          <p:nvPr/>
        </p:nvSpPr>
        <p:spPr>
          <a:xfrm>
            <a:off x="10191750" y="2133600"/>
            <a:ext cx="1000125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6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COM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07AF5B0-4F1E-42AF-8ED3-856F18E25517}"/>
              </a:ext>
            </a:extLst>
          </p:cNvPr>
          <p:cNvSpPr>
            <a:spLocks noGrp="1"/>
          </p:cNvSpPr>
          <p:nvPr/>
        </p:nvSpPr>
        <p:spPr>
          <a:xfrm>
            <a:off x="8686800" y="5305425"/>
            <a:ext cx="28575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75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575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Downward reference</a:t>
            </a:r>
          </a:p>
        </p:txBody>
      </p:sp>
    </p:spTree>
    <p:extLst>
      <p:ext uri="{BB962C8B-B14F-4D97-AF65-F5344CB8AC3E}">
        <p14:creationId xmlns:p14="http://schemas.microsoft.com/office/powerpoint/2010/main" val="14598710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47BF826-4165-41A2-8C95-49EDCDEC5D26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Q1: A stationary arm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1291AE0-7181-4E75-8796-D85AD7C132A2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EC34367-7649-4C38-A169-52190227869C}"/>
              </a:ext>
            </a:extLst>
          </p:cNvPr>
          <p:cNvSpPr>
            <a:spLocks noGrp="1"/>
          </p:cNvSpPr>
          <p:nvPr/>
        </p:nvSpPr>
        <p:spPr>
          <a:xfrm>
            <a:off x="742950" y="1571625"/>
            <a:ext cx="10715625" cy="1285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The arm is stationary and horizontal. Does the motor need to produce torque?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A226F7F-F36A-4D0A-A431-F348DD9BB31E}"/>
              </a:ext>
            </a:extLst>
          </p:cNvPr>
          <p:cNvSpPr>
            <a:spLocks noGrp="1"/>
          </p:cNvSpPr>
          <p:nvPr/>
        </p:nvSpPr>
        <p:spPr>
          <a:xfrm>
            <a:off x="904875" y="309562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A.  Yes, to oppose gravity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FE6CB0D-7707-45A5-B3E2-48B67B30F6F9}"/>
              </a:ext>
            </a:extLst>
          </p:cNvPr>
          <p:cNvSpPr>
            <a:spLocks noGrp="1"/>
          </p:cNvSpPr>
          <p:nvPr/>
        </p:nvSpPr>
        <p:spPr>
          <a:xfrm>
            <a:off x="904875" y="372427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B.  No, because acceleration is zero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962728D-468A-473B-B2EF-8DC23B8DBB95}"/>
              </a:ext>
            </a:extLst>
          </p:cNvPr>
          <p:cNvSpPr>
            <a:spLocks noGrp="1"/>
          </p:cNvSpPr>
          <p:nvPr/>
        </p:nvSpPr>
        <p:spPr>
          <a:xfrm>
            <a:off x="904875" y="435292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C.  Only if the arm is moving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4A64425-3171-4B7A-B4F8-7CB461646783}"/>
              </a:ext>
            </a:extLst>
          </p:cNvPr>
          <p:cNvSpPr>
            <a:spLocks noGrp="1"/>
          </p:cNvSpPr>
          <p:nvPr/>
        </p:nvSpPr>
        <p:spPr>
          <a:xfrm>
            <a:off x="904875" y="498157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D.  Only if friction is present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776DB1C-51C0-4D66-8E15-868262543FBC}"/>
              </a:ext>
            </a:extLst>
          </p:cNvPr>
          <p:cNvSpPr>
            <a:spLocks noGrp="1"/>
          </p:cNvSpPr>
          <p:nvPr/>
        </p:nvSpPr>
        <p:spPr>
          <a:xfrm>
            <a:off x="742950" y="590550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6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Poll Everywhere · Q1</a:t>
            </a:r>
          </a:p>
        </p:txBody>
      </p:sp>
    </p:spTree>
    <p:extLst>
      <p:ext uri="{BB962C8B-B14F-4D97-AF65-F5344CB8AC3E}">
        <p14:creationId xmlns:p14="http://schemas.microsoft.com/office/powerpoint/2010/main" val="12426876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F44BA36-1E9B-45A4-90E9-275AE654E1F0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Inertia about the joint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893B469-42E3-491D-8448-AFFCD30C2E01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B594349-4F50-425C-87B6-A0B8E424F4C7}"/>
              </a:ext>
            </a:extLst>
          </p:cNvPr>
          <p:cNvSpPr>
            <a:spLocks noGrp="1"/>
          </p:cNvSpPr>
          <p:nvPr/>
        </p:nvSpPr>
        <p:spPr>
          <a:xfrm>
            <a:off x="742950" y="314325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 uniform rod has its center of mass at </a:t>
            </a:r>
            <a:r>
              <a:rPr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L</a:t>
            </a: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/2.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4E79AEC-A565-4DCE-B0CB-5B59E26BF571}"/>
              </a:ext>
            </a:extLst>
          </p:cNvPr>
          <p:cNvSpPr>
            <a:spLocks noGrp="1"/>
          </p:cNvSpPr>
          <p:nvPr/>
        </p:nvSpPr>
        <p:spPr>
          <a:xfrm>
            <a:off x="742950" y="400050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The inertia about the center of mass is I</a:t>
            </a:r>
            <a:r>
              <a:rPr lang="en-US" sz="2100" b="0" baseline="-25000">
                <a:solidFill>
                  <a:srgbClr val="25364A"/>
                </a:solidFill>
                <a:latin typeface="Aptos"/>
                <a:ea typeface="Aptos"/>
                <a:cs typeface="Aptos"/>
              </a:rPr>
              <a:t>COM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mL²/12. About the joint, I</a:t>
            </a:r>
            <a:r>
              <a:rPr lang="en-US" sz="2100" b="0" baseline="-25000">
                <a:solidFill>
                  <a:srgbClr val="25364A"/>
                </a:solidFill>
                <a:latin typeface="Aptos"/>
                <a:ea typeface="Aptos"/>
                <a:cs typeface="Aptos"/>
              </a:rPr>
              <a:t>joint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mL²/3.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F2A5808-63A4-434A-8705-EE438A1BC8CD}"/>
              </a:ext>
            </a:extLst>
          </p:cNvPr>
          <p:cNvSpPr>
            <a:spLocks noGrp="1"/>
          </p:cNvSpPr>
          <p:nvPr/>
        </p:nvSpPr>
        <p:spPr>
          <a:xfrm>
            <a:off x="742950" y="485775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Greater inertia means greater torque for the same acceleration.</a:t>
            </a:r>
          </a:p>
        </p:txBody>
      </p:sp>
      <p:pic>
        <p:nvPicPr>
          <p:cNvPr id="9" name="Picture 8" descr="I equals one third m L squared, evaluated as 0.24 kilogram meter squared">
            <a:extLst>
              <a:ext uri="{FF2B5EF4-FFF2-40B4-BE49-F238E27FC236}">
                <a16:creationId xmlns:a16="http://schemas.microsoft.com/office/drawing/2014/main" id="{189C2172-CEFE-8573-C5D2-2083333E45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1774155"/>
            <a:ext cx="10715625" cy="976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92151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9C67E16-78FE-4BAD-9013-8E41B64D07C7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The 1R torque equation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0816947-94C7-4964-9A2C-244DDCEFB1D5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B590758-D81B-4FFF-BAC1-64D87ABE4E96}"/>
              </a:ext>
            </a:extLst>
          </p:cNvPr>
          <p:cNvSpPr>
            <a:spLocks noGrp="1"/>
          </p:cNvSpPr>
          <p:nvPr/>
        </p:nvSpPr>
        <p:spPr>
          <a:xfrm>
            <a:off x="742950" y="3143250"/>
            <a:ext cx="6477000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fr-FR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Iθ̈</a:t>
            </a:r>
            <a:r>
              <a:rPr lang="fr-FR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: acceleration torque       </a:t>
            </a:r>
            <a:r>
              <a:rPr lang="fr-FR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bθ̇</a:t>
            </a:r>
            <a:r>
              <a:rPr lang="fr-FR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: viscous-friction torque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637ADBD-51DF-41DF-A96F-5C0EB5493FD6}"/>
              </a:ext>
            </a:extLst>
          </p:cNvPr>
          <p:cNvSpPr>
            <a:spLocks noGrp="1"/>
          </p:cNvSpPr>
          <p:nvPr/>
        </p:nvSpPr>
        <p:spPr>
          <a:xfrm>
            <a:off x="742950" y="4000500"/>
            <a:ext cx="6477000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s-ES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mgr</a:t>
            </a:r>
            <a:r>
              <a:rPr lang="es-ES" sz="2100" b="0" i="1" baseline="-25000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c</a:t>
            </a:r>
            <a:r>
              <a:rPr lang="es-E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</a:t>
            </a:r>
            <a:r>
              <a:rPr lang="es-ES" sz="2100" b="0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sin</a:t>
            </a:r>
            <a:r>
              <a:rPr lang="es-E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</a:t>
            </a:r>
            <a:r>
              <a:rPr lang="es-ES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θ</a:t>
            </a:r>
            <a:r>
              <a:rPr lang="es-E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: gravity torque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4AEB4BE-7CB4-48DF-90E4-6D365D82BBF6}"/>
              </a:ext>
            </a:extLst>
          </p:cNvPr>
          <p:cNvSpPr>
            <a:spLocks noGrp="1"/>
          </p:cNvSpPr>
          <p:nvPr/>
        </p:nvSpPr>
        <p:spPr>
          <a:xfrm>
            <a:off x="742950" y="4857750"/>
            <a:ext cx="6477000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Use </a:t>
            </a:r>
            <a:r>
              <a:rPr lang="en-US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I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0.24 kg·m² and </a:t>
            </a:r>
            <a:r>
              <a:rPr lang="en-US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b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0.1 N·m·s/rad.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50EF58C-5DCD-4DB9-A918-2C2CE9B52964}"/>
              </a:ext>
            </a:extLst>
          </p:cNvPr>
          <p:cNvSpPr>
            <a:spLocks noGrp="1"/>
          </p:cNvSpPr>
          <p:nvPr/>
        </p:nvSpPr>
        <p:spPr>
          <a:xfrm>
            <a:off x="742950" y="5810250"/>
            <a:ext cx="104775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18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18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Q1 answer: A. At a horizontal hold, </a:t>
            </a:r>
            <a:r>
              <a:rPr lang="en-US" sz="18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τ</a:t>
            </a:r>
            <a:r>
              <a:rPr lang="en-US" sz="18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</a:t>
            </a:r>
            <a:r>
              <a:rPr lang="en-US" sz="18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mgr</a:t>
            </a:r>
            <a:r>
              <a:rPr lang="en-US" sz="1800" b="0" i="1" baseline="-25000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c</a:t>
            </a:r>
            <a:r>
              <a:rPr lang="en-US" sz="18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6 N·m.</a:t>
            </a:r>
            <a:endParaRPr sz="18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A0F2222-E58A-43F1-842C-1C2B5EF4133D}"/>
              </a:ext>
            </a:extLst>
          </p:cNvPr>
          <p:cNvSpPr>
            <a:spLocks noGrp="1"/>
          </p:cNvSpPr>
          <p:nvPr/>
        </p:nvSpPr>
        <p:spPr>
          <a:xfrm>
            <a:off x="7810500" y="3648075"/>
            <a:ext cx="3000375" cy="133350"/>
          </a:xfrm>
          <a:prstGeom prst="rect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D4623DB-5B43-4B5F-8503-01CC4277AA26}"/>
              </a:ext>
            </a:extLst>
          </p:cNvPr>
          <p:cNvSpPr>
            <a:spLocks noGrp="1"/>
          </p:cNvSpPr>
          <p:nvPr/>
        </p:nvSpPr>
        <p:spPr>
          <a:xfrm>
            <a:off x="7686675" y="3590925"/>
            <a:ext cx="247650" cy="247650"/>
          </a:xfrm>
          <a:prstGeom prst="ellipse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C54E0F6-56C2-445D-851B-C4CE8A22D94F}"/>
              </a:ext>
            </a:extLst>
          </p:cNvPr>
          <p:cNvSpPr>
            <a:spLocks noGrp="1"/>
          </p:cNvSpPr>
          <p:nvPr/>
        </p:nvSpPr>
        <p:spPr>
          <a:xfrm>
            <a:off x="7762875" y="3667125"/>
            <a:ext cx="95250" cy="9525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0189DFF-DB27-4C4E-81AA-DEA2C0732B98}"/>
              </a:ext>
            </a:extLst>
          </p:cNvPr>
          <p:cNvSpPr>
            <a:spLocks noGrp="1"/>
          </p:cNvSpPr>
          <p:nvPr/>
        </p:nvSpPr>
        <p:spPr>
          <a:xfrm>
            <a:off x="9234488" y="3638550"/>
            <a:ext cx="152400" cy="152400"/>
          </a:xfrm>
          <a:prstGeom prst="ellipse">
            <a:avLst/>
          </a:prstGeom>
          <a:solidFill>
            <a:srgbClr val="E6B800"/>
          </a:solidFill>
          <a:ln w="0">
            <a:noFill/>
          </a:ln>
        </p:spPr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4E66DCA6-D9C6-4993-9873-F3BD7D354607}"/>
              </a:ext>
            </a:extLst>
          </p:cNvPr>
          <p:cNvSpPr>
            <a:spLocks noGrp="1"/>
          </p:cNvSpPr>
          <p:nvPr/>
        </p:nvSpPr>
        <p:spPr>
          <a:xfrm>
            <a:off x="9215438" y="3943350"/>
            <a:ext cx="190500" cy="1104900"/>
          </a:xfrm>
          <a:prstGeom prst="downArrow">
            <a:avLst/>
          </a:prstGeom>
          <a:solidFill>
            <a:srgbClr val="E6B800"/>
          </a:solidFill>
          <a:ln w="0">
            <a:noFill/>
          </a:ln>
        </p:spPr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A03C443-28A9-4F9C-8FC9-C44CAE0100D0}"/>
              </a:ext>
            </a:extLst>
          </p:cNvPr>
          <p:cNvSpPr>
            <a:spLocks noGrp="1"/>
          </p:cNvSpPr>
          <p:nvPr/>
        </p:nvSpPr>
        <p:spPr>
          <a:xfrm>
            <a:off x="7810500" y="3714750"/>
            <a:ext cx="428625" cy="428625"/>
          </a:xfrm>
          <a:custGeom>
            <a:avLst/>
            <a:gdLst/>
            <a:ahLst/>
            <a:cxnLst/>
            <a:rect l="0" t="0" r="0" b="0"/>
            <a:pathLst>
              <a:path w="428625" h="428625">
                <a:moveTo>
                  <a:pt x="0" y="428625"/>
                </a:moveTo>
                <a:cubicBezTo>
                  <a:pt x="236730" y="428625"/>
                  <a:pt x="428625" y="236730"/>
                  <a:pt x="428625" y="0"/>
                </a:cubicBezTo>
              </a:path>
            </a:pathLst>
          </a:custGeom>
          <a:noFill/>
          <a:ln w="28575">
            <a:solidFill>
              <a:srgbClr val="E6B800"/>
            </a:solidFill>
          </a:ln>
        </p:spPr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5ED8FCB4-D76E-47AF-9063-60FB5C6A1FBD}"/>
              </a:ext>
            </a:extLst>
          </p:cNvPr>
          <p:cNvSpPr>
            <a:spLocks noGrp="1"/>
          </p:cNvSpPr>
          <p:nvPr/>
        </p:nvSpPr>
        <p:spPr>
          <a:xfrm>
            <a:off x="8172450" y="3629025"/>
            <a:ext cx="133350" cy="142875"/>
          </a:xfrm>
          <a:prstGeom prst="triangle">
            <a:avLst/>
          </a:prstGeom>
          <a:solidFill>
            <a:srgbClr val="E6B800"/>
          </a:solidFill>
          <a:ln w="0">
            <a:noFill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67994DE-C67B-44C6-AF25-5E56519229C0}"/>
              </a:ext>
            </a:extLst>
          </p:cNvPr>
          <p:cNvSpPr>
            <a:spLocks noGrp="1"/>
          </p:cNvSpPr>
          <p:nvPr/>
        </p:nvSpPr>
        <p:spPr>
          <a:xfrm>
            <a:off x="7553325" y="2695575"/>
            <a:ext cx="3381375" cy="523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8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Motor torque </a:t>
            </a:r>
            <a:r>
              <a:rPr sz="1875" b="1" i="1">
                <a:solidFill>
                  <a:srgbClr val="17324D"/>
                </a:solidFill>
                <a:latin typeface="Cambria Math" panose="02040503050406030204" pitchFamily="18" charset="0"/>
                <a:ea typeface="Aptos"/>
                <a:cs typeface="Aptos"/>
              </a:rPr>
              <a:t>τ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1BB616B-3814-4D0D-95B1-457666D5D156}"/>
              </a:ext>
            </a:extLst>
          </p:cNvPr>
          <p:cNvSpPr>
            <a:spLocks noGrp="1"/>
          </p:cNvSpPr>
          <p:nvPr/>
        </p:nvSpPr>
        <p:spPr>
          <a:xfrm>
            <a:off x="9525000" y="4410075"/>
            <a:ext cx="904875" cy="523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mg</a:t>
            </a:r>
          </a:p>
        </p:txBody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A5E75D59-B292-4023-9764-EC08D0465620}"/>
              </a:ext>
            </a:extLst>
          </p:cNvPr>
          <p:cNvSpPr>
            <a:spLocks noGrp="1"/>
          </p:cNvSpPr>
          <p:nvPr/>
        </p:nvSpPr>
        <p:spPr>
          <a:xfrm>
            <a:off x="7810500" y="3286125"/>
            <a:ext cx="1500188" cy="0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AAAFEDD0-E7D1-4001-B9E6-FB1A90329C36}"/>
              </a:ext>
            </a:extLst>
          </p:cNvPr>
          <p:cNvSpPr>
            <a:spLocks noGrp="1"/>
          </p:cNvSpPr>
          <p:nvPr/>
        </p:nvSpPr>
        <p:spPr>
          <a:xfrm>
            <a:off x="7810500" y="3181350"/>
            <a:ext cx="0" cy="209550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78F36FD2-C5B6-4557-8CF1-A20850622496}"/>
              </a:ext>
            </a:extLst>
          </p:cNvPr>
          <p:cNvSpPr>
            <a:spLocks noGrp="1"/>
          </p:cNvSpPr>
          <p:nvPr/>
        </p:nvSpPr>
        <p:spPr>
          <a:xfrm>
            <a:off x="9310688" y="3181350"/>
            <a:ext cx="0" cy="209550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66C720-BBCC-4278-A2F6-5CD8C11D5734}"/>
              </a:ext>
            </a:extLst>
          </p:cNvPr>
          <p:cNvSpPr>
            <a:spLocks noGrp="1"/>
          </p:cNvSpPr>
          <p:nvPr/>
        </p:nvSpPr>
        <p:spPr>
          <a:xfrm>
            <a:off x="8391525" y="2847975"/>
            <a:ext cx="619125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025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r꜀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E0F7921-5716-4A1C-9EB3-178DC1E80303}"/>
              </a:ext>
            </a:extLst>
          </p:cNvPr>
          <p:cNvSpPr>
            <a:spLocks noGrp="1"/>
          </p:cNvSpPr>
          <p:nvPr/>
        </p:nvSpPr>
        <p:spPr>
          <a:xfrm>
            <a:off x="7848600" y="5381625"/>
            <a:ext cx="34290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8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Horizontal hold</a:t>
            </a:r>
          </a:p>
        </p:txBody>
      </p:sp>
      <p:pic>
        <p:nvPicPr>
          <p:cNvPr id="24" name="Picture 23" descr="Torque equals inertia times angular acceleration plus viscous friction plus gravity torque">
            <a:extLst>
              <a:ext uri="{FF2B5EF4-FFF2-40B4-BE49-F238E27FC236}">
                <a16:creationId xmlns:a16="http://schemas.microsoft.com/office/drawing/2014/main" id="{FCF950A7-9514-2EB2-DD63-FE31FEB5B5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1626159"/>
            <a:ext cx="9602218" cy="1272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18569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F8E2963-1E52-4BF8-A280-6B7E42C43DBA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lang="en-US"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Q2: Holding at 30°</a:t>
            </a:r>
            <a:endParaRPr sz="3150" b="1">
              <a:solidFill>
                <a:srgbClr val="17324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6E2FD54-0922-45EC-9C12-5D7AF6F92C39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lang="en-US"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06</a:t>
            </a:r>
            <a:endParaRPr sz="1350" b="0">
              <a:solidFill>
                <a:srgbClr val="596A7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C6F9371-4567-40FD-82B7-31DD8F7597CF}"/>
              </a:ext>
            </a:extLst>
          </p:cNvPr>
          <p:cNvSpPr>
            <a:spLocks noGrp="1"/>
          </p:cNvSpPr>
          <p:nvPr/>
        </p:nvSpPr>
        <p:spPr>
          <a:xfrm>
            <a:off x="742950" y="1571625"/>
            <a:ext cx="10715625" cy="1285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75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m</a:t>
            </a:r>
            <a:r>
              <a:rPr lang="en-US" sz="21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2 kg, </a:t>
            </a:r>
            <a:r>
              <a:rPr lang="en-US" sz="2175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r꜀</a:t>
            </a:r>
            <a:r>
              <a:rPr lang="en-US" sz="21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0.3 m, </a:t>
            </a:r>
            <a:r>
              <a:rPr lang="en-US" sz="2175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g</a:t>
            </a:r>
            <a:r>
              <a:rPr lang="en-US" sz="21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10 m/s².</a:t>
            </a:r>
          </a:p>
          <a:p>
            <a: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At </a:t>
            </a:r>
            <a:r>
              <a:rPr lang="en-US" sz="2175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θ</a:t>
            </a:r>
            <a:r>
              <a:rPr lang="en-US" sz="21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30°, </a:t>
            </a:r>
            <a:r>
              <a:rPr lang="en-US" sz="2175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θ̇</a:t>
            </a:r>
            <a:r>
              <a:rPr lang="en-US" sz="21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0, </a:t>
            </a:r>
            <a:r>
              <a:rPr lang="en-US" sz="2175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θ̈</a:t>
            </a:r>
            <a:r>
              <a:rPr lang="en-US" sz="21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0, what holding torque is required?</a:t>
            </a:r>
            <a:endParaRPr sz="2175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3D83EDA-B0FA-454F-8035-EDB4AABB9341}"/>
              </a:ext>
            </a:extLst>
          </p:cNvPr>
          <p:cNvSpPr>
            <a:spLocks noGrp="1"/>
          </p:cNvSpPr>
          <p:nvPr/>
        </p:nvSpPr>
        <p:spPr>
          <a:xfrm>
            <a:off x="904875" y="309562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A.  0 N·m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6C8355A-C657-4E3D-A273-043D624B560C}"/>
              </a:ext>
            </a:extLst>
          </p:cNvPr>
          <p:cNvSpPr>
            <a:spLocks noGrp="1"/>
          </p:cNvSpPr>
          <p:nvPr/>
        </p:nvSpPr>
        <p:spPr>
          <a:xfrm>
            <a:off x="904875" y="372427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B.  3 N·m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51CF68B-A49C-42FA-AF15-A308C0B04DA9}"/>
              </a:ext>
            </a:extLst>
          </p:cNvPr>
          <p:cNvSpPr>
            <a:spLocks noGrp="1"/>
          </p:cNvSpPr>
          <p:nvPr/>
        </p:nvSpPr>
        <p:spPr>
          <a:xfrm>
            <a:off x="904875" y="435292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C.  6 N·m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D3E3DD2-8DC7-4391-B6EE-43C2888E7C66}"/>
              </a:ext>
            </a:extLst>
          </p:cNvPr>
          <p:cNvSpPr>
            <a:spLocks noGrp="1"/>
          </p:cNvSpPr>
          <p:nvPr/>
        </p:nvSpPr>
        <p:spPr>
          <a:xfrm>
            <a:off x="904875" y="498157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D.  12 N·m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7075A10-346F-47B7-A717-82DD9368325D}"/>
              </a:ext>
            </a:extLst>
          </p:cNvPr>
          <p:cNvSpPr>
            <a:spLocks noGrp="1"/>
          </p:cNvSpPr>
          <p:nvPr/>
        </p:nvSpPr>
        <p:spPr>
          <a:xfrm>
            <a:off x="742950" y="590550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6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lang="en-US" sz="16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Poll Everywhere · Q2</a:t>
            </a:r>
            <a:endParaRPr sz="1650" b="0">
              <a:solidFill>
                <a:srgbClr val="596A7B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2081871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5E32024-5339-48E5-9A42-7FE7EDB79AD7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Q2 answer: B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39C840C-5F35-4386-BB3B-C33FCA382954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7AFA5A2-5229-47F8-89A2-0467079BD031}"/>
              </a:ext>
            </a:extLst>
          </p:cNvPr>
          <p:cNvSpPr>
            <a:spLocks noGrp="1"/>
          </p:cNvSpPr>
          <p:nvPr/>
        </p:nvSpPr>
        <p:spPr>
          <a:xfrm>
            <a:off x="742950" y="314325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At rest, inertia and viscous-friction terms are zero.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B721B5A-E15C-4D49-905E-54369C3F3E61}"/>
              </a:ext>
            </a:extLst>
          </p:cNvPr>
          <p:cNvSpPr>
            <a:spLocks noGrp="1"/>
          </p:cNvSpPr>
          <p:nvPr/>
        </p:nvSpPr>
        <p:spPr>
          <a:xfrm>
            <a:off x="742950" y="400050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Gravity torque depends on the arm’s orientation.</a:t>
            </a:r>
          </a:p>
        </p:txBody>
      </p:sp>
      <p:pic>
        <p:nvPicPr>
          <p:cNvPr id="8" name="Picture 7" descr="Holding torque calculation equals 3 newton meters">
            <a:extLst>
              <a:ext uri="{FF2B5EF4-FFF2-40B4-BE49-F238E27FC236}">
                <a16:creationId xmlns:a16="http://schemas.microsoft.com/office/drawing/2014/main" id="{69CC23F9-C2DC-0671-D476-5E1D4FA2D5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1811282"/>
            <a:ext cx="10715625" cy="901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22853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C7C4C7E-17C5-4BE2-826A-7DA53D4278B0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A point payload at the tip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C5018B7-36A9-45DD-A5C4-6B359C2D14CC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B98A497-F176-4269-A7FD-56DC660C50DC}"/>
              </a:ext>
            </a:extLst>
          </p:cNvPr>
          <p:cNvSpPr>
            <a:spLocks noGrp="1"/>
          </p:cNvSpPr>
          <p:nvPr/>
        </p:nvSpPr>
        <p:spPr>
          <a:xfrm>
            <a:off x="742950" y="3143250"/>
            <a:ext cx="6477000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The gravity coefficient becomes </a:t>
            </a:r>
            <a:r>
              <a:rPr lang="en-US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mgr</a:t>
            </a:r>
            <a:r>
              <a:rPr lang="en-US" sz="2100" b="0" i="1" baseline="-25000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c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+ </a:t>
            </a:r>
            <a:r>
              <a:rPr lang="en-US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m</a:t>
            </a:r>
            <a:r>
              <a:rPr lang="en-US" sz="2100" b="0" i="1" baseline="-25000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p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</a:t>
            </a:r>
            <a:r>
              <a:rPr lang="en-US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gL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.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7A4C63E-B9A4-42A0-9714-F76176A8994B}"/>
              </a:ext>
            </a:extLst>
          </p:cNvPr>
          <p:cNvSpPr>
            <a:spLocks noGrp="1"/>
          </p:cNvSpPr>
          <p:nvPr/>
        </p:nvSpPr>
        <p:spPr>
          <a:xfrm>
            <a:off x="742950" y="4000500"/>
            <a:ext cx="6477000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nn-NO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For </a:t>
            </a:r>
            <a:r>
              <a:rPr lang="nn-NO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m</a:t>
            </a:r>
            <a:r>
              <a:rPr lang="nn-NO" sz="2100" b="0" i="1" baseline="-25000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p</a:t>
            </a:r>
            <a:r>
              <a:rPr lang="nn-NO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0.5 kg: </a:t>
            </a:r>
            <a:r>
              <a:rPr lang="nn-NO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I</a:t>
            </a:r>
            <a:r>
              <a:rPr lang="nn-NO" sz="2100" b="0" i="1" baseline="-25000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new</a:t>
            </a:r>
            <a:r>
              <a:rPr lang="nn-NO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0.24 + 0.18 = 0.42 kg·m².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D55EF79-2E59-40A2-8D0F-73E29F8DF8CE}"/>
              </a:ext>
            </a:extLst>
          </p:cNvPr>
          <p:cNvSpPr>
            <a:spLocks noGrp="1"/>
          </p:cNvSpPr>
          <p:nvPr/>
        </p:nvSpPr>
        <p:spPr>
          <a:xfrm>
            <a:off x="742950" y="4857750"/>
            <a:ext cx="6477000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Required torque: </a:t>
            </a:r>
            <a:r>
              <a:rPr lang="el-GR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τ</a:t>
            </a:r>
            <a:r>
              <a:rPr lang="el-GR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</a:t>
            </a:r>
            <a:r>
              <a:rPr lang="en-US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I</a:t>
            </a:r>
            <a:r>
              <a:rPr lang="en-US" sz="2100" b="0" i="1" baseline="-25000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new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</a:t>
            </a:r>
            <a:r>
              <a:rPr lang="el-GR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θ̈</a:t>
            </a:r>
            <a:r>
              <a:rPr lang="el-GR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+ </a:t>
            </a:r>
            <a:r>
              <a:rPr lang="en-US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b</a:t>
            </a:r>
            <a:r>
              <a:rPr lang="el-GR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θ̇</a:t>
            </a:r>
            <a:r>
              <a:rPr lang="el-GR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+ (</a:t>
            </a:r>
            <a:r>
              <a:rPr lang="en-US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mgr</a:t>
            </a:r>
            <a:r>
              <a:rPr lang="en-US" sz="2100" b="0" i="1" baseline="-25000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c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+ </a:t>
            </a:r>
            <a:r>
              <a:rPr lang="en-US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m</a:t>
            </a:r>
            <a:r>
              <a:rPr lang="en-US" sz="2100" b="0" i="1" baseline="-25000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p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</a:t>
            </a:r>
            <a:r>
              <a:rPr lang="en-US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gL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) </a:t>
            </a:r>
            <a:r>
              <a:rPr lang="en-US" sz="2100" b="0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sin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</a:t>
            </a:r>
            <a:r>
              <a:rPr lang="el-GR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θ</a:t>
            </a:r>
            <a:r>
              <a:rPr lang="el-GR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.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C9D8460-2E2D-4FE0-876A-B009BC058F7F}"/>
              </a:ext>
            </a:extLst>
          </p:cNvPr>
          <p:cNvSpPr>
            <a:spLocks noGrp="1"/>
          </p:cNvSpPr>
          <p:nvPr/>
        </p:nvSpPr>
        <p:spPr>
          <a:xfrm>
            <a:off x="8020050" y="2962275"/>
            <a:ext cx="2524125" cy="133350"/>
          </a:xfrm>
          <a:prstGeom prst="rect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A2026B1-F945-4729-81D6-171471FABA45}"/>
              </a:ext>
            </a:extLst>
          </p:cNvPr>
          <p:cNvSpPr>
            <a:spLocks noGrp="1"/>
          </p:cNvSpPr>
          <p:nvPr/>
        </p:nvSpPr>
        <p:spPr>
          <a:xfrm>
            <a:off x="7896225" y="2905125"/>
            <a:ext cx="247650" cy="247650"/>
          </a:xfrm>
          <a:prstGeom prst="ellipse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CFCE3F9-F923-4276-A4F0-F06D0317D7F8}"/>
              </a:ext>
            </a:extLst>
          </p:cNvPr>
          <p:cNvSpPr>
            <a:spLocks noGrp="1"/>
          </p:cNvSpPr>
          <p:nvPr/>
        </p:nvSpPr>
        <p:spPr>
          <a:xfrm>
            <a:off x="7972425" y="2981325"/>
            <a:ext cx="95250" cy="9525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9CA689E-575E-4555-B1B4-9BC1B0632F21}"/>
              </a:ext>
            </a:extLst>
          </p:cNvPr>
          <p:cNvSpPr>
            <a:spLocks noGrp="1"/>
          </p:cNvSpPr>
          <p:nvPr/>
        </p:nvSpPr>
        <p:spPr>
          <a:xfrm>
            <a:off x="9205913" y="2952750"/>
            <a:ext cx="152400" cy="152400"/>
          </a:xfrm>
          <a:prstGeom prst="ellipse">
            <a:avLst/>
          </a:prstGeom>
          <a:solidFill>
            <a:srgbClr val="E6B800"/>
          </a:solidFill>
          <a:ln w="0">
            <a:noFill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E6CB804-2103-4BA9-A625-D2AD19DAEB19}"/>
              </a:ext>
            </a:extLst>
          </p:cNvPr>
          <p:cNvSpPr>
            <a:spLocks noGrp="1"/>
          </p:cNvSpPr>
          <p:nvPr/>
        </p:nvSpPr>
        <p:spPr>
          <a:xfrm>
            <a:off x="7905750" y="2095500"/>
            <a:ext cx="28575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02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Link only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E28ABDF-A1A9-4C7E-8BD0-54453A4432A3}"/>
              </a:ext>
            </a:extLst>
          </p:cNvPr>
          <p:cNvSpPr>
            <a:spLocks noGrp="1"/>
          </p:cNvSpPr>
          <p:nvPr/>
        </p:nvSpPr>
        <p:spPr>
          <a:xfrm>
            <a:off x="8048625" y="3400425"/>
            <a:ext cx="32385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l-GR" sz="2025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τ</a:t>
            </a:r>
            <a:r>
              <a:rPr lang="en-US" sz="2025" b="0" i="1" baseline="-25000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hold</a:t>
            </a:r>
            <a:r>
              <a:rPr lang="en-US" sz="202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6 N·m</a:t>
            </a:r>
            <a:endParaRPr sz="2025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E7387A4-0027-4111-9D2C-CE9BBBFA2578}"/>
              </a:ext>
            </a:extLst>
          </p:cNvPr>
          <p:cNvSpPr>
            <a:spLocks noGrp="1"/>
          </p:cNvSpPr>
          <p:nvPr/>
        </p:nvSpPr>
        <p:spPr>
          <a:xfrm>
            <a:off x="8020050" y="4886325"/>
            <a:ext cx="2524125" cy="133350"/>
          </a:xfrm>
          <a:prstGeom prst="rect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DA825C9-1725-4DB2-82B1-F86DA3C305EE}"/>
              </a:ext>
            </a:extLst>
          </p:cNvPr>
          <p:cNvSpPr>
            <a:spLocks noGrp="1"/>
          </p:cNvSpPr>
          <p:nvPr/>
        </p:nvSpPr>
        <p:spPr>
          <a:xfrm>
            <a:off x="7896225" y="4829175"/>
            <a:ext cx="247650" cy="247650"/>
          </a:xfrm>
          <a:prstGeom prst="ellipse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3340B44-4FA4-44FD-9DC9-D9785DB1DE9B}"/>
              </a:ext>
            </a:extLst>
          </p:cNvPr>
          <p:cNvSpPr>
            <a:spLocks noGrp="1"/>
          </p:cNvSpPr>
          <p:nvPr/>
        </p:nvSpPr>
        <p:spPr>
          <a:xfrm>
            <a:off x="7972425" y="4905375"/>
            <a:ext cx="95250" cy="9525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B7A1429-1B47-43FE-AD10-A6CD0DADB278}"/>
              </a:ext>
            </a:extLst>
          </p:cNvPr>
          <p:cNvSpPr>
            <a:spLocks noGrp="1"/>
          </p:cNvSpPr>
          <p:nvPr/>
        </p:nvSpPr>
        <p:spPr>
          <a:xfrm>
            <a:off x="9205913" y="4876800"/>
            <a:ext cx="152400" cy="152400"/>
          </a:xfrm>
          <a:prstGeom prst="ellipse">
            <a:avLst/>
          </a:prstGeom>
          <a:solidFill>
            <a:srgbClr val="E6B800"/>
          </a:solidFill>
          <a:ln w="0">
            <a:noFill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F211588-ECD7-4012-84F2-B2F88D1B1156}"/>
              </a:ext>
            </a:extLst>
          </p:cNvPr>
          <p:cNvSpPr>
            <a:spLocks noGrp="1"/>
          </p:cNvSpPr>
          <p:nvPr/>
        </p:nvSpPr>
        <p:spPr>
          <a:xfrm>
            <a:off x="10363200" y="4743450"/>
            <a:ext cx="400050" cy="419100"/>
          </a:xfrm>
          <a:prstGeom prst="rect">
            <a:avLst/>
          </a:prstGeom>
          <a:solidFill>
            <a:srgbClr val="E6B800"/>
          </a:solidFill>
          <a:ln w="0">
            <a:noFill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8EC1DAE-0ED0-44E2-A4C4-CC783B128552}"/>
              </a:ext>
            </a:extLst>
          </p:cNvPr>
          <p:cNvSpPr>
            <a:spLocks noGrp="1"/>
          </p:cNvSpPr>
          <p:nvPr/>
        </p:nvSpPr>
        <p:spPr>
          <a:xfrm>
            <a:off x="7781925" y="4010025"/>
            <a:ext cx="34290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02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0.5 kg at the tip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97C377D-848E-4C4C-BA6C-898A9C0A980B}"/>
              </a:ext>
            </a:extLst>
          </p:cNvPr>
          <p:cNvSpPr>
            <a:spLocks noGrp="1"/>
          </p:cNvSpPr>
          <p:nvPr/>
        </p:nvSpPr>
        <p:spPr>
          <a:xfrm>
            <a:off x="8048625" y="5391150"/>
            <a:ext cx="32385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l-GR" sz="2025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τ</a:t>
            </a:r>
            <a:r>
              <a:rPr lang="en-US" sz="2025" b="0" i="1" baseline="-25000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hold</a:t>
            </a:r>
            <a:r>
              <a:rPr lang="en-US" sz="202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9 N·m</a:t>
            </a:r>
            <a:endParaRPr sz="2025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22" name="Picture 21" descr="New inertia equals link inertia plus payload mass times link length squared">
            <a:extLst>
              <a:ext uri="{FF2B5EF4-FFF2-40B4-BE49-F238E27FC236}">
                <a16:creationId xmlns:a16="http://schemas.microsoft.com/office/drawing/2014/main" id="{0DDDCE8A-BC84-8473-434B-8242FFC208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1476190"/>
            <a:ext cx="7807574" cy="1571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22746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29E852A-4D5C-4DFF-8D3F-C7EA9BD60A97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Coding activity 1: Holding torque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E60634C-94D4-4B3B-A20B-A8927AEB7A40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graphicFrame>
        <p:nvGraphicFramePr>
          <p:cNvPr id="3" name="Chart">
            <a:extLst>
              <a:ext uri="{FF2B5EF4-FFF2-40B4-BE49-F238E27FC236}">
                <a16:creationId xmlns:a16="http://schemas.microsoft.com/office/drawing/2014/main" id="{F6CA345B-13E1-432D-8765-CD45218337B5}"/>
              </a:ext>
            </a:extLst>
          </p:cNvPr>
          <p:cNvGraphicFramePr/>
          <p:nvPr/>
        </p:nvGraphicFramePr>
        <p:xfrm>
          <a:off x="666750" y="1762125"/>
          <a:ext cx="6191250" cy="3619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574E3D37-CB55-4509-BF4F-D8FC2E33D9A5}"/>
              </a:ext>
            </a:extLst>
          </p:cNvPr>
          <p:cNvSpPr>
            <a:spLocks noGrp="1"/>
          </p:cNvSpPr>
          <p:nvPr/>
        </p:nvSpPr>
        <p:spPr>
          <a:xfrm>
            <a:off x="7239000" y="1714500"/>
            <a:ext cx="4191000" cy="3524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Run Activity 1 in the notebook.</a:t>
            </a:r>
          </a:p>
          <a:p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Report torque at 0°, 30°, 90°, 180°.</a:t>
            </a:r>
          </a:p>
          <a:p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Compare payload cases and explain the curve.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60BFBF3-E5B4-475A-A525-04060C075230}"/>
              </a:ext>
            </a:extLst>
          </p:cNvPr>
          <p:cNvSpPr>
            <a:spLocks noGrp="1"/>
          </p:cNvSpPr>
          <p:nvPr/>
        </p:nvSpPr>
        <p:spPr>
          <a:xfrm>
            <a:off x="742950" y="5857875"/>
            <a:ext cx="10477500" cy="333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725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725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8 minutes · Submit your plot and a two-sentence explanation</a:t>
            </a:r>
          </a:p>
        </p:txBody>
      </p:sp>
    </p:spTree>
    <p:extLst>
      <p:ext uri="{BB962C8B-B14F-4D97-AF65-F5344CB8AC3E}">
        <p14:creationId xmlns:p14="http://schemas.microsoft.com/office/powerpoint/2010/main" val="12198009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86C58FC-F359-4BE1-BAF8-2588E3F334F5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Kinetic and potential energy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65980FE-A35D-4D13-9AF8-488ED31803BD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AB6F9DC-BDBA-444A-912E-F7B0F631F744}"/>
              </a:ext>
            </a:extLst>
          </p:cNvPr>
          <p:cNvSpPr>
            <a:spLocks noGrp="1"/>
          </p:cNvSpPr>
          <p:nvPr/>
        </p:nvSpPr>
        <p:spPr>
          <a:xfrm>
            <a:off x="742950" y="3143250"/>
            <a:ext cx="63341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Kinetic energy measures motion.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5F8A460-A21E-490C-AB5F-7E11BD6DB377}"/>
              </a:ext>
            </a:extLst>
          </p:cNvPr>
          <p:cNvSpPr>
            <a:spLocks noGrp="1"/>
          </p:cNvSpPr>
          <p:nvPr/>
        </p:nvSpPr>
        <p:spPr>
          <a:xfrm>
            <a:off x="742950" y="4000500"/>
            <a:ext cx="63341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Potential energy measures height relative to the lowest position.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76906D2-AC6B-4190-8A89-08AE6D32DEFD}"/>
              </a:ext>
            </a:extLst>
          </p:cNvPr>
          <p:cNvSpPr>
            <a:spLocks noGrp="1"/>
          </p:cNvSpPr>
          <p:nvPr/>
        </p:nvSpPr>
        <p:spPr>
          <a:xfrm>
            <a:off x="742950" y="4857750"/>
            <a:ext cx="63341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The Lagrangian is </a:t>
            </a:r>
            <a:r>
              <a:rPr lang="en-US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ℒ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</a:t>
            </a:r>
            <a:r>
              <a:rPr lang="en-US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T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− </a:t>
            </a:r>
            <a:r>
              <a:rPr lang="en-US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V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.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BC57682-2BA9-4549-8B2E-959981BDF199}"/>
              </a:ext>
            </a:extLst>
          </p:cNvPr>
          <p:cNvSpPr>
            <a:spLocks noGrp="1"/>
          </p:cNvSpPr>
          <p:nvPr/>
        </p:nvSpPr>
        <p:spPr>
          <a:xfrm>
            <a:off x="7886700" y="2638425"/>
            <a:ext cx="133350" cy="2143125"/>
          </a:xfrm>
          <a:prstGeom prst="rect">
            <a:avLst/>
          </a:prstGeom>
          <a:solidFill>
            <a:srgbClr val="9AA7B4"/>
          </a:solidFill>
          <a:ln w="0">
            <a:noFill/>
          </a:ln>
        </p:spPr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B223503-CD3E-41A4-AF20-1F373A8E3070}"/>
              </a:ext>
            </a:extLst>
          </p:cNvPr>
          <p:cNvSpPr>
            <a:spLocks noGrp="1"/>
          </p:cNvSpPr>
          <p:nvPr/>
        </p:nvSpPr>
        <p:spPr>
          <a:xfrm>
            <a:off x="7829550" y="2514600"/>
            <a:ext cx="247650" cy="247650"/>
          </a:xfrm>
          <a:prstGeom prst="ellipse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2C3CB13-8816-43D8-8735-730BE8E69674}"/>
              </a:ext>
            </a:extLst>
          </p:cNvPr>
          <p:cNvSpPr>
            <a:spLocks noGrp="1"/>
          </p:cNvSpPr>
          <p:nvPr/>
        </p:nvSpPr>
        <p:spPr>
          <a:xfrm>
            <a:off x="7905750" y="2590800"/>
            <a:ext cx="95250" cy="9525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E01E1E3-97D3-4943-8DAB-75BCC6DB9329}"/>
              </a:ext>
            </a:extLst>
          </p:cNvPr>
          <p:cNvSpPr>
            <a:spLocks noGrp="1"/>
          </p:cNvSpPr>
          <p:nvPr/>
        </p:nvSpPr>
        <p:spPr>
          <a:xfrm>
            <a:off x="7877175" y="3633788"/>
            <a:ext cx="152400" cy="152400"/>
          </a:xfrm>
          <a:prstGeom prst="ellipse">
            <a:avLst/>
          </a:prstGeom>
          <a:solidFill>
            <a:srgbClr val="E6B800"/>
          </a:solidFill>
          <a:ln w="0">
            <a:noFill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895ABB-44B1-49DA-B0E2-B4BB3F125861}"/>
              </a:ext>
            </a:extLst>
          </p:cNvPr>
          <p:cNvSpPr>
            <a:spLocks noGrp="1"/>
          </p:cNvSpPr>
          <p:nvPr/>
        </p:nvSpPr>
        <p:spPr>
          <a:xfrm>
            <a:off x="7953375" y="2571750"/>
            <a:ext cx="2143125" cy="133350"/>
          </a:xfrm>
          <a:prstGeom prst="rect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BCEB024-1DE8-46CB-B4CD-0F63856E4BC1}"/>
              </a:ext>
            </a:extLst>
          </p:cNvPr>
          <p:cNvSpPr>
            <a:spLocks noGrp="1"/>
          </p:cNvSpPr>
          <p:nvPr/>
        </p:nvSpPr>
        <p:spPr>
          <a:xfrm>
            <a:off x="7829550" y="2514600"/>
            <a:ext cx="247650" cy="247650"/>
          </a:xfrm>
          <a:prstGeom prst="ellipse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D1C7C31-697B-4441-B3A5-56F953D4441B}"/>
              </a:ext>
            </a:extLst>
          </p:cNvPr>
          <p:cNvSpPr>
            <a:spLocks noGrp="1"/>
          </p:cNvSpPr>
          <p:nvPr/>
        </p:nvSpPr>
        <p:spPr>
          <a:xfrm>
            <a:off x="7905750" y="2590800"/>
            <a:ext cx="95250" cy="9525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6201CDBF-772C-45C7-B33C-51264492B847}"/>
              </a:ext>
            </a:extLst>
          </p:cNvPr>
          <p:cNvSpPr>
            <a:spLocks noGrp="1"/>
          </p:cNvSpPr>
          <p:nvPr/>
        </p:nvSpPr>
        <p:spPr>
          <a:xfrm>
            <a:off x="8948738" y="2562225"/>
            <a:ext cx="152400" cy="152400"/>
          </a:xfrm>
          <a:prstGeom prst="ellipse">
            <a:avLst/>
          </a:prstGeom>
          <a:solidFill>
            <a:srgbClr val="E6B800"/>
          </a:solidFill>
          <a:ln w="0">
            <a:noFill/>
          </a:ln>
        </p:spPr>
      </p:sp>
      <p:sp>
        <p:nvSpPr>
          <p:cNvPr id="16" name="Straight Connector 15">
            <a:extLst>
              <a:ext uri="{FF2B5EF4-FFF2-40B4-BE49-F238E27FC236}">
                <a16:creationId xmlns:a16="http://schemas.microsoft.com/office/drawing/2014/main" id="{FF26BBBF-5867-40C4-8562-711C27AA9BC4}"/>
              </a:ext>
            </a:extLst>
          </p:cNvPr>
          <p:cNvSpPr>
            <a:spLocks noGrp="1"/>
          </p:cNvSpPr>
          <p:nvPr/>
        </p:nvSpPr>
        <p:spPr>
          <a:xfrm>
            <a:off x="9024938" y="2638425"/>
            <a:ext cx="1762125" cy="0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775574CD-4805-4FA8-ACC1-835A418F19DE}"/>
              </a:ext>
            </a:extLst>
          </p:cNvPr>
          <p:cNvSpPr>
            <a:spLocks noGrp="1"/>
          </p:cNvSpPr>
          <p:nvPr/>
        </p:nvSpPr>
        <p:spPr>
          <a:xfrm>
            <a:off x="7953375" y="3709988"/>
            <a:ext cx="2828925" cy="0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DEDCD91D-0D39-49D3-AF77-526E5D4E6BD7}"/>
              </a:ext>
            </a:extLst>
          </p:cNvPr>
          <p:cNvSpPr>
            <a:spLocks noGrp="1"/>
          </p:cNvSpPr>
          <p:nvPr/>
        </p:nvSpPr>
        <p:spPr>
          <a:xfrm>
            <a:off x="10572750" y="2638425"/>
            <a:ext cx="0" cy="1071563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7E2CE338-34C6-4B32-B5BF-2A3E048459C5}"/>
              </a:ext>
            </a:extLst>
          </p:cNvPr>
          <p:cNvSpPr>
            <a:spLocks noGrp="1"/>
          </p:cNvSpPr>
          <p:nvPr/>
        </p:nvSpPr>
        <p:spPr>
          <a:xfrm>
            <a:off x="10458450" y="2638425"/>
            <a:ext cx="228600" cy="0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AEAD9AE7-C510-41E5-82B6-7FC9212D802C}"/>
              </a:ext>
            </a:extLst>
          </p:cNvPr>
          <p:cNvSpPr>
            <a:spLocks noGrp="1"/>
          </p:cNvSpPr>
          <p:nvPr/>
        </p:nvSpPr>
        <p:spPr>
          <a:xfrm>
            <a:off x="10458450" y="3709988"/>
            <a:ext cx="228600" cy="0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6575012-1482-401E-8E17-28C14BAE82E6}"/>
              </a:ext>
            </a:extLst>
          </p:cNvPr>
          <p:cNvSpPr>
            <a:spLocks noGrp="1"/>
          </p:cNvSpPr>
          <p:nvPr/>
        </p:nvSpPr>
        <p:spPr>
          <a:xfrm>
            <a:off x="9439275" y="3038475"/>
            <a:ext cx="1809750" cy="523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9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9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lang="el-GR" sz="1950" b="1" i="1">
                <a:solidFill>
                  <a:srgbClr val="17324D"/>
                </a:solidFill>
                <a:latin typeface="Cambria Math" panose="02040503050406030204" pitchFamily="18" charset="0"/>
                <a:ea typeface="Aptos"/>
                <a:cs typeface="Aptos"/>
              </a:rPr>
              <a:t>Δ</a:t>
            </a:r>
            <a:r>
              <a:rPr lang="en-US" sz="1950" b="1" i="1">
                <a:solidFill>
                  <a:srgbClr val="17324D"/>
                </a:solidFill>
                <a:latin typeface="Cambria Math" panose="02040503050406030204" pitchFamily="18" charset="0"/>
                <a:ea typeface="Aptos"/>
                <a:cs typeface="Aptos"/>
              </a:rPr>
              <a:t>h</a:t>
            </a:r>
            <a:r>
              <a:rPr lang="en-US" sz="19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 = </a:t>
            </a:r>
            <a:r>
              <a:rPr lang="en-US" sz="1950" b="1" i="1">
                <a:solidFill>
                  <a:srgbClr val="17324D"/>
                </a:solidFill>
                <a:latin typeface="Cambria Math" panose="02040503050406030204" pitchFamily="18" charset="0"/>
                <a:ea typeface="Aptos"/>
                <a:cs typeface="Aptos"/>
              </a:rPr>
              <a:t>r</a:t>
            </a:r>
            <a:r>
              <a:rPr lang="en-US" sz="1950" b="1" i="1" baseline="-25000">
                <a:solidFill>
                  <a:srgbClr val="17324D"/>
                </a:solidFill>
                <a:latin typeface="Cambria Math" panose="02040503050406030204" pitchFamily="18" charset="0"/>
                <a:ea typeface="Aptos"/>
                <a:cs typeface="Aptos"/>
              </a:rPr>
              <a:t>c</a:t>
            </a:r>
            <a:endParaRPr sz="1950" b="1" i="1" baseline="-25000">
              <a:solidFill>
                <a:srgbClr val="17324D"/>
              </a:solidFill>
              <a:latin typeface="Cambria Math" panose="02040503050406030204" pitchFamily="18" charset="0"/>
              <a:ea typeface="Aptos"/>
              <a:cs typeface="Apto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75E9ED9-78BF-4D64-B4D3-CFCEB42BDDD7}"/>
              </a:ext>
            </a:extLst>
          </p:cNvPr>
          <p:cNvSpPr>
            <a:spLocks noGrp="1"/>
          </p:cNvSpPr>
          <p:nvPr/>
        </p:nvSpPr>
        <p:spPr>
          <a:xfrm>
            <a:off x="8515350" y="2038350"/>
            <a:ext cx="219075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8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875" b="0" i="1">
                <a:solidFill>
                  <a:srgbClr val="17324D"/>
                </a:solidFill>
                <a:latin typeface="Cambria Math" panose="02040503050406030204" pitchFamily="18" charset="0"/>
                <a:ea typeface="Aptos"/>
                <a:cs typeface="Aptos"/>
              </a:rPr>
              <a:t>θ</a:t>
            </a:r>
            <a:r>
              <a:rPr sz="18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 = 90°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BA0B7C4-32B3-44AB-820B-CF0A95523A04}"/>
              </a:ext>
            </a:extLst>
          </p:cNvPr>
          <p:cNvSpPr>
            <a:spLocks noGrp="1"/>
          </p:cNvSpPr>
          <p:nvPr/>
        </p:nvSpPr>
        <p:spPr>
          <a:xfrm>
            <a:off x="7334250" y="4943475"/>
            <a:ext cx="19050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875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875" b="0" i="1">
                <a:solidFill>
                  <a:srgbClr val="596A7B"/>
                </a:solidFill>
                <a:latin typeface="Cambria Math" panose="02040503050406030204" pitchFamily="18" charset="0"/>
                <a:ea typeface="Aptos"/>
                <a:cs typeface="Aptos"/>
              </a:rPr>
              <a:t>θ</a:t>
            </a:r>
            <a:r>
              <a:rPr sz="1875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 = 0°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259F6C4-A5A3-4D6D-AF55-F9EABD1A1C44}"/>
              </a:ext>
            </a:extLst>
          </p:cNvPr>
          <p:cNvSpPr>
            <a:spLocks noGrp="1"/>
          </p:cNvSpPr>
          <p:nvPr/>
        </p:nvSpPr>
        <p:spPr>
          <a:xfrm>
            <a:off x="7419975" y="5667375"/>
            <a:ext cx="40005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8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18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The COM rises by </a:t>
            </a:r>
            <a:r>
              <a:rPr lang="en-US" sz="18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r</a:t>
            </a:r>
            <a:r>
              <a:rPr lang="en-US" sz="1800" b="0" i="1" baseline="-25000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c</a:t>
            </a:r>
            <a:r>
              <a:rPr lang="en-US" sz="18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at 90°.</a:t>
            </a:r>
            <a:endParaRPr sz="18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26" name="Picture 25" descr="Kinetic and potential energy equations">
            <a:extLst>
              <a:ext uri="{FF2B5EF4-FFF2-40B4-BE49-F238E27FC236}">
                <a16:creationId xmlns:a16="http://schemas.microsoft.com/office/drawing/2014/main" id="{4A23D7D2-6268-B2D6-82C9-8855BFFC49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1904133"/>
            <a:ext cx="6371369" cy="716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39472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C091423-3358-4B91-961E-ED76558491D5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Partial derivatives in the energy method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596D387-D29B-405C-A1A9-25F7E4CE1381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pic>
        <p:nvPicPr>
          <p:cNvPr id="9" name="Picture 8" descr="Euler Lagrange torque equation with viscous friction">
            <a:extLst>
              <a:ext uri="{FF2B5EF4-FFF2-40B4-BE49-F238E27FC236}">
                <a16:creationId xmlns:a16="http://schemas.microsoft.com/office/drawing/2014/main" id="{D18F424A-0252-196F-D5EC-910F3D8F23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1806297"/>
            <a:ext cx="3441666" cy="626030"/>
          </a:xfrm>
          <a:prstGeom prst="rect">
            <a:avLst/>
          </a:prstGeom>
        </p:spPr>
      </p:pic>
      <p:pic>
        <p:nvPicPr>
          <p:cNvPr id="11" name="Picture 10" descr="Partial derivative of the Lagrangian with respect to angular velocity and its time derivative">
            <a:extLst>
              <a:ext uri="{FF2B5EF4-FFF2-40B4-BE49-F238E27FC236}">
                <a16:creationId xmlns:a16="http://schemas.microsoft.com/office/drawing/2014/main" id="{61EF155A-D9DC-1905-7C7E-EA3A3489D7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3235048"/>
            <a:ext cx="3807099" cy="626029"/>
          </a:xfrm>
          <a:prstGeom prst="rect">
            <a:avLst/>
          </a:prstGeom>
        </p:spPr>
      </p:pic>
      <p:pic>
        <p:nvPicPr>
          <p:cNvPr id="13" name="Picture 12" descr="Partial derivative of the Lagrangian with respect to angle">
            <a:extLst>
              <a:ext uri="{FF2B5EF4-FFF2-40B4-BE49-F238E27FC236}">
                <a16:creationId xmlns:a16="http://schemas.microsoft.com/office/drawing/2014/main" id="{E34FD7C3-7F91-BD2F-8C4A-50B81875C47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4128858"/>
            <a:ext cx="3936698" cy="743410"/>
          </a:xfrm>
          <a:prstGeom prst="rect">
            <a:avLst/>
          </a:prstGeom>
        </p:spPr>
      </p:pic>
      <p:pic>
        <p:nvPicPr>
          <p:cNvPr id="15" name="Picture 14" descr="Resulting one-link torque equation">
            <a:extLst>
              <a:ext uri="{FF2B5EF4-FFF2-40B4-BE49-F238E27FC236}">
                <a16:creationId xmlns:a16="http://schemas.microsoft.com/office/drawing/2014/main" id="{C1E57924-54F8-9F9A-AE60-CA2740E5EAE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5079233"/>
            <a:ext cx="5643755" cy="747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235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FF49AB2-6B11-4305-BC83-B27D48A9170F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Forward dynamics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3ECEC2F-CBCC-4913-AD40-54CB4313F051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6C76EFA-4499-4D58-99A7-2D957C8669AE}"/>
              </a:ext>
            </a:extLst>
          </p:cNvPr>
          <p:cNvSpPr>
            <a:spLocks noGrp="1"/>
          </p:cNvSpPr>
          <p:nvPr/>
        </p:nvSpPr>
        <p:spPr>
          <a:xfrm>
            <a:off x="742950" y="314325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Inverse dynamics: known motion, calculate required torque.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DCB1B1E-9DBC-481C-8660-6A5F41162A6C}"/>
              </a:ext>
            </a:extLst>
          </p:cNvPr>
          <p:cNvSpPr>
            <a:spLocks noGrp="1"/>
          </p:cNvSpPr>
          <p:nvPr/>
        </p:nvSpPr>
        <p:spPr>
          <a:xfrm>
            <a:off x="742950" y="400050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Forward dynamics: known torque and state, calculate acceleration.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B9C74E4-CE42-4F3E-A0FF-B83E80A1B6F1}"/>
              </a:ext>
            </a:extLst>
          </p:cNvPr>
          <p:cNvSpPr>
            <a:spLocks noGrp="1"/>
          </p:cNvSpPr>
          <p:nvPr/>
        </p:nvSpPr>
        <p:spPr>
          <a:xfrm>
            <a:off x="742950" y="485775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 simulation integrates acceleration to update velocity and angle.</a:t>
            </a:r>
          </a:p>
        </p:txBody>
      </p:sp>
      <p:pic>
        <p:nvPicPr>
          <p:cNvPr id="9" name="Picture 8" descr="Angular acceleration from forward dynamics">
            <a:extLst>
              <a:ext uri="{FF2B5EF4-FFF2-40B4-BE49-F238E27FC236}">
                <a16:creationId xmlns:a16="http://schemas.microsoft.com/office/drawing/2014/main" id="{2E461BF3-C9B7-80C5-85FE-5B3D603A1E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1601069"/>
            <a:ext cx="6055115" cy="1322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4307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B40045C-42D9-44D2-9361-0198697C209F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lang="en-US"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Q3: The released arm</a:t>
            </a:r>
            <a:endParaRPr sz="3150" b="1">
              <a:solidFill>
                <a:srgbClr val="17324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B1571FC-3A80-4EC4-B06E-AD111C824B83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lang="en-US"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13</a:t>
            </a:r>
            <a:endParaRPr sz="1350" b="0">
              <a:solidFill>
                <a:srgbClr val="596A7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8B639B6-21EF-4B8B-970F-8BE0D3095B97}"/>
              </a:ext>
            </a:extLst>
          </p:cNvPr>
          <p:cNvSpPr>
            <a:spLocks noGrp="1"/>
          </p:cNvSpPr>
          <p:nvPr/>
        </p:nvSpPr>
        <p:spPr>
          <a:xfrm>
            <a:off x="742950" y="1571625"/>
            <a:ext cx="10715625" cy="1285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75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I</a:t>
            </a:r>
            <a:r>
              <a:rPr lang="en-US" sz="21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0.24 kg·m², </a:t>
            </a:r>
            <a:r>
              <a:rPr lang="en-US" sz="2175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mgr꜀</a:t>
            </a:r>
            <a:r>
              <a:rPr lang="en-US" sz="21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6 N·m.</a:t>
            </a:r>
          </a:p>
          <a:p>
            <a: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Release at </a:t>
            </a:r>
            <a:r>
              <a:rPr lang="en-US" sz="2175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θ</a:t>
            </a:r>
            <a:r>
              <a:rPr lang="en-US" sz="21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30° with </a:t>
            </a:r>
            <a:r>
              <a:rPr lang="en-US" sz="2175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θ̇</a:t>
            </a:r>
            <a:r>
              <a:rPr lang="en-US" sz="21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0 and </a:t>
            </a:r>
            <a:r>
              <a:rPr lang="en-US" sz="2175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τ</a:t>
            </a:r>
            <a:r>
              <a:rPr lang="en-US" sz="21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0. What is the initial acceleration?</a:t>
            </a:r>
            <a:endParaRPr sz="2175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90B8371-F58D-4E4F-B9F9-7833FADD816F}"/>
              </a:ext>
            </a:extLst>
          </p:cNvPr>
          <p:cNvSpPr>
            <a:spLocks noGrp="1"/>
          </p:cNvSpPr>
          <p:nvPr/>
        </p:nvSpPr>
        <p:spPr>
          <a:xfrm>
            <a:off x="904875" y="309562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A.  -12.5 rad/s²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C347495-0E99-41F2-83DE-1B1EE747618C}"/>
              </a:ext>
            </a:extLst>
          </p:cNvPr>
          <p:cNvSpPr>
            <a:spLocks noGrp="1"/>
          </p:cNvSpPr>
          <p:nvPr/>
        </p:nvSpPr>
        <p:spPr>
          <a:xfrm>
            <a:off x="904875" y="372427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B.  0 rad/s²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68DA796-0741-4784-8597-BCC911D977C8}"/>
              </a:ext>
            </a:extLst>
          </p:cNvPr>
          <p:cNvSpPr>
            <a:spLocks noGrp="1"/>
          </p:cNvSpPr>
          <p:nvPr/>
        </p:nvSpPr>
        <p:spPr>
          <a:xfrm>
            <a:off x="904875" y="435292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C.  +12.5 rad/s²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A57468A-FED7-4F4B-BA4B-0B0311AB91DD}"/>
              </a:ext>
            </a:extLst>
          </p:cNvPr>
          <p:cNvSpPr>
            <a:spLocks noGrp="1"/>
          </p:cNvSpPr>
          <p:nvPr/>
        </p:nvSpPr>
        <p:spPr>
          <a:xfrm>
            <a:off x="904875" y="498157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D.  -25 rad/s²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C72F9CB-9EF2-426E-83DC-07A6434D721D}"/>
              </a:ext>
            </a:extLst>
          </p:cNvPr>
          <p:cNvSpPr>
            <a:spLocks noGrp="1"/>
          </p:cNvSpPr>
          <p:nvPr/>
        </p:nvSpPr>
        <p:spPr>
          <a:xfrm>
            <a:off x="742950" y="590550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6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lang="en-US" sz="16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Poll Everywhere · Q3</a:t>
            </a:r>
            <a:endParaRPr sz="1650" b="0">
              <a:solidFill>
                <a:srgbClr val="596A7B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6499542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C56F188-46F7-411A-99A3-3DB7886B623B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Q3 answer: A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1C7DA95-E6E1-4C3E-BEAC-6F26D7BC6CF9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E8CE88B-7679-430A-AFCD-767B4CFD4AE6}"/>
              </a:ext>
            </a:extLst>
          </p:cNvPr>
          <p:cNvSpPr>
            <a:spLocks noGrp="1"/>
          </p:cNvSpPr>
          <p:nvPr/>
        </p:nvSpPr>
        <p:spPr>
          <a:xfrm>
            <a:off x="742950" y="314325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The negative acceleration initially moves the arm toward </a:t>
            </a:r>
            <a:r>
              <a:rPr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θ</a:t>
            </a: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0.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25F12B0-C1A9-4E2E-8265-46D4E4073B00}"/>
              </a:ext>
            </a:extLst>
          </p:cNvPr>
          <p:cNvSpPr>
            <a:spLocks noGrp="1"/>
          </p:cNvSpPr>
          <p:nvPr/>
        </p:nvSpPr>
        <p:spPr>
          <a:xfrm>
            <a:off x="742950" y="400050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At release, viscous-friction torque is zero because velocity is zero.</a:t>
            </a:r>
          </a:p>
        </p:txBody>
      </p:sp>
      <p:pic>
        <p:nvPicPr>
          <p:cNvPr id="8" name="Picture 7" descr="Released-arm angular acceleration equals negative 12.5 radians per second squared">
            <a:extLst>
              <a:ext uri="{FF2B5EF4-FFF2-40B4-BE49-F238E27FC236}">
                <a16:creationId xmlns:a16="http://schemas.microsoft.com/office/drawing/2014/main" id="{400742FC-71EF-2945-DE10-8D5FA1F1B6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1610751"/>
            <a:ext cx="10715625" cy="1302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12991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514A26A-ED3A-447D-95C8-250B1DD181FF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A preview of trajectory generation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EDBBAFA-22B1-46B7-A472-1DA5C7636E9C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5E73F89-2F8C-4BC3-8D8E-BE2801B65E64}"/>
              </a:ext>
            </a:extLst>
          </p:cNvPr>
          <p:cNvSpPr>
            <a:spLocks noGrp="1"/>
          </p:cNvSpPr>
          <p:nvPr/>
        </p:nvSpPr>
        <p:spPr>
          <a:xfrm>
            <a:off x="742950" y="485775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Move from </a:t>
            </a:r>
            <a:r>
              <a:rPr lang="en-US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θ₀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0 to </a:t>
            </a:r>
            <a:r>
              <a:rPr lang="en-US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θ</a:t>
            </a:r>
            <a:r>
              <a:rPr lang="en-US" sz="2100" b="0" i="1" baseline="-25000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f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</a:t>
            </a:r>
            <a:r>
              <a:rPr lang="en-US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π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/2, with zero endpoint velocity.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9" name="Picture 8" descr="Cubic rest-to-rest joint trajectory">
            <a:extLst>
              <a:ext uri="{FF2B5EF4-FFF2-40B4-BE49-F238E27FC236}">
                <a16:creationId xmlns:a16="http://schemas.microsoft.com/office/drawing/2014/main" id="{7D0AB4FC-304A-F45F-FE36-B69B67C51A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1725895"/>
            <a:ext cx="10715625" cy="1072584"/>
          </a:xfrm>
          <a:prstGeom prst="rect">
            <a:avLst/>
          </a:prstGeom>
        </p:spPr>
      </p:pic>
      <p:pic>
        <p:nvPicPr>
          <p:cNvPr id="11" name="Picture 10" descr="Joint velocity for the cubic trajectory">
            <a:extLst>
              <a:ext uri="{FF2B5EF4-FFF2-40B4-BE49-F238E27FC236}">
                <a16:creationId xmlns:a16="http://schemas.microsoft.com/office/drawing/2014/main" id="{5FE229DC-B556-E48D-02FA-6E69350DC2E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3260189"/>
            <a:ext cx="2422882" cy="480496"/>
          </a:xfrm>
          <a:prstGeom prst="rect">
            <a:avLst/>
          </a:prstGeom>
        </p:spPr>
      </p:pic>
      <p:pic>
        <p:nvPicPr>
          <p:cNvPr id="13" name="Picture 12" descr="Joint acceleration for the cubic trajectory">
            <a:extLst>
              <a:ext uri="{FF2B5EF4-FFF2-40B4-BE49-F238E27FC236}">
                <a16:creationId xmlns:a16="http://schemas.microsoft.com/office/drawing/2014/main" id="{3CA64489-C2DE-0C88-4539-D1562733909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4155574"/>
            <a:ext cx="1637759" cy="404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36967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D346832-2131-4262-9C36-A7CB0F8B6949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lang="en-US"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Q4: The same motion in half the time</a:t>
            </a:r>
            <a:endParaRPr sz="3150" b="1">
              <a:solidFill>
                <a:srgbClr val="17324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FA2C5CB-B8B6-4C7D-9563-7AB21638565B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lang="en-US"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16</a:t>
            </a:r>
            <a:endParaRPr sz="1350" b="0">
              <a:solidFill>
                <a:srgbClr val="596A7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A7D0622-A955-48DC-B22C-1AA758C2DB61}"/>
              </a:ext>
            </a:extLst>
          </p:cNvPr>
          <p:cNvSpPr>
            <a:spLocks noGrp="1"/>
          </p:cNvSpPr>
          <p:nvPr/>
        </p:nvSpPr>
        <p:spPr>
          <a:xfrm>
            <a:off x="742950" y="1571625"/>
            <a:ext cx="10715625" cy="1285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 cubic rest-to-rest motion takes 1 s instead of 2 s.</a:t>
            </a:r>
          </a:p>
          <a:p>
            <a: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How do peak absolute velocity and acceleration change?</a:t>
            </a:r>
            <a:endParaRPr sz="2175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DB3DA3-DF43-4158-B457-8F8B6C06FD2C}"/>
              </a:ext>
            </a:extLst>
          </p:cNvPr>
          <p:cNvSpPr>
            <a:spLocks noGrp="1"/>
          </p:cNvSpPr>
          <p:nvPr/>
        </p:nvSpPr>
        <p:spPr>
          <a:xfrm>
            <a:off x="904875" y="309562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A.  Velocity ×2, acceleration ×2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0F96AB2-4CF1-4185-986A-272B872554A0}"/>
              </a:ext>
            </a:extLst>
          </p:cNvPr>
          <p:cNvSpPr>
            <a:spLocks noGrp="1"/>
          </p:cNvSpPr>
          <p:nvPr/>
        </p:nvSpPr>
        <p:spPr>
          <a:xfrm>
            <a:off x="904875" y="372427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B.  Velocity ×2, acceleration ×4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FC7E6C7-AC14-4256-998C-D6983C99EDCB}"/>
              </a:ext>
            </a:extLst>
          </p:cNvPr>
          <p:cNvSpPr>
            <a:spLocks noGrp="1"/>
          </p:cNvSpPr>
          <p:nvPr/>
        </p:nvSpPr>
        <p:spPr>
          <a:xfrm>
            <a:off x="904875" y="435292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C.  Velocity ×4, acceleration ×2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9B6D634-2E91-4AA0-A43E-D3E5060F7B34}"/>
              </a:ext>
            </a:extLst>
          </p:cNvPr>
          <p:cNvSpPr>
            <a:spLocks noGrp="1"/>
          </p:cNvSpPr>
          <p:nvPr/>
        </p:nvSpPr>
        <p:spPr>
          <a:xfrm>
            <a:off x="904875" y="498157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D.  Both unchanged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AEC3010-4480-4E45-AED2-85BEF8899BE3}"/>
              </a:ext>
            </a:extLst>
          </p:cNvPr>
          <p:cNvSpPr>
            <a:spLocks noGrp="1"/>
          </p:cNvSpPr>
          <p:nvPr/>
        </p:nvSpPr>
        <p:spPr>
          <a:xfrm>
            <a:off x="742950" y="590550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6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lang="en-US" sz="16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Poll Everywhere · Q4</a:t>
            </a:r>
            <a:endParaRPr sz="1650" b="0">
              <a:solidFill>
                <a:srgbClr val="596A7B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0642394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101F7C1-2F3F-45FC-84A2-EF0173319740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Q4 answer: B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DA1456A-811A-4239-A8CC-614243CF9D58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61CD4E6-81E1-4987-A313-D9271E8D615A}"/>
              </a:ext>
            </a:extLst>
          </p:cNvPr>
          <p:cNvSpPr>
            <a:spLocks noGrp="1"/>
          </p:cNvSpPr>
          <p:nvPr/>
        </p:nvSpPr>
        <p:spPr>
          <a:xfrm>
            <a:off x="742950" y="314325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Velocity scales as 1/</a:t>
            </a:r>
            <a:r>
              <a:rPr lang="en-US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T</a:t>
            </a:r>
            <a:r>
              <a:rPr lang="en-US" sz="2100" b="0" i="1" baseline="-25000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f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, and acceleration as 1/</a:t>
            </a:r>
            <a:r>
              <a:rPr lang="en-US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T</a:t>
            </a:r>
            <a:r>
              <a:rPr lang="en-US" sz="2100" b="0" i="1" baseline="-25000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f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².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AB34B54-3F48-4557-A36B-3DF723639AF6}"/>
              </a:ext>
            </a:extLst>
          </p:cNvPr>
          <p:cNvSpPr>
            <a:spLocks noGrp="1"/>
          </p:cNvSpPr>
          <p:nvPr/>
        </p:nvSpPr>
        <p:spPr>
          <a:xfrm>
            <a:off x="742950" y="400050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Inertial torque quadruples. Total torque need not quadruple.</a:t>
            </a:r>
          </a:p>
        </p:txBody>
      </p:sp>
      <p:pic>
        <p:nvPicPr>
          <p:cNvPr id="8" name="Picture 7" descr="Peak velocity doubles and peak acceleration quadruples">
            <a:extLst>
              <a:ext uri="{FF2B5EF4-FFF2-40B4-BE49-F238E27FC236}">
                <a16:creationId xmlns:a16="http://schemas.microsoft.com/office/drawing/2014/main" id="{F5E3B096-585A-2FCA-9FB8-39BD5BB0E0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1846208"/>
            <a:ext cx="10715625" cy="831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49142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E3114F3-8787-40F8-A1F3-18A049AAED65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lang="en-US"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Coding activity 2: Motion time and torque</a:t>
            </a:r>
            <a:endParaRPr sz="3150" b="1">
              <a:solidFill>
                <a:srgbClr val="17324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7071910-5C65-4BA4-BCC9-724EEF50BB3F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lang="en-US"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18</a:t>
            </a:r>
            <a:endParaRPr sz="1350" b="0">
              <a:solidFill>
                <a:srgbClr val="596A7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04AC9D1-BBB1-483A-83BB-7C64F334CAF3}"/>
              </a:ext>
            </a:extLst>
          </p:cNvPr>
          <p:cNvSpPr>
            <a:spLocks noGrp="1"/>
          </p:cNvSpPr>
          <p:nvPr/>
        </p:nvSpPr>
        <p:spPr>
          <a:xfrm>
            <a:off x="742950" y="1714500"/>
            <a:ext cx="10715625" cy="809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Run Activity 2. Compare 0° to 90° motions in 2 s and 1 s.</a:t>
            </a:r>
            <a:endParaRPr sz="225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60E1371-07B4-4C60-AB50-9E0EC5A827F2}"/>
              </a:ext>
            </a:extLst>
          </p:cNvPr>
          <p:cNvSpPr>
            <a:spLocks noGrp="1"/>
          </p:cNvSpPr>
          <p:nvPr/>
        </p:nvSpPr>
        <p:spPr>
          <a:xfrm>
            <a:off x="742950" y="2667000"/>
            <a:ext cx="10715625" cy="809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Report peak |</a:t>
            </a:r>
            <a:r>
              <a:rPr lang="en-US" sz="225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θ̇</a:t>
            </a:r>
            <a:r>
              <a:rPr lang="en-US"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|, |</a:t>
            </a:r>
            <a:r>
              <a:rPr lang="en-US" sz="225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θ̈</a:t>
            </a:r>
            <a:r>
              <a:rPr lang="en-US"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|, inertial torque and total torque.</a:t>
            </a:r>
            <a:endParaRPr sz="225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81624-6C21-43A5-9BCF-4C8CFBC7BF44}"/>
              </a:ext>
            </a:extLst>
          </p:cNvPr>
          <p:cNvSpPr>
            <a:spLocks noGrp="1"/>
          </p:cNvSpPr>
          <p:nvPr/>
        </p:nvSpPr>
        <p:spPr>
          <a:xfrm>
            <a:off x="742950" y="3619500"/>
            <a:ext cx="10715625" cy="809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Check a ±6 N·m joint torque limit, including the final hold.</a:t>
            </a:r>
            <a:endParaRPr sz="225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4A26469-1227-4981-A066-352115A5C9F3}"/>
              </a:ext>
            </a:extLst>
          </p:cNvPr>
          <p:cNvSpPr>
            <a:spLocks noGrp="1"/>
          </p:cNvSpPr>
          <p:nvPr/>
        </p:nvSpPr>
        <p:spPr>
          <a:xfrm>
            <a:off x="742950" y="4572000"/>
            <a:ext cx="10715625" cy="809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Repeat with a 0.5 kg tip payload. Explain whether slowing helps.</a:t>
            </a:r>
            <a:endParaRPr sz="225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71832C0-D83B-4F17-958C-520073A8E040}"/>
              </a:ext>
            </a:extLst>
          </p:cNvPr>
          <p:cNvSpPr>
            <a:spLocks noGrp="1"/>
          </p:cNvSpPr>
          <p:nvPr/>
        </p:nvSpPr>
        <p:spPr>
          <a:xfrm>
            <a:off x="742950" y="5857875"/>
            <a:ext cx="10477500" cy="333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6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lang="en-US" sz="16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12 minutes · Submit plots, peak values, and a feasibility conclusion</a:t>
            </a:r>
            <a:endParaRPr sz="1650" b="0">
              <a:solidFill>
                <a:srgbClr val="596A7B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7599287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AFCC1C5-866D-4759-BDE1-FF4CA53FFD13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Motion-time comparison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4C4E786-1A37-406E-A47F-285337C7FED4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graphicFrame>
        <p:nvGraphicFramePr>
          <p:cNvPr id="3" name="Chart">
            <a:extLst>
              <a:ext uri="{FF2B5EF4-FFF2-40B4-BE49-F238E27FC236}">
                <a16:creationId xmlns:a16="http://schemas.microsoft.com/office/drawing/2014/main" id="{5522E6B8-6850-48BB-A1CC-F862D788A470}"/>
              </a:ext>
            </a:extLst>
          </p:cNvPr>
          <p:cNvGraphicFramePr/>
          <p:nvPr/>
        </p:nvGraphicFramePr>
        <p:xfrm>
          <a:off x="666750" y="1666875"/>
          <a:ext cx="6667500" cy="3762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C82551AD-B806-44A9-B079-E2E7D60427DF}"/>
              </a:ext>
            </a:extLst>
          </p:cNvPr>
          <p:cNvSpPr>
            <a:spLocks noGrp="1"/>
          </p:cNvSpPr>
          <p:nvPr/>
        </p:nvSpPr>
        <p:spPr>
          <a:xfrm>
            <a:off x="7715250" y="1666875"/>
            <a:ext cx="3667125" cy="3619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02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At the same s:</a:t>
            </a:r>
          </a:p>
          <a:p>
            <a: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endParaRPr lang="en-US" sz="2025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  <a:p>
            <a: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02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Gravity term is unchanged.</a:t>
            </a:r>
          </a:p>
          <a:p>
            <a: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02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Friction term doubles.</a:t>
            </a:r>
          </a:p>
          <a:p>
            <a: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02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Inertial term quadruples.</a:t>
            </a:r>
          </a:p>
          <a:p>
            <a: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endParaRPr lang="en-US" sz="2025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  <a:p>
            <a: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02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 payload needs 9 N·m at the final hold.</a:t>
            </a:r>
            <a:endParaRPr sz="2025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4BE040-B6AC-4F25-B579-670FBDD8BD9A}"/>
              </a:ext>
            </a:extLst>
          </p:cNvPr>
          <p:cNvSpPr>
            <a:spLocks noGrp="1"/>
          </p:cNvSpPr>
          <p:nvPr/>
        </p:nvSpPr>
        <p:spPr>
          <a:xfrm>
            <a:off x="742950" y="5905500"/>
            <a:ext cx="10477500" cy="333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725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725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No payload · Both motions reach the same final pose</a:t>
            </a:r>
          </a:p>
        </p:txBody>
      </p:sp>
    </p:spTree>
    <p:extLst>
      <p:ext uri="{BB962C8B-B14F-4D97-AF65-F5344CB8AC3E}">
        <p14:creationId xmlns:p14="http://schemas.microsoft.com/office/powerpoint/2010/main" val="21270778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E42669E-5342-4690-9963-13B37EDF4D5C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Next: Chapter 7 trajectory generation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951DC9B-D3C8-403C-A470-792EC08E3D7B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B4522E5-731C-4701-B43A-8D729D026077}"/>
              </a:ext>
            </a:extLst>
          </p:cNvPr>
          <p:cNvSpPr>
            <a:spLocks noGrp="1"/>
          </p:cNvSpPr>
          <p:nvPr/>
        </p:nvSpPr>
        <p:spPr>
          <a:xfrm>
            <a:off x="742950" y="1714500"/>
            <a:ext cx="10715625" cy="809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Kinematics selects the joint configuration.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A2BBE15-0893-4C5F-95C0-BD781EAD8E2F}"/>
              </a:ext>
            </a:extLst>
          </p:cNvPr>
          <p:cNvSpPr>
            <a:spLocks noGrp="1"/>
          </p:cNvSpPr>
          <p:nvPr/>
        </p:nvSpPr>
        <p:spPr>
          <a:xfrm>
            <a:off x="742950" y="2667000"/>
            <a:ext cx="10715625" cy="809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Trajectory generation specifies how that configuration changes over time.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04058BB-B230-4820-A63D-06F468C24B33}"/>
              </a:ext>
            </a:extLst>
          </p:cNvPr>
          <p:cNvSpPr>
            <a:spLocks noGrp="1"/>
          </p:cNvSpPr>
          <p:nvPr/>
        </p:nvSpPr>
        <p:spPr>
          <a:xfrm>
            <a:off x="742950" y="3619500"/>
            <a:ext cx="10715625" cy="809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Dynamics checks the torque required for that motion.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EBD917C-5797-42B6-BEAF-D35C8D64A556}"/>
              </a:ext>
            </a:extLst>
          </p:cNvPr>
          <p:cNvSpPr>
            <a:spLocks noGrp="1"/>
          </p:cNvSpPr>
          <p:nvPr/>
        </p:nvSpPr>
        <p:spPr>
          <a:xfrm>
            <a:off x="742950" y="4572000"/>
            <a:ext cx="10715625" cy="809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Feedback control helps the real robot follow the desired trajectory.</a:t>
            </a:r>
          </a:p>
        </p:txBody>
      </p:sp>
    </p:spTree>
    <p:extLst>
      <p:ext uri="{BB962C8B-B14F-4D97-AF65-F5344CB8AC3E}">
        <p14:creationId xmlns:p14="http://schemas.microsoft.com/office/powerpoint/2010/main" val="130129964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2468</Words>
  <Application>Microsoft Office PowerPoint</Application>
  <DocSecurity>0</DocSecurity>
  <PresentationFormat>Widescreen</PresentationFormat>
  <Paragraphs>185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Aptos</vt:lpstr>
      <vt:lpstr>Cambria Math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Hoan Ngo</cp:lastModifiedBy>
  <cp:revision>5</cp:revision>
  <dcterms:created xsi:type="dcterms:W3CDTF">2026-10-14T01:12:54Z</dcterms:created>
  <dcterms:modified xsi:type="dcterms:W3CDTF">2026-10-14T11:21:46Z</dcterms:modified>
</cp:coreProperties>
</file>