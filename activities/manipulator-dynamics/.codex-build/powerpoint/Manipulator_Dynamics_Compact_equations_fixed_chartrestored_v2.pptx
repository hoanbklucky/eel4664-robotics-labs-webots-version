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2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No payload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</c:v>
                </c:pt>
                <c:pt idx="2">
                  <c:v>2.05212086</c:v>
                </c:pt>
                <c:pt idx="3">
                  <c:v>3</c:v>
                </c:pt>
                <c:pt idx="4">
                  <c:v>3.85672566</c:v>
                </c:pt>
                <c:pt idx="5">
                  <c:v>4.59626666</c:v>
                </c:pt>
                <c:pt idx="6">
                  <c:v>5.19615242</c:v>
                </c:pt>
                <c:pt idx="7">
                  <c:v>5.63815572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</c:v>
                </c:pt>
                <c:pt idx="12">
                  <c:v>5.19615242</c:v>
                </c:pt>
                <c:pt idx="13">
                  <c:v>4.59626666</c:v>
                </c:pt>
                <c:pt idx="14">
                  <c:v>3.85672566</c:v>
                </c:pt>
                <c:pt idx="15">
                  <c:v>3</c:v>
                </c:pt>
                <c:pt idx="16">
                  <c:v>2.05212086</c:v>
                </c:pt>
                <c:pt idx="17">
                  <c:v>1.04188907</c:v>
                </c:pt>
                <c:pt idx="18">
                  <c:v>0</c:v>
                </c:pt>
              </c:numCache>
            </c:numRef>
          </c:yVal>
        </c:ser>
        <c:ser>
          <c:idx val="1"/>
          <c:order val="1"/>
          <c:tx>
            <c:v>0.5 kg payload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3.07818129</c:v>
                </c:pt>
                <c:pt idx="3">
                  <c:v>4.5</c:v>
                </c:pt>
                <c:pt idx="4">
                  <c:v>5.78508849</c:v>
                </c:pt>
                <c:pt idx="5">
                  <c:v>6.89439999</c:v>
                </c:pt>
                <c:pt idx="6">
                  <c:v>7.79422863</c:v>
                </c:pt>
                <c:pt idx="7">
                  <c:v>8.45723359</c:v>
                </c:pt>
                <c:pt idx="8">
                  <c:v>8.86326978</c:v>
                </c:pt>
                <c:pt idx="9">
                  <c:v>9</c:v>
                </c:pt>
                <c:pt idx="10">
                  <c:v>8.86326978</c:v>
                </c:pt>
                <c:pt idx="11">
                  <c:v>8.45723359</c:v>
                </c:pt>
                <c:pt idx="12">
                  <c:v>7.79422863</c:v>
                </c:pt>
                <c:pt idx="13">
                  <c:v>6.89439999</c:v>
                </c:pt>
                <c:pt idx="14">
                  <c:v>5.78508849</c:v>
                </c:pt>
                <c:pt idx="15">
                  <c:v>4.5</c:v>
                </c:pt>
                <c:pt idx="16">
                  <c:v>3.07818129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Holding torque (N 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Angle from downward vertical (deg)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2 s motion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</c:v>
                </c:pt>
                <c:pt idx="1">
                  <c:v>0.5660757</c:v>
                </c:pt>
                <c:pt idx="2">
                  <c:v>0.59965002</c:v>
                </c:pt>
                <c:pt idx="3">
                  <c:v>0.66443088</c:v>
                </c:pt>
                <c:pt idx="4">
                  <c:v>0.75860955</c:v>
                </c:pt>
                <c:pt idx="5">
                  <c:v>0.88032028</c:v>
                </c:pt>
                <c:pt idx="6">
                  <c:v>1.02761033</c:v>
                </c:pt>
                <c:pt idx="7">
                  <c:v>1.19841108</c:v>
                </c:pt>
                <c:pt idx="8">
                  <c:v>1.39051322</c:v>
                </c:pt>
                <c:pt idx="9">
                  <c:v>1.60154875</c:v>
                </c:pt>
                <c:pt idx="10">
                  <c:v>1.82898171</c:v>
                </c:pt>
                <c:pt idx="11">
                  <c:v>2.07010899</c:v>
                </c:pt>
                <c:pt idx="12">
                  <c:v>2.32207211</c:v>
                </c:pt>
                <c:pt idx="13">
                  <c:v>2.58188001</c:v>
                </c:pt>
                <c:pt idx="14">
                  <c:v>2.84644257</c:v>
                </c:pt>
                <c:pt idx="15">
                  <c:v>3.11261367</c:v>
                </c:pt>
                <c:pt idx="16">
                  <c:v>3.37724245</c:v>
                </c:pt>
                <c:pt idx="17">
                  <c:v>3.63723071</c:v>
                </c:pt>
                <c:pt idx="18">
                  <c:v>3.88959406</c:v>
                </c:pt>
                <c:pt idx="19">
                  <c:v>4.13152432</c:v>
                </c:pt>
                <c:pt idx="20">
                  <c:v>4.36045041</c:v>
                </c:pt>
                <c:pt idx="21">
                  <c:v>4.57409518</c:v>
                </c:pt>
                <c:pt idx="22">
                  <c:v>4.77052548</c:v>
                </c:pt>
                <c:pt idx="23">
                  <c:v>4.9481934</c:v>
                </c:pt>
                <c:pt idx="24">
                  <c:v>5.10596689</c:v>
                </c:pt>
                <c:pt idx="25">
                  <c:v>5.24314831</c:v>
                </c:pt>
                <c:pt idx="26">
                  <c:v>5.35948013</c:v>
                </c:pt>
                <c:pt idx="27">
                  <c:v>5.45513763</c:v>
                </c:pt>
                <c:pt idx="28">
                  <c:v>5.53070871</c:v>
                </c:pt>
                <c:pt idx="29">
                  <c:v>5.58716159</c:v>
                </c:pt>
                <c:pt idx="30">
                  <c:v>5.62580147</c:v>
                </c:pt>
                <c:pt idx="31">
                  <c:v>5.64821757</c:v>
                </c:pt>
                <c:pt idx="32">
                  <c:v>5.65622188</c:v>
                </c:pt>
                <c:pt idx="33">
                  <c:v>5.65178136</c:v>
                </c:pt>
                <c:pt idx="34">
                  <c:v>5.63694472</c:v>
                </c:pt>
                <c:pt idx="35">
                  <c:v>5.61376515</c:v>
                </c:pt>
                <c:pt idx="36">
                  <c:v>5.58421977</c:v>
                </c:pt>
                <c:pt idx="37">
                  <c:v>5.55012625</c:v>
                </c:pt>
                <c:pt idx="38">
                  <c:v>5.51305676</c:v>
                </c:pt>
                <c:pt idx="39">
                  <c:v>5.47424894</c:v>
                </c:pt>
                <c:pt idx="40">
                  <c:v>5.43451332</c:v>
                </c:pt>
              </c:numCache>
            </c:numRef>
          </c:yVal>
        </c:ser>
        <c:ser>
          <c:idx val="1"/>
          <c:order val="1"/>
          <c:tx>
            <c:v>1 s motion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</c:v>
                </c:pt>
                <c:pt idx="1">
                  <c:v>2.18919918</c:v>
                </c:pt>
                <c:pt idx="2">
                  <c:v>2.1488479</c:v>
                </c:pt>
                <c:pt idx="3">
                  <c:v>2.1391141</c:v>
                </c:pt>
                <c:pt idx="4">
                  <c:v>2.15818908</c:v>
                </c:pt>
                <c:pt idx="5">
                  <c:v>2.20420706</c:v>
                </c:pt>
                <c:pt idx="6">
                  <c:v>2.27521532</c:v>
                </c:pt>
                <c:pt idx="7">
                  <c:v>2.36914522</c:v>
                </c:pt>
                <c:pt idx="8">
                  <c:v>2.48378746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</c:v>
                </c:pt>
                <c:pt idx="12">
                  <c:v>3.09961629</c:v>
                </c:pt>
                <c:pt idx="13">
                  <c:v>3.27901906</c:v>
                </c:pt>
                <c:pt idx="14">
                  <c:v>3.46258743</c:v>
                </c:pt>
                <c:pt idx="15">
                  <c:v>3.64717529</c:v>
                </c:pt>
                <c:pt idx="16">
                  <c:v>3.82963179</c:v>
                </c:pt>
                <c:pt idx="17">
                  <c:v>4.00685872</c:v>
                </c:pt>
                <c:pt idx="18">
                  <c:v>4.17587169</c:v>
                </c:pt>
                <c:pt idx="19">
                  <c:v>4.33386252</c:v>
                </c:pt>
                <c:pt idx="20">
                  <c:v>4.47826014</c:v>
                </c:pt>
                <c:pt idx="21">
                  <c:v>4.60678738</c:v>
                </c:pt>
                <c:pt idx="22">
                  <c:v>4.7175111</c:v>
                </c:pt>
                <c:pt idx="23">
                  <c:v>4.8088834</c:v>
                </c:pt>
                <c:pt idx="24">
                  <c:v>4.87977222</c:v>
                </c:pt>
                <c:pt idx="25">
                  <c:v>4.92947991</c:v>
                </c:pt>
                <c:pt idx="26">
                  <c:v>4.95774897</c:v>
                </c:pt>
                <c:pt idx="27">
                  <c:v>4.96475465</c:v>
                </c:pt>
                <c:pt idx="28">
                  <c:v>4.95108487</c:v>
                </c:pt>
                <c:pt idx="29">
                  <c:v>4.91770783</c:v>
                </c:pt>
                <c:pt idx="30">
                  <c:v>4.86592875</c:v>
                </c:pt>
                <c:pt idx="31">
                  <c:v>4.79733683</c:v>
                </c:pt>
                <c:pt idx="32">
                  <c:v>4.71374409</c:v>
                </c:pt>
                <c:pt idx="33">
                  <c:v>4.61711745</c:v>
                </c:pt>
                <c:pt idx="34">
                  <c:v>4.50950565</c:v>
                </c:pt>
                <c:pt idx="35">
                  <c:v>4.39296188</c:v>
                </c:pt>
                <c:pt idx="36">
                  <c:v>4.26946324</c:v>
                </c:pt>
                <c:pt idx="37">
                  <c:v>4.14082742</c:v>
                </c:pt>
                <c:pt idx="38">
                  <c:v>4.00862658</c:v>
                </c:pt>
                <c:pt idx="39">
                  <c:v>3.87409836</c:v>
                </c:pt>
                <c:pt idx="40">
                  <c:v>3.73805329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Required torque (N 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Normalized time s = t/Tf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θ and τ: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        L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 = L/2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L/2.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I_COM = mL²/12. About the joint, I_joint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Graphic 8" descr="I equals one third m L squared, evaluated as 0.24 kilogram meter squared">
            <a:extLst>
              <a:ext uri="{FF2B5EF4-FFF2-40B4-BE49-F238E27FC236}">
                <a16:creationId xmlns:a16="http://schemas.microsoft.com/office/drawing/2014/main" id="{A6396BFE-7B9D-4A1B-0DDF-FB2A5510C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420472"/>
            <a:ext cx="18546274" cy="168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0758-D81B-4FFF-BAC1-64D87ABE4E9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Iθ̈: acceleration torque       bθ̇: viscous-friction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mgr_c sin θ: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I = 0.24 kg·m² and b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τ = mgr_c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Graphic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7953D723-4625-1380-17FD-5FE93BF60A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572964"/>
            <a:ext cx="10412200" cy="137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kg, r꜀ = 0.3 m, g = 10 m/s².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θ = 30°, θ̇ = 0, θ̈ = 0, what holding torque is required?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Graphic 7" descr="Holding torque calculation equals 3 newton meters">
            <a:extLst>
              <a:ext uri="{FF2B5EF4-FFF2-40B4-BE49-F238E27FC236}">
                <a16:creationId xmlns:a16="http://schemas.microsoft.com/office/drawing/2014/main" id="{077832EE-E306-83FA-8680-DD85531DA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390240"/>
            <a:ext cx="20713193" cy="174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mgr_c + m_p gL.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m_p = 0.5 kg: I_new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 = 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I_new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θ̈ + 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θ̇ + (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mgr_c + m_p gL) sin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τ_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hold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τ_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hold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Graphic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BC63BE51-BB57-712B-1CEB-7AD872861A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399497"/>
            <a:ext cx="8507910" cy="172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ℒ = T − V.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Δ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h = r_c</a:t>
            </a:r>
            <a:endParaRPr sz="19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r_c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Graphic 25" descr="Kinetic and potential energy equations">
            <a:extLst>
              <a:ext uri="{FF2B5EF4-FFF2-40B4-BE49-F238E27FC236}">
                <a16:creationId xmlns:a16="http://schemas.microsoft.com/office/drawing/2014/main" id="{780FD3C1-1D79-8137-D6AA-FEA0DF8E04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881692"/>
            <a:ext cx="6815843" cy="76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Graphic 8" descr="Euler Lagrange torque equation with viscous friction">
            <a:extLst>
              <a:ext uri="{FF2B5EF4-FFF2-40B4-BE49-F238E27FC236}">
                <a16:creationId xmlns:a16="http://schemas.microsoft.com/office/drawing/2014/main" id="{4A72DC3F-8F82-8547-60C8-6A3A8E9335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773989"/>
            <a:ext cx="3783093" cy="690646"/>
          </a:xfrm>
          <a:prstGeom prst="rect">
            <a:avLst/>
          </a:prstGeom>
        </p:spPr>
      </p:pic>
      <p:pic>
        <p:nvPicPr>
          <p:cNvPr id="11" name="Graphic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B118E7F6-E8EB-ED2D-A6EB-1A3CD78D8E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50" y="3202739"/>
            <a:ext cx="4195420" cy="690646"/>
          </a:xfrm>
          <a:prstGeom prst="rect">
            <a:avLst/>
          </a:prstGeom>
        </p:spPr>
      </p:pic>
      <p:pic>
        <p:nvPicPr>
          <p:cNvPr id="13" name="Graphic 12" descr="Partial derivative of the Lagrangian with respect to angle">
            <a:extLst>
              <a:ext uri="{FF2B5EF4-FFF2-40B4-BE49-F238E27FC236}">
                <a16:creationId xmlns:a16="http://schemas.microsoft.com/office/drawing/2014/main" id="{AA670B3E-67F1-E9B6-F18E-A916A972FD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950" y="4087407"/>
            <a:ext cx="4411902" cy="826310"/>
          </a:xfrm>
          <a:prstGeom prst="rect">
            <a:avLst/>
          </a:prstGeom>
        </p:spPr>
      </p:pic>
      <p:pic>
        <p:nvPicPr>
          <p:cNvPr id="15" name="Graphic 14" descr="Resulting one-link torque equation">
            <a:extLst>
              <a:ext uri="{FF2B5EF4-FFF2-40B4-BE49-F238E27FC236}">
                <a16:creationId xmlns:a16="http://schemas.microsoft.com/office/drawing/2014/main" id="{ABBE9E3B-279C-95A6-9C0F-EE5A883B5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950" y="5039909"/>
            <a:ext cx="6241581" cy="82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Graphic 8" descr="Angular acceleration from forward dynamics">
            <a:extLst>
              <a:ext uri="{FF2B5EF4-FFF2-40B4-BE49-F238E27FC236}">
                <a16:creationId xmlns:a16="http://schemas.microsoft.com/office/drawing/2014/main" id="{B3ED24AA-DB0B-60F3-5222-6D350916DE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537027"/>
            <a:ext cx="6578985" cy="145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 = 0.24 kg·m², mgr꜀ = 6 N·m.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Release at θ = 30° with θ̇ = 0 and τ = 0. What is the initial acceleration?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θ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Graphic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E86F8DF8-CA36-3FAC-F750-512D61D8D8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428254"/>
            <a:ext cx="13704305" cy="166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θ₀ = 0 to θ_f = π/2,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Graphic 8" descr="Cubic rest-to-rest joint trajectory">
            <a:extLst>
              <a:ext uri="{FF2B5EF4-FFF2-40B4-BE49-F238E27FC236}">
                <a16:creationId xmlns:a16="http://schemas.microsoft.com/office/drawing/2014/main" id="{0C816E24-A9D0-9F15-CCD1-D99C7DA673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515381"/>
            <a:ext cx="14958415" cy="1493613"/>
          </a:xfrm>
          <a:prstGeom prst="rect">
            <a:avLst/>
          </a:prstGeom>
        </p:spPr>
      </p:pic>
      <p:pic>
        <p:nvPicPr>
          <p:cNvPr id="11" name="Graphic 10" descr="Joint velocity for the cubic trajectory">
            <a:extLst>
              <a:ext uri="{FF2B5EF4-FFF2-40B4-BE49-F238E27FC236}">
                <a16:creationId xmlns:a16="http://schemas.microsoft.com/office/drawing/2014/main" id="{804831CE-B8B6-823B-8136-ED3373F0B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50" y="3235541"/>
            <a:ext cx="2664549" cy="529793"/>
          </a:xfrm>
          <a:prstGeom prst="rect">
            <a:avLst/>
          </a:prstGeom>
        </p:spPr>
      </p:pic>
      <p:pic>
        <p:nvPicPr>
          <p:cNvPr id="13" name="Graphic 12" descr="Joint acceleration for the cubic trajectory">
            <a:extLst>
              <a:ext uri="{FF2B5EF4-FFF2-40B4-BE49-F238E27FC236}">
                <a16:creationId xmlns:a16="http://schemas.microsoft.com/office/drawing/2014/main" id="{1EC6DE49-F9EA-D518-0F0F-CDFA7F5831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950" y="4135305"/>
            <a:ext cx="1795531" cy="44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1/T_f, and acceleration as 1/T_f².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Graphic 7" descr="Peak velocity doubles and peak acceleration quadruples">
            <a:extLst>
              <a:ext uri="{FF2B5EF4-FFF2-40B4-BE49-F238E27FC236}">
                <a16:creationId xmlns:a16="http://schemas.microsoft.com/office/drawing/2014/main" id="{58371796-8BF0-04D8-ED00-6BD2DBEB7E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1677800"/>
            <a:ext cx="15861940" cy="116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0E1371-07B4-4C60-AB50-9E0EC5A827F2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peak |θ̇|, |θ̈|, inertial torque and total torque.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 m at the final hold.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2501</Words>
  <Application>Microsoft Office PowerPoint</Application>
  <DocSecurity>0</DocSecurity>
  <PresentationFormat>Widescreen</PresentationFormat>
  <Paragraphs>185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1</cp:revision>
  <dcterms:created xsi:type="dcterms:W3CDTF">2026-10-14T01:12:54Z</dcterms:created>
  <dcterms:modified xsi:type="dcterms:W3CDTF">2026-10-14T02:44:25Z</dcterms:modified>
</cp:coreProperties>
</file>