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No payload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1.0418890700000001</c:v>
                </c:pt>
                <c:pt idx="2">
                  <c:v>2.05212086</c:v>
                </c:pt>
                <c:pt idx="3">
                  <c:v>3</c:v>
                </c:pt>
                <c:pt idx="4">
                  <c:v>3.8567256599999999</c:v>
                </c:pt>
                <c:pt idx="5">
                  <c:v>4.5962666600000004</c:v>
                </c:pt>
                <c:pt idx="6">
                  <c:v>5.1961524199999998</c:v>
                </c:pt>
                <c:pt idx="7">
                  <c:v>5.6381557200000003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5.6381557200000003</c:v>
                </c:pt>
                <c:pt idx="12">
                  <c:v>5.1961524199999998</c:v>
                </c:pt>
                <c:pt idx="13">
                  <c:v>4.5962666600000004</c:v>
                </c:pt>
                <c:pt idx="14">
                  <c:v>3.8567256599999999</c:v>
                </c:pt>
                <c:pt idx="15">
                  <c:v>3</c:v>
                </c:pt>
                <c:pt idx="16">
                  <c:v>2.05212086</c:v>
                </c:pt>
                <c:pt idx="17">
                  <c:v>1.0418890700000001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EF0-4BD4-9DA3-857CF0C6B453}"/>
            </c:ext>
          </c:extLst>
        </c:ser>
        <c:ser>
          <c:idx val="1"/>
          <c:order val="1"/>
          <c:tx>
            <c:v>0.5 kg payload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3.0781812899999998</c:v>
                </c:pt>
                <c:pt idx="3">
                  <c:v>4.5</c:v>
                </c:pt>
                <c:pt idx="4">
                  <c:v>5.7850884899999997</c:v>
                </c:pt>
                <c:pt idx="5">
                  <c:v>6.8943999900000001</c:v>
                </c:pt>
                <c:pt idx="6">
                  <c:v>7.7942286300000001</c:v>
                </c:pt>
                <c:pt idx="7">
                  <c:v>8.4572335899999995</c:v>
                </c:pt>
                <c:pt idx="8">
                  <c:v>8.8632697799999995</c:v>
                </c:pt>
                <c:pt idx="9">
                  <c:v>9</c:v>
                </c:pt>
                <c:pt idx="10">
                  <c:v>8.8632697799999995</c:v>
                </c:pt>
                <c:pt idx="11">
                  <c:v>8.4572335899999995</c:v>
                </c:pt>
                <c:pt idx="12">
                  <c:v>7.7942286300000001</c:v>
                </c:pt>
                <c:pt idx="13">
                  <c:v>6.8943999900000001</c:v>
                </c:pt>
                <c:pt idx="14">
                  <c:v>5.7850884899999997</c:v>
                </c:pt>
                <c:pt idx="15">
                  <c:v>4.5</c:v>
                </c:pt>
                <c:pt idx="16">
                  <c:v>3.0781812899999998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EF0-4BD4-9DA3-857CF0C6B4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Holding torque (N·m)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Angle from downward vertical (deg)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2 s motion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0.56548668000000002</c:v>
                </c:pt>
                <c:pt idx="1">
                  <c:v>0.56607569999999996</c:v>
                </c:pt>
                <c:pt idx="2">
                  <c:v>0.59965002000000001</c:v>
                </c:pt>
                <c:pt idx="3">
                  <c:v>0.66443087999999995</c:v>
                </c:pt>
                <c:pt idx="4">
                  <c:v>0.75860954999999997</c:v>
                </c:pt>
                <c:pt idx="5">
                  <c:v>0.88032027999999996</c:v>
                </c:pt>
                <c:pt idx="6">
                  <c:v>1.0276103299999999</c:v>
                </c:pt>
                <c:pt idx="7">
                  <c:v>1.1984110800000001</c:v>
                </c:pt>
                <c:pt idx="8">
                  <c:v>1.3905132200000001</c:v>
                </c:pt>
                <c:pt idx="9">
                  <c:v>1.6015487500000001</c:v>
                </c:pt>
                <c:pt idx="10">
                  <c:v>1.8289817100000001</c:v>
                </c:pt>
                <c:pt idx="11">
                  <c:v>2.07010899</c:v>
                </c:pt>
                <c:pt idx="12">
                  <c:v>2.3220721100000001</c:v>
                </c:pt>
                <c:pt idx="13">
                  <c:v>2.5818800099999999</c:v>
                </c:pt>
                <c:pt idx="14">
                  <c:v>2.8464425699999998</c:v>
                </c:pt>
                <c:pt idx="15">
                  <c:v>3.11261367</c:v>
                </c:pt>
                <c:pt idx="16">
                  <c:v>3.3772424499999998</c:v>
                </c:pt>
                <c:pt idx="17">
                  <c:v>3.6372307099999999</c:v>
                </c:pt>
                <c:pt idx="18">
                  <c:v>3.8895940599999999</c:v>
                </c:pt>
                <c:pt idx="19">
                  <c:v>4.1315243199999996</c:v>
                </c:pt>
                <c:pt idx="20">
                  <c:v>4.3604504100000003</c:v>
                </c:pt>
                <c:pt idx="21">
                  <c:v>4.5740951799999996</c:v>
                </c:pt>
                <c:pt idx="22">
                  <c:v>4.7705254799999999</c:v>
                </c:pt>
                <c:pt idx="23">
                  <c:v>4.9481934000000001</c:v>
                </c:pt>
                <c:pt idx="24">
                  <c:v>5.1059668900000004</c:v>
                </c:pt>
                <c:pt idx="25">
                  <c:v>5.2431483099999996</c:v>
                </c:pt>
                <c:pt idx="26">
                  <c:v>5.3594801299999997</c:v>
                </c:pt>
                <c:pt idx="27">
                  <c:v>5.4551376300000003</c:v>
                </c:pt>
                <c:pt idx="28">
                  <c:v>5.5307087099999999</c:v>
                </c:pt>
                <c:pt idx="29">
                  <c:v>5.58716159</c:v>
                </c:pt>
                <c:pt idx="30">
                  <c:v>5.6258014699999999</c:v>
                </c:pt>
                <c:pt idx="31">
                  <c:v>5.6482175699999999</c:v>
                </c:pt>
                <c:pt idx="32">
                  <c:v>5.6562218800000004</c:v>
                </c:pt>
                <c:pt idx="33">
                  <c:v>5.6517813600000002</c:v>
                </c:pt>
                <c:pt idx="34">
                  <c:v>5.6369447199999998</c:v>
                </c:pt>
                <c:pt idx="35">
                  <c:v>5.6137651499999999</c:v>
                </c:pt>
                <c:pt idx="36">
                  <c:v>5.5842197699999998</c:v>
                </c:pt>
                <c:pt idx="37">
                  <c:v>5.5501262499999999</c:v>
                </c:pt>
                <c:pt idx="38">
                  <c:v>5.5130567599999996</c:v>
                </c:pt>
                <c:pt idx="39">
                  <c:v>5.4742489399999998</c:v>
                </c:pt>
                <c:pt idx="40">
                  <c:v>5.4345133199999998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357-43A8-92A2-17BABCD257E1}"/>
            </c:ext>
          </c:extLst>
        </c:ser>
        <c:ser>
          <c:idx val="1"/>
          <c:order val="1"/>
          <c:tx>
            <c:v>1 s motion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2.2619467100000001</c:v>
                </c:pt>
                <c:pt idx="1">
                  <c:v>2.1891991800000001</c:v>
                </c:pt>
                <c:pt idx="2">
                  <c:v>2.1488478999999998</c:v>
                </c:pt>
                <c:pt idx="3">
                  <c:v>2.1391141</c:v>
                </c:pt>
                <c:pt idx="4">
                  <c:v>2.1581890800000001</c:v>
                </c:pt>
                <c:pt idx="5">
                  <c:v>2.2042070599999999</c:v>
                </c:pt>
                <c:pt idx="6">
                  <c:v>2.27521532</c:v>
                </c:pt>
                <c:pt idx="7">
                  <c:v>2.3691452200000001</c:v>
                </c:pt>
                <c:pt idx="8">
                  <c:v>2.4837874599999998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2.9274692600000001</c:v>
                </c:pt>
                <c:pt idx="12">
                  <c:v>3.0996162900000002</c:v>
                </c:pt>
                <c:pt idx="13">
                  <c:v>3.27901906</c:v>
                </c:pt>
                <c:pt idx="14">
                  <c:v>3.4625874300000001</c:v>
                </c:pt>
                <c:pt idx="15">
                  <c:v>3.6471752899999998</c:v>
                </c:pt>
                <c:pt idx="16">
                  <c:v>3.8296317900000001</c:v>
                </c:pt>
                <c:pt idx="17">
                  <c:v>4.0068587200000003</c:v>
                </c:pt>
                <c:pt idx="18">
                  <c:v>4.1758716900000001</c:v>
                </c:pt>
                <c:pt idx="19">
                  <c:v>4.3338625200000003</c:v>
                </c:pt>
                <c:pt idx="20">
                  <c:v>4.4782601399999997</c:v>
                </c:pt>
                <c:pt idx="21">
                  <c:v>4.6067873800000001</c:v>
                </c:pt>
                <c:pt idx="22">
                  <c:v>4.7175111000000003</c:v>
                </c:pt>
                <c:pt idx="23">
                  <c:v>4.8088834</c:v>
                </c:pt>
                <c:pt idx="24">
                  <c:v>4.8797722200000004</c:v>
                </c:pt>
                <c:pt idx="25">
                  <c:v>4.9294799100000004</c:v>
                </c:pt>
                <c:pt idx="26">
                  <c:v>4.9577489699999999</c:v>
                </c:pt>
                <c:pt idx="27">
                  <c:v>4.9647546499999997</c:v>
                </c:pt>
                <c:pt idx="28">
                  <c:v>4.9510848699999999</c:v>
                </c:pt>
                <c:pt idx="29">
                  <c:v>4.9177078300000003</c:v>
                </c:pt>
                <c:pt idx="30">
                  <c:v>4.8659287500000001</c:v>
                </c:pt>
                <c:pt idx="31">
                  <c:v>4.7973368299999999</c:v>
                </c:pt>
                <c:pt idx="32">
                  <c:v>4.7137440899999996</c:v>
                </c:pt>
                <c:pt idx="33">
                  <c:v>4.6171174500000003</c:v>
                </c:pt>
                <c:pt idx="34">
                  <c:v>4.5095056500000004</c:v>
                </c:pt>
                <c:pt idx="35">
                  <c:v>4.3929618799999997</c:v>
                </c:pt>
                <c:pt idx="36">
                  <c:v>4.2694632400000003</c:v>
                </c:pt>
                <c:pt idx="37">
                  <c:v>4.1408274199999999</c:v>
                </c:pt>
                <c:pt idx="38">
                  <c:v>4.0086265799999996</c:v>
                </c:pt>
                <c:pt idx="39">
                  <c:v>3.8740983600000001</c:v>
                </c:pt>
                <c:pt idx="40">
                  <c:v>3.7380532899999999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357-43A8-92A2-17BABCD257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Required torque (N·m)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Normalized time </a:t>
                </a:r>
                <a:r>
                  <a:rPr i="1">
                    <a:latin typeface="Cambria Math"/>
                  </a:rPr>
                  <a:t>s = t/T</a:t>
                </a:r>
                <a:r>
                  <a:rPr i="1" baseline="-25000">
                    <a:latin typeface="Cambria Math"/>
                  </a:rPr>
                  <a:t>f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and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       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172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mL²/12. About the joint,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joint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Picture 8" descr="I equals one third m L squared, evaluated as 0.24 kilogram meter squared">
            <a:extLst>
              <a:ext uri="{FF2B5EF4-FFF2-40B4-BE49-F238E27FC236}">
                <a16:creationId xmlns:a16="http://schemas.microsoft.com/office/drawing/2014/main" id="{189C2172-CEFE-8573-C5D2-2083333E4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74155"/>
            <a:ext cx="10715625" cy="9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0758-D81B-4FFF-BAC1-64D87ABE4E9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fr-F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fr-FR" sz="2100" b="0" i="1">
                <a:solidFill>
                  <a:srgbClr val="25364A"/>
                </a:solidFill>
                <a:latin typeface="Times New Roman" panose="02020603050405020304" pitchFamily="18" charset="0"/>
                <a:ea typeface="Aptos"/>
                <a:cs typeface="Aptos"/>
              </a:rPr>
              <a:t>θ̈</a:t>
            </a: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acceleration torque       </a:t>
            </a:r>
            <a:r>
              <a:rPr lang="fr-F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fr-FR" sz="2100" b="0" i="1">
                <a:solidFill>
                  <a:srgbClr val="25364A"/>
                </a:solidFill>
                <a:latin typeface="Times New Roman" panose="02020603050405020304" pitchFamily="18" charset="0"/>
                <a:ea typeface="Aptos"/>
                <a:cs typeface="Aptos"/>
              </a:rPr>
              <a:t>θ̇</a:t>
            </a: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viscous-friction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s-E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sin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 and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</a:t>
            </a:r>
            <a:r>
              <a:rPr sz="1875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Picture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FCF950A7-9514-2EB2-DD63-FE31FEB5B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26159"/>
            <a:ext cx="9602218" cy="127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0.3 m,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30°, </a:t>
            </a:r>
            <a:r>
              <a:rPr lang="en-US" sz="2175" b="0" i="1">
                <a:solidFill>
                  <a:srgbClr val="25364A"/>
                </a:solidFill>
                <a:latin typeface="Times New Roman" panose="02020603050405020304" pitchFamily="18" charset="0"/>
                <a:ea typeface="Aptos"/>
                <a:cs typeface="Aptos"/>
              </a:rPr>
              <a:t>θ̇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0, </a:t>
            </a:r>
            <a:r>
              <a:rPr lang="en-US" sz="2175" b="0" i="1">
                <a:solidFill>
                  <a:srgbClr val="25364A"/>
                </a:solidFill>
                <a:latin typeface="Times New Roman" panose="02020603050405020304" pitchFamily="18" charset="0"/>
                <a:ea typeface="Aptos"/>
                <a:cs typeface="Aptos"/>
              </a:rPr>
              <a:t>θ̈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0, what holding torque is required?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Picture 7" descr="Holding torque calculation equals 3 newton meters">
            <a:extLst>
              <a:ext uri="{FF2B5EF4-FFF2-40B4-BE49-F238E27FC236}">
                <a16:creationId xmlns:a16="http://schemas.microsoft.com/office/drawing/2014/main" id="{69CC23F9-C2DC-0671-D476-5E1D4FA2D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11282"/>
            <a:ext cx="10715625" cy="90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gL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0.5 kg: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new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 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new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l-GR" sz="2100" b="0" i="1">
                <a:solidFill>
                  <a:srgbClr val="25364A"/>
                </a:solidFill>
                <a:latin typeface="Times New Roman" panose="02020603050405020304" pitchFamily="18" charset="0"/>
                <a:ea typeface="Aptos"/>
                <a:cs typeface="Aptos"/>
              </a:rPr>
              <a:t>θ̈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el-GR" sz="2100" b="0" i="1">
                <a:solidFill>
                  <a:srgbClr val="25364A"/>
                </a:solidFill>
                <a:latin typeface="Times New Roman" panose="02020603050405020304" pitchFamily="18" charset="0"/>
                <a:ea typeface="Aptos"/>
                <a:cs typeface="Aptos"/>
              </a:rPr>
              <a:t>θ̇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(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gL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) </a:t>
            </a:r>
            <a:r>
              <a:rPr lang="en-US" sz="2100" b="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sin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Picture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0DDDCE8A-BC84-8473-434B-8242FFC20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76190"/>
            <a:ext cx="7807574" cy="157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ℒ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−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V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Δ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h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950" b="1" i="1" baseline="-25000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endParaRPr sz="1950" b="1" i="1" baseline="-25000">
              <a:solidFill>
                <a:srgbClr val="17324D"/>
              </a:solidFill>
              <a:latin typeface="Cambria Math" panose="02040503050406030204" pitchFamily="18" charset="0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596A7B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Picture 25" descr="Kinetic and potential energy equations">
            <a:extLst>
              <a:ext uri="{FF2B5EF4-FFF2-40B4-BE49-F238E27FC236}">
                <a16:creationId xmlns:a16="http://schemas.microsoft.com/office/drawing/2014/main" id="{4A23D7D2-6268-B2D6-82C9-8855BFFC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904133"/>
            <a:ext cx="6371369" cy="7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Picture 8" descr="Euler Lagrange torque equation with viscous friction">
            <a:extLst>
              <a:ext uri="{FF2B5EF4-FFF2-40B4-BE49-F238E27FC236}">
                <a16:creationId xmlns:a16="http://schemas.microsoft.com/office/drawing/2014/main" id="{D18F424A-0252-196F-D5EC-910F3D8F2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06297"/>
            <a:ext cx="3441666" cy="626030"/>
          </a:xfrm>
          <a:prstGeom prst="rect">
            <a:avLst/>
          </a:prstGeom>
        </p:spPr>
      </p:pic>
      <p:pic>
        <p:nvPicPr>
          <p:cNvPr id="11" name="Picture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61EF155A-D9DC-1905-7C7E-EA3A3489D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35048"/>
            <a:ext cx="3807099" cy="626029"/>
          </a:xfrm>
          <a:prstGeom prst="rect">
            <a:avLst/>
          </a:prstGeom>
        </p:spPr>
      </p:pic>
      <p:pic>
        <p:nvPicPr>
          <p:cNvPr id="13" name="Picture 12" descr="Partial derivative of the Lagrangian with respect to angle">
            <a:extLst>
              <a:ext uri="{FF2B5EF4-FFF2-40B4-BE49-F238E27FC236}">
                <a16:creationId xmlns:a16="http://schemas.microsoft.com/office/drawing/2014/main" id="{E34FD7C3-7F91-BD2F-8C4A-50B81875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28858"/>
            <a:ext cx="3936698" cy="743410"/>
          </a:xfrm>
          <a:prstGeom prst="rect">
            <a:avLst/>
          </a:prstGeom>
        </p:spPr>
      </p:pic>
      <p:pic>
        <p:nvPicPr>
          <p:cNvPr id="15" name="Picture 14" descr="Resulting one-link torque equation">
            <a:extLst>
              <a:ext uri="{FF2B5EF4-FFF2-40B4-BE49-F238E27FC236}">
                <a16:creationId xmlns:a16="http://schemas.microsoft.com/office/drawing/2014/main" id="{C1E57924-54F8-9F9A-AE60-CA2740E5E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5079233"/>
            <a:ext cx="5643755" cy="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Picture 8" descr="Angular acceleration from forward dynamics">
            <a:extLst>
              <a:ext uri="{FF2B5EF4-FFF2-40B4-BE49-F238E27FC236}">
                <a16:creationId xmlns:a16="http://schemas.microsoft.com/office/drawing/2014/main" id="{2E461BF3-C9B7-80C5-85FE-5B3D603A1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01069"/>
            <a:ext cx="6055115" cy="13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Release at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30° with </a:t>
            </a:r>
            <a:r>
              <a:rPr lang="en-US" sz="2175" b="0" i="1">
                <a:solidFill>
                  <a:srgbClr val="25364A"/>
                </a:solidFill>
                <a:latin typeface="Times New Roman" panose="02020603050405020304" pitchFamily="18" charset="0"/>
                <a:ea typeface="Aptos"/>
                <a:cs typeface="Aptos"/>
              </a:rPr>
              <a:t>θ̇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 and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 What is the initial acceleration?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Picture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400742FC-71EF-2945-DE10-8D5FA1F1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10751"/>
            <a:ext cx="10715625" cy="130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 to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Picture 8" descr="Cubic rest-to-rest joint trajectory">
            <a:extLst>
              <a:ext uri="{FF2B5EF4-FFF2-40B4-BE49-F238E27FC236}">
                <a16:creationId xmlns:a16="http://schemas.microsoft.com/office/drawing/2014/main" id="{7D0AB4FC-304A-F45F-FE36-B69B67C5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25895"/>
            <a:ext cx="10715625" cy="1072584"/>
          </a:xfrm>
          <a:prstGeom prst="rect">
            <a:avLst/>
          </a:prstGeom>
        </p:spPr>
      </p:pic>
      <p:pic>
        <p:nvPicPr>
          <p:cNvPr id="11" name="Picture 10" descr="Joint velocity for the cubic trajectory">
            <a:extLst>
              <a:ext uri="{FF2B5EF4-FFF2-40B4-BE49-F238E27FC236}">
                <a16:creationId xmlns:a16="http://schemas.microsoft.com/office/drawing/2014/main" id="{5FE229DC-B556-E48D-02FA-6E69350DC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60189"/>
            <a:ext cx="2422882" cy="480496"/>
          </a:xfrm>
          <a:prstGeom prst="rect">
            <a:avLst/>
          </a:prstGeom>
        </p:spPr>
      </p:pic>
      <p:pic>
        <p:nvPicPr>
          <p:cNvPr id="13" name="Picture 12" descr="Joint acceleration for the cubic trajectory">
            <a:extLst>
              <a:ext uri="{FF2B5EF4-FFF2-40B4-BE49-F238E27FC236}">
                <a16:creationId xmlns:a16="http://schemas.microsoft.com/office/drawing/2014/main" id="{3CA64489-C2DE-0C88-4539-D15627339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55574"/>
            <a:ext cx="1637759" cy="4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, and acceleration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Picture 7" descr="Peak velocity doubles and peak acceleration quadruples">
            <a:extLst>
              <a:ext uri="{FF2B5EF4-FFF2-40B4-BE49-F238E27FC236}">
                <a16:creationId xmlns:a16="http://schemas.microsoft.com/office/drawing/2014/main" id="{F5E3B096-585A-2FCA-9FB8-39BD5BB0E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46208"/>
            <a:ext cx="10715625" cy="8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0E1371-07B4-4C60-AB50-9E0EC5A827F2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peak |</a:t>
            </a:r>
            <a:r>
              <a:rPr lang="en-US" sz="2250" b="0" i="1">
                <a:solidFill>
                  <a:srgbClr val="25364A"/>
                </a:solidFill>
                <a:latin typeface="Times New Roman" panose="02020603050405020304" pitchFamily="18" charset="0"/>
                <a:ea typeface="Aptos"/>
                <a:cs typeface="Aptos"/>
              </a:rPr>
              <a:t>θ̇</a:t>
            </a: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|, |</a:t>
            </a:r>
            <a:r>
              <a:rPr lang="en-US" sz="2250" b="0" i="1">
                <a:solidFill>
                  <a:srgbClr val="25364A"/>
                </a:solidFill>
                <a:latin typeface="Times New Roman" panose="02020603050405020304" pitchFamily="18" charset="0"/>
                <a:ea typeface="Aptos"/>
                <a:cs typeface="Aptos"/>
              </a:rPr>
              <a:t>θ̈</a:t>
            </a: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|, inertial torque and total torque.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N·m at the final hold.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2470</Words>
  <Application>Microsoft Office PowerPoint</Application>
  <DocSecurity>0</DocSecurity>
  <PresentationFormat>Widescreen</PresentationFormat>
  <Paragraphs>185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Cambria Math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6</cp:revision>
  <dcterms:created xsi:type="dcterms:W3CDTF">2026-10-14T01:12:54Z</dcterms:created>
  <dcterms:modified xsi:type="dcterms:W3CDTF">2026-10-14T11:27:16Z</dcterms:modified>
</cp:coreProperties>
</file>