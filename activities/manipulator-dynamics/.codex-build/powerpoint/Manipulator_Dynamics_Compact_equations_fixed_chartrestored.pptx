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s = t/Tf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I_COM = mL²/12. About the joint, I_joint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Graphic 8" descr="I equals one third m L squared, evaluated as 0.24 kilogram meter squared">
            <a:extLst>
              <a:ext uri="{FF2B5EF4-FFF2-40B4-BE49-F238E27FC236}">
                <a16:creationId xmlns:a16="http://schemas.microsoft.com/office/drawing/2014/main" id="{A6396BFE-7B9D-4A1B-0DDF-FB2A5510C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420472"/>
            <a:ext cx="18546274" cy="16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mgr_c sin θ: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kg·m² and b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τ = mgr_c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Graphic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7953D723-4625-1380-17FD-5FE93BF60A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72964"/>
            <a:ext cx="10412200" cy="137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Graphic 7" descr="Holding torque calculation equals 3 newton meters">
            <a:extLst>
              <a:ext uri="{FF2B5EF4-FFF2-40B4-BE49-F238E27FC236}">
                <a16:creationId xmlns:a16="http://schemas.microsoft.com/office/drawing/2014/main" id="{077832EE-E306-83FA-8680-DD85531DA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90240"/>
            <a:ext cx="20713193" cy="174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mgr_c + m_p gL.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m_p = 0.5 kg: I_new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 =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I_new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 +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 + (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mgr_c + m_p gL) sin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τ_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τ_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Graphic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BC63BE51-BB57-712B-1CEB-7AD872861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99497"/>
            <a:ext cx="8507910" cy="172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 = r_c</a:t>
            </a:r>
            <a:endParaRPr sz="19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r_c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Graphic 25" descr="Kinetic and potential energy equations">
            <a:extLst>
              <a:ext uri="{FF2B5EF4-FFF2-40B4-BE49-F238E27FC236}">
                <a16:creationId xmlns:a16="http://schemas.microsoft.com/office/drawing/2014/main" id="{780FD3C1-1D79-8137-D6AA-FEA0DF8E0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881692"/>
            <a:ext cx="6815843" cy="76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Graphic 8" descr="Euler Lagrange torque equation with viscous friction">
            <a:extLst>
              <a:ext uri="{FF2B5EF4-FFF2-40B4-BE49-F238E27FC236}">
                <a16:creationId xmlns:a16="http://schemas.microsoft.com/office/drawing/2014/main" id="{4A72DC3F-8F82-8547-60C8-6A3A8E933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773989"/>
            <a:ext cx="3783093" cy="690646"/>
          </a:xfrm>
          <a:prstGeom prst="rect">
            <a:avLst/>
          </a:prstGeom>
        </p:spPr>
      </p:pic>
      <p:pic>
        <p:nvPicPr>
          <p:cNvPr id="11" name="Graphic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B118E7F6-E8EB-ED2D-A6EB-1A3CD78D8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3202739"/>
            <a:ext cx="4195420" cy="690646"/>
          </a:xfrm>
          <a:prstGeom prst="rect">
            <a:avLst/>
          </a:prstGeom>
        </p:spPr>
      </p:pic>
      <p:pic>
        <p:nvPicPr>
          <p:cNvPr id="13" name="Graphic 12" descr="Partial derivative of the Lagrangian with respect to angle">
            <a:extLst>
              <a:ext uri="{FF2B5EF4-FFF2-40B4-BE49-F238E27FC236}">
                <a16:creationId xmlns:a16="http://schemas.microsoft.com/office/drawing/2014/main" id="{AA670B3E-67F1-E9B6-F18E-A916A972F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4087407"/>
            <a:ext cx="4411902" cy="826310"/>
          </a:xfrm>
          <a:prstGeom prst="rect">
            <a:avLst/>
          </a:prstGeom>
        </p:spPr>
      </p:pic>
      <p:pic>
        <p:nvPicPr>
          <p:cNvPr id="15" name="Graphic 14" descr="Resulting one-link torque equation">
            <a:extLst>
              <a:ext uri="{FF2B5EF4-FFF2-40B4-BE49-F238E27FC236}">
                <a16:creationId xmlns:a16="http://schemas.microsoft.com/office/drawing/2014/main" id="{ABBE9E3B-279C-95A6-9C0F-EE5A883B5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950" y="5039909"/>
            <a:ext cx="6241581" cy="8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Graphic 8" descr="Angular acceleration from forward dynamics">
            <a:extLst>
              <a:ext uri="{FF2B5EF4-FFF2-40B4-BE49-F238E27FC236}">
                <a16:creationId xmlns:a16="http://schemas.microsoft.com/office/drawing/2014/main" id="{B3ED24AA-DB0B-60F3-5222-6D350916DE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37027"/>
            <a:ext cx="6578985" cy="145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kg·m², mgr꜀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Graphic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E86F8DF8-CA36-3FAC-F750-512D61D8D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428254"/>
            <a:ext cx="13704305" cy="166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θ_f = π/2,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Graphic 8" descr="Cubic rest-to-rest joint trajectory">
            <a:extLst>
              <a:ext uri="{FF2B5EF4-FFF2-40B4-BE49-F238E27FC236}">
                <a16:creationId xmlns:a16="http://schemas.microsoft.com/office/drawing/2014/main" id="{0C816E24-A9D0-9F15-CCD1-D99C7DA67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15381"/>
            <a:ext cx="14958415" cy="1493613"/>
          </a:xfrm>
          <a:prstGeom prst="rect">
            <a:avLst/>
          </a:prstGeom>
        </p:spPr>
      </p:pic>
      <p:pic>
        <p:nvPicPr>
          <p:cNvPr id="11" name="Graphic 10" descr="Joint velocity for the cubic trajectory">
            <a:extLst>
              <a:ext uri="{FF2B5EF4-FFF2-40B4-BE49-F238E27FC236}">
                <a16:creationId xmlns:a16="http://schemas.microsoft.com/office/drawing/2014/main" id="{804831CE-B8B6-823B-8136-ED3373F0B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3235541"/>
            <a:ext cx="2664549" cy="529793"/>
          </a:xfrm>
          <a:prstGeom prst="rect">
            <a:avLst/>
          </a:prstGeom>
        </p:spPr>
      </p:pic>
      <p:pic>
        <p:nvPicPr>
          <p:cNvPr id="13" name="Graphic 12" descr="Joint acceleration for the cubic trajectory">
            <a:extLst>
              <a:ext uri="{FF2B5EF4-FFF2-40B4-BE49-F238E27FC236}">
                <a16:creationId xmlns:a16="http://schemas.microsoft.com/office/drawing/2014/main" id="{1EC6DE49-F9EA-D518-0F0F-CDFA7F583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4135305"/>
            <a:ext cx="1795531" cy="44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1/T_f, and acceleration as 1/T_f².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Graphic 7" descr="Peak velocity doubles and peak acceleration quadruples">
            <a:extLst>
              <a:ext uri="{FF2B5EF4-FFF2-40B4-BE49-F238E27FC236}">
                <a16:creationId xmlns:a16="http://schemas.microsoft.com/office/drawing/2014/main" id="{58371796-8BF0-04D8-ED00-6BD2DBEB7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677800"/>
            <a:ext cx="15861940" cy="11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2501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1</cp:revision>
  <dcterms:created xsi:type="dcterms:W3CDTF">2026-10-14T01:12:54Z</dcterms:created>
  <dcterms:modified xsi:type="dcterms:W3CDTF">2026-10-14T02:44:25Z</dcterms:modified>
</cp:coreProperties>
</file>