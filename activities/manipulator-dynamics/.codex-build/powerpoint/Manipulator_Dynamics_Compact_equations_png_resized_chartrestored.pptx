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Relationships xmlns="http://schemas.openxmlformats.org/package/2006/relationships"><Relationship Id="rIdChartSnapshot1" Type="http://schemas.openxmlformats.org/officeDocument/2006/relationships/package" Target="../embeddings/chart-data-snapshot-002.xlsx"/></Relationships>
</file>

<file path=ppt/charts/_rels/chart2.xml.rels><Relationships xmlns="http://schemas.openxmlformats.org/package/2006/relationships"><Relationship Id="rIdChartSnapshot1" Type="http://schemas.openxmlformats.org/officeDocument/2006/relationships/package" Target="../embeddings/chart-data-snapshot-003.xlsx"/></Relationships>
</file>

<file path=ppt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No payload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Data'!$B$2:$B$20</c:f>
              <c:numCache>
                <c:formatCode>0.00</c:formatCode>
                <c:ptCount val="19"/>
                <c:pt idx="0">
                  <c:v>0</c:v>
                </c:pt>
                <c:pt idx="1">
                  <c:v>1.04188907</c:v>
                </c:pt>
                <c:pt idx="2">
                  <c:v>2.05212086</c:v>
                </c:pt>
                <c:pt idx="3">
                  <c:v>3</c:v>
                </c:pt>
                <c:pt idx="4">
                  <c:v>3.85672566</c:v>
                </c:pt>
                <c:pt idx="5">
                  <c:v>4.59626666</c:v>
                </c:pt>
                <c:pt idx="6">
                  <c:v>5.19615242</c:v>
                </c:pt>
                <c:pt idx="7">
                  <c:v>5.63815572</c:v>
                </c:pt>
                <c:pt idx="8">
                  <c:v>5.90884652</c:v>
                </c:pt>
                <c:pt idx="9">
                  <c:v>6</c:v>
                </c:pt>
                <c:pt idx="10">
                  <c:v>5.90884652</c:v>
                </c:pt>
                <c:pt idx="11">
                  <c:v>5.63815572</c:v>
                </c:pt>
                <c:pt idx="12">
                  <c:v>5.19615242</c:v>
                </c:pt>
                <c:pt idx="13">
                  <c:v>4.59626666</c:v>
                </c:pt>
                <c:pt idx="14">
                  <c:v>3.85672566</c:v>
                </c:pt>
                <c:pt idx="15">
                  <c:v>3</c:v>
                </c:pt>
                <c:pt idx="16">
                  <c:v>2.05212086</c:v>
                </c:pt>
                <c:pt idx="17">
                  <c:v>1.04188907</c:v>
                </c:pt>
                <c:pt idx="18">
                  <c:v>0</c:v>
                </c:pt>
              </c:numCache>
            </c:numRef>
          </c:yVal>
        </c:ser>
        <c:ser>
          <c:idx val="1"/>
          <c:order val="1"/>
          <c:tx>
            <c:v>0.5 kg payload</c:v>
          </c:tx>
          <c:spPr>
            <a:ln xmlns:a="http://schemas.openxmlformats.org/drawingml/2006/main"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Data'!$D$2:$D$20</c:f>
              <c:numCache>
                <c:formatCode>0.00</c:formatCode>
                <c:ptCount val="19"/>
                <c:pt idx="0">
                  <c:v>0</c:v>
                </c:pt>
                <c:pt idx="1">
                  <c:v>1.5628336</c:v>
                </c:pt>
                <c:pt idx="2">
                  <c:v>3.07818129</c:v>
                </c:pt>
                <c:pt idx="3">
                  <c:v>4.5</c:v>
                </c:pt>
                <c:pt idx="4">
                  <c:v>5.78508849</c:v>
                </c:pt>
                <c:pt idx="5">
                  <c:v>6.89439999</c:v>
                </c:pt>
                <c:pt idx="6">
                  <c:v>7.79422863</c:v>
                </c:pt>
                <c:pt idx="7">
                  <c:v>8.45723359</c:v>
                </c:pt>
                <c:pt idx="8">
                  <c:v>8.86326978</c:v>
                </c:pt>
                <c:pt idx="9">
                  <c:v>9</c:v>
                </c:pt>
                <c:pt idx="10">
                  <c:v>8.86326978</c:v>
                </c:pt>
                <c:pt idx="11">
                  <c:v>8.45723359</c:v>
                </c:pt>
                <c:pt idx="12">
                  <c:v>7.79422863</c:v>
                </c:pt>
                <c:pt idx="13">
                  <c:v>6.89439999</c:v>
                </c:pt>
                <c:pt idx="14">
                  <c:v>5.78508849</c:v>
                </c:pt>
                <c:pt idx="15">
                  <c:v>4.5</c:v>
                </c:pt>
                <c:pt idx="16">
                  <c:v>3.07818129</c:v>
                </c:pt>
                <c:pt idx="17">
                  <c:v>1.5628336</c:v>
                </c:pt>
                <c:pt idx="18">
                  <c:v>0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Holding torque (N 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Angle from downward vertical (deg)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536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2 s motion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Data'!$A$2:$A$42</c:f>
              <c:numCache>
                <c:formatCode>0.0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0.00</c:formatCode>
                <c:ptCount val="41"/>
                <c:pt idx="0">
                  <c:v>0.56548668</c:v>
                </c:pt>
                <c:pt idx="1">
                  <c:v>0.5660757</c:v>
                </c:pt>
                <c:pt idx="2">
                  <c:v>0.59965002</c:v>
                </c:pt>
                <c:pt idx="3">
                  <c:v>0.66443088</c:v>
                </c:pt>
                <c:pt idx="4">
                  <c:v>0.75860955</c:v>
                </c:pt>
                <c:pt idx="5">
                  <c:v>0.88032028</c:v>
                </c:pt>
                <c:pt idx="6">
                  <c:v>1.02761033</c:v>
                </c:pt>
                <c:pt idx="7">
                  <c:v>1.19841108</c:v>
                </c:pt>
                <c:pt idx="8">
                  <c:v>1.39051322</c:v>
                </c:pt>
                <c:pt idx="9">
                  <c:v>1.60154875</c:v>
                </c:pt>
                <c:pt idx="10">
                  <c:v>1.82898171</c:v>
                </c:pt>
                <c:pt idx="11">
                  <c:v>2.07010899</c:v>
                </c:pt>
                <c:pt idx="12">
                  <c:v>2.32207211</c:v>
                </c:pt>
                <c:pt idx="13">
                  <c:v>2.58188001</c:v>
                </c:pt>
                <c:pt idx="14">
                  <c:v>2.84644257</c:v>
                </c:pt>
                <c:pt idx="15">
                  <c:v>3.11261367</c:v>
                </c:pt>
                <c:pt idx="16">
                  <c:v>3.37724245</c:v>
                </c:pt>
                <c:pt idx="17">
                  <c:v>3.63723071</c:v>
                </c:pt>
                <c:pt idx="18">
                  <c:v>3.88959406</c:v>
                </c:pt>
                <c:pt idx="19">
                  <c:v>4.13152432</c:v>
                </c:pt>
                <c:pt idx="20">
                  <c:v>4.36045041</c:v>
                </c:pt>
                <c:pt idx="21">
                  <c:v>4.57409518</c:v>
                </c:pt>
                <c:pt idx="22">
                  <c:v>4.77052548</c:v>
                </c:pt>
                <c:pt idx="23">
                  <c:v>4.9481934</c:v>
                </c:pt>
                <c:pt idx="24">
                  <c:v>5.10596689</c:v>
                </c:pt>
                <c:pt idx="25">
                  <c:v>5.24314831</c:v>
                </c:pt>
                <c:pt idx="26">
                  <c:v>5.35948013</c:v>
                </c:pt>
                <c:pt idx="27">
                  <c:v>5.45513763</c:v>
                </c:pt>
                <c:pt idx="28">
                  <c:v>5.53070871</c:v>
                </c:pt>
                <c:pt idx="29">
                  <c:v>5.58716159</c:v>
                </c:pt>
                <c:pt idx="30">
                  <c:v>5.62580147</c:v>
                </c:pt>
                <c:pt idx="31">
                  <c:v>5.64821757</c:v>
                </c:pt>
                <c:pt idx="32">
                  <c:v>5.65622188</c:v>
                </c:pt>
                <c:pt idx="33">
                  <c:v>5.65178136</c:v>
                </c:pt>
                <c:pt idx="34">
                  <c:v>5.63694472</c:v>
                </c:pt>
                <c:pt idx="35">
                  <c:v>5.61376515</c:v>
                </c:pt>
                <c:pt idx="36">
                  <c:v>5.58421977</c:v>
                </c:pt>
                <c:pt idx="37">
                  <c:v>5.55012625</c:v>
                </c:pt>
                <c:pt idx="38">
                  <c:v>5.51305676</c:v>
                </c:pt>
                <c:pt idx="39">
                  <c:v>5.47424894</c:v>
                </c:pt>
                <c:pt idx="40">
                  <c:v>5.43451332</c:v>
                </c:pt>
              </c:numCache>
            </c:numRef>
          </c:yVal>
        </c:ser>
        <c:ser>
          <c:idx val="1"/>
          <c:order val="1"/>
          <c:tx>
            <c:v>1 s motion</c:v>
          </c:tx>
          <c:spPr>
            <a:ln xmlns:a="http://schemas.openxmlformats.org/drawingml/2006/main"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Data'!$C$2:$C$42</c:f>
              <c:numCache>
                <c:formatCode>0.0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Data'!$D$2:$D$42</c:f>
              <c:numCache>
                <c:formatCode>0.00</c:formatCode>
                <c:ptCount val="41"/>
                <c:pt idx="0">
                  <c:v>2.26194671</c:v>
                </c:pt>
                <c:pt idx="1">
                  <c:v>2.18919918</c:v>
                </c:pt>
                <c:pt idx="2">
                  <c:v>2.1488479</c:v>
                </c:pt>
                <c:pt idx="3">
                  <c:v>2.1391141</c:v>
                </c:pt>
                <c:pt idx="4">
                  <c:v>2.15818908</c:v>
                </c:pt>
                <c:pt idx="5">
                  <c:v>2.20420706</c:v>
                </c:pt>
                <c:pt idx="6">
                  <c:v>2.27521532</c:v>
                </c:pt>
                <c:pt idx="7">
                  <c:v>2.36914522</c:v>
                </c:pt>
                <c:pt idx="8">
                  <c:v>2.48378746</c:v>
                </c:pt>
                <c:pt idx="9">
                  <c:v>2.61677406</c:v>
                </c:pt>
                <c:pt idx="10">
                  <c:v>2.76556902</c:v>
                </c:pt>
                <c:pt idx="11">
                  <c:v>2.92746926</c:v>
                </c:pt>
                <c:pt idx="12">
                  <c:v>3.09961629</c:v>
                </c:pt>
                <c:pt idx="13">
                  <c:v>3.27901906</c:v>
                </c:pt>
                <c:pt idx="14">
                  <c:v>3.46258743</c:v>
                </c:pt>
                <c:pt idx="15">
                  <c:v>3.64717529</c:v>
                </c:pt>
                <c:pt idx="16">
                  <c:v>3.82963179</c:v>
                </c:pt>
                <c:pt idx="17">
                  <c:v>4.00685872</c:v>
                </c:pt>
                <c:pt idx="18">
                  <c:v>4.17587169</c:v>
                </c:pt>
                <c:pt idx="19">
                  <c:v>4.33386252</c:v>
                </c:pt>
                <c:pt idx="20">
                  <c:v>4.47826014</c:v>
                </c:pt>
                <c:pt idx="21">
                  <c:v>4.60678738</c:v>
                </c:pt>
                <c:pt idx="22">
                  <c:v>4.7175111</c:v>
                </c:pt>
                <c:pt idx="23">
                  <c:v>4.8088834</c:v>
                </c:pt>
                <c:pt idx="24">
                  <c:v>4.87977222</c:v>
                </c:pt>
                <c:pt idx="25">
                  <c:v>4.92947991</c:v>
                </c:pt>
                <c:pt idx="26">
                  <c:v>4.95774897</c:v>
                </c:pt>
                <c:pt idx="27">
                  <c:v>4.96475465</c:v>
                </c:pt>
                <c:pt idx="28">
                  <c:v>4.95108487</c:v>
                </c:pt>
                <c:pt idx="29">
                  <c:v>4.91770783</c:v>
                </c:pt>
                <c:pt idx="30">
                  <c:v>4.86592875</c:v>
                </c:pt>
                <c:pt idx="31">
                  <c:v>4.79733683</c:v>
                </c:pt>
                <c:pt idx="32">
                  <c:v>4.71374409</c:v>
                </c:pt>
                <c:pt idx="33">
                  <c:v>4.61711745</c:v>
                </c:pt>
                <c:pt idx="34">
                  <c:v>4.50950565</c:v>
                </c:pt>
                <c:pt idx="35">
                  <c:v>4.39296188</c:v>
                </c:pt>
                <c:pt idx="36">
                  <c:v>4.26946324</c:v>
                </c:pt>
                <c:pt idx="37">
                  <c:v>4.14082742</c:v>
                </c:pt>
                <c:pt idx="38">
                  <c:v>4.00862658</c:v>
                </c:pt>
                <c:pt idx="39">
                  <c:v>3.87409836</c:v>
                </c:pt>
                <c:pt idx="40">
                  <c:v>3.73805329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Required torque (N 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Normalized time s = t/Tf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536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meetings of about 50 minutes. Meeting 1 slides 1–9: physical torque, inertia, holding torque, payload and Coding Activity 1. Meeting 2 slides 10–20: energy derivation, forward dynamics, motion-time preview and Coding Activity 2. Four polls total, including an opening conceptual poll whose answer is explained on slide 5. Use two coding activities, about 8 and 12 minutes. Full 2R dynamics and release simulations are outside this compact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pivot is the joint. Yellow dot marks the center of mass. θ is measured counterclockwise from the downward vertical. Left: θ=0°, the arm hangs downward. Right: θ=90°, the arm points right. Gray dashes show the downward reference. The gold arc indicates positive rotation. Figures are schematic, with matching pose convention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Q1. Allow 1–2 minutes for individual calculation. Ask pairs to compare reasoning, then reveal the next slide. Correct answer: A. At rest the inertia and viscous-friction terms vanish, but gravity remains.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useful show parallel-axis theorem: Ijoint=Icom+m*(L/2)^2. All motion is rigid-body planar rotation.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Dots are time derivatives: θdot is rad/s and θdouble-dot is rad/s². Actual gravitational torque is -mgrc*sin θ. Moving it to the required motor-torque side gives the plus sign. Actual viscous-friction torque is -b*θdot.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gravity acts downward at the COM. Its torque is clockwise. Positive motor torque counteracts gravity. The distance from the pivot to COM is rc. At a horizontal hold, torque is mgrc. Gold arc represents positive counterclockwise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Q2. Allow 1–2 minutes for individual calculation. Ask pairs to compare reasoning, then reveal the next slide. Correct answer: B.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payload as a point mass rigidly attached to the tip. Additional payload rotational inertia about its own COM is neglected.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both arms are horizontal. The yellow COM dot belongs to the 2 kg link. The yellow square at the tip in the lower figure is an added 0.5 kg point payload. Compare 6 N m and 9 N m holding torque. Figures are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no-payload values 0,3,6,0 N m. With 0.5 kg payload 0,4.5,9,0. At 180° ideal gravity torque is zero but equilibrium is unstable. A horizontal tabletop arm with a vertical rotation axis has no gravity torque about that axis. Complete code is provided in Activity 1, students modify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a zero reference for V is arbitrary. COM height relative to θ=0 is rc*(1-cos θ). Distinguish kinetic-energy symbol T from motion duration Tf used later.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the gray arm shows the downward reference pose, and the navy arm shows 90°. Yellow dots mark both COM positions. At 90° the COM rises by rc, giving V=mgrc relative to the downward pose. General rise is rc*(1-cos 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angle and angular velocity as independent arguments for the partial derivatives. Hold angle fixed when differentiating with respect to velocity, and vice versa. I is constant. This is the only hand derivation required. Source: https://modernrobotics.northwestern.edu/nu-gm-book-resource/chapter-8-1-lagrangian-formulation-of-dynamics-part-1-of-2/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compare this with F=ma. Knowing torque does not determine angle immediately. The simulator uses RK4 and a small time step.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Q3. Allow 1–2 minutes for individual calculation. Ask pairs to compare reasoning, then reveal the next slide. Correct answer: A.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Δθ=θf−θ0. This is a preview, not a full derivation of cubic coefficients. Valid for 0≤t≤Tf. Endpoint acceleration is nonzero and jumps when joined to a stationary hold. A quintic can impose zero endpoint acceleration.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Q4. Allow 1–2 minutes for individual calculation. Ask pairs to compare reasoning, then reveal the next slide. Correct answer: B.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minutes. Required torque is calculated for the desired path, not a simulated tracking controller. Check code peaks including endpoint values. Cubic acceleration is nonzero at endpoints. The final hold is a separate state. Sampled feasibility under an ideal symmetric limit is not hardware validation.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curves compare corresponding points on the same normalized path, not the same physical time. At s=1 the plotted torque includes deceleration. Immediately after the motion, stationary holding torque is 6 N m with no payload, or 9 N m with payload. Slowdown cannot eliminate the required static holding torque.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Next teach cubic coefficient derivation, joint-space interpolation and velocity/acceleration profiles. Revisit endpoint acceleration and quintic trajectories. Explain that joint-space interpolation does not generally create a straight Cartesian path.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239E48-5B89-42DA-9C24-06C40E3DC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84004C1-4881-47CD-AF91-DF4D954B8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0C19642-9E63-4F86-B7E7-890B6A6D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1B42A8-846F-4EF9-8BCE-C25966F1B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90F921F-5C27-48E4-9CB3-3E006990B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8A0389-3A56-49F6-AAB4-ED46413C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83E0B94-4DE7-41B4-8D19-7DF2154D3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AD586C6-3F68-4939-956E-F82880D09EE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D2E4E8A-CA12-4CE0-8E7E-4B03654E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9AA4F1E-1BAA-4670-8A8E-6C420C8D6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7DAE7B-5B95-4EE1-B83D-6682DE15F9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Manipulator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DD649-205E-4664-A4D5-F9A69DDD328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FC4481-79DD-4909-912A-650ABDB30F2A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 simple approach for ECE students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5D23B-2217-466D-B97F-DCBA0510500E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100012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Single-link torque, energy methods, and coding activities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14F28-861C-4C12-9805-5C75E936616D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Craig Chapter 6 · Bridge to Chapter 7</a:t>
            </a:r>
          </a:p>
        </p:txBody>
      </p:sp>
    </p:spTree>
    <p:extLst>
      <p:ext uri="{BB962C8B-B14F-4D97-AF65-F5344CB8AC3E}">
        <p14:creationId xmlns:p14="http://schemas.microsoft.com/office/powerpoint/2010/main" val="95141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AAED51-0183-41B0-8BAF-CCDF37A6E27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vertical-plane 1R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A59492-F67E-476D-87DD-217D0AE0602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58774C-3A96-4E75-A7FC-58E785B4E515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6096000" cy="1524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 = 0°: arm hangs downward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 = 90°: arm points right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Positive θ and τ: counterclockwise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75D50B-B804-4D71-9706-3685F589FD40}"/>
              </a:ext>
            </a:extLst>
          </p:cNvPr>
          <p:cNvSpPr>
            <a:spLocks noGrp="1"/>
          </p:cNvSpPr>
          <p:nvPr/>
        </p:nvSpPr>
        <p:spPr>
          <a:xfrm>
            <a:off x="742950" y="3667125"/>
            <a:ext cx="5619750" cy="1571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 = 2 kg        L = 0.6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r꜀ = L/2 = 0.3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 = 10 m/s²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80464-A5BE-4FBA-9D0B-C837A32EC93C}"/>
              </a:ext>
            </a:extLst>
          </p:cNvPr>
          <p:cNvSpPr>
            <a:spLocks noGrp="1"/>
          </p:cNvSpPr>
          <p:nvPr/>
        </p:nvSpPr>
        <p:spPr>
          <a:xfrm>
            <a:off x="742950" y="57626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Angles in calculations and code use radians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A6CD43-3F7A-4B39-8F14-3FDBC520B147}"/>
              </a:ext>
            </a:extLst>
          </p:cNvPr>
          <p:cNvSpPr>
            <a:spLocks noGrp="1"/>
          </p:cNvSpPr>
          <p:nvPr/>
        </p:nvSpPr>
        <p:spPr>
          <a:xfrm>
            <a:off x="7267575" y="2619375"/>
            <a:ext cx="133350" cy="1762125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4A278A-6118-4351-88F4-94165243455B}"/>
              </a:ext>
            </a:extLst>
          </p:cNvPr>
          <p:cNvSpPr>
            <a:spLocks noGrp="1"/>
          </p:cNvSpPr>
          <p:nvPr/>
        </p:nvSpPr>
        <p:spPr>
          <a:xfrm>
            <a:off x="72104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A879DE-F75F-4543-AE6C-64153252F707}"/>
              </a:ext>
            </a:extLst>
          </p:cNvPr>
          <p:cNvSpPr>
            <a:spLocks noGrp="1"/>
          </p:cNvSpPr>
          <p:nvPr/>
        </p:nvSpPr>
        <p:spPr>
          <a:xfrm>
            <a:off x="72866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7B3A4A-47E4-45D4-A4C6-9AC6DC97DFC3}"/>
              </a:ext>
            </a:extLst>
          </p:cNvPr>
          <p:cNvSpPr>
            <a:spLocks noGrp="1"/>
          </p:cNvSpPr>
          <p:nvPr/>
        </p:nvSpPr>
        <p:spPr>
          <a:xfrm>
            <a:off x="7258050" y="342423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FB28A2-BA7A-4358-927F-F811CC284F50}"/>
              </a:ext>
            </a:extLst>
          </p:cNvPr>
          <p:cNvSpPr>
            <a:spLocks noGrp="1"/>
          </p:cNvSpPr>
          <p:nvPr/>
        </p:nvSpPr>
        <p:spPr>
          <a:xfrm>
            <a:off x="6705600" y="1714500"/>
            <a:ext cx="1524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0°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DE4A1E-29F1-4235-AE2C-06DBCAE0416D}"/>
              </a:ext>
            </a:extLst>
          </p:cNvPr>
          <p:cNvSpPr>
            <a:spLocks noGrp="1"/>
          </p:cNvSpPr>
          <p:nvPr/>
        </p:nvSpPr>
        <p:spPr>
          <a:xfrm>
            <a:off x="633412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Hangs downward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E9B5D-5F1C-4141-A32A-5C93BA086E33}"/>
              </a:ext>
            </a:extLst>
          </p:cNvPr>
          <p:cNvSpPr>
            <a:spLocks noGrp="1"/>
          </p:cNvSpPr>
          <p:nvPr/>
        </p:nvSpPr>
        <p:spPr>
          <a:xfrm>
            <a:off x="7524750" y="3314700"/>
            <a:ext cx="1143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9421EE-592E-467A-BA2B-19BFE58D776E}"/>
              </a:ext>
            </a:extLst>
          </p:cNvPr>
          <p:cNvSpPr>
            <a:spLocks noGrp="1"/>
          </p:cNvSpPr>
          <p:nvPr/>
        </p:nvSpPr>
        <p:spPr>
          <a:xfrm>
            <a:off x="9429750" y="2552700"/>
            <a:ext cx="1857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8E794F1-DC52-4071-9CED-69E8FB3C8D6B}"/>
              </a:ext>
            </a:extLst>
          </p:cNvPr>
          <p:cNvSpPr>
            <a:spLocks noGrp="1"/>
          </p:cNvSpPr>
          <p:nvPr/>
        </p:nvSpPr>
        <p:spPr>
          <a:xfrm>
            <a:off x="93059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442FA7-9ABD-454E-A314-C7583C01A42F}"/>
              </a:ext>
            </a:extLst>
          </p:cNvPr>
          <p:cNvSpPr>
            <a:spLocks noGrp="1"/>
          </p:cNvSpPr>
          <p:nvPr/>
        </p:nvSpPr>
        <p:spPr>
          <a:xfrm>
            <a:off x="93821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32C2A6-4C3E-40F2-BAF8-E1B8C9573985}"/>
              </a:ext>
            </a:extLst>
          </p:cNvPr>
          <p:cNvSpPr>
            <a:spLocks noGrp="1"/>
          </p:cNvSpPr>
          <p:nvPr/>
        </p:nvSpPr>
        <p:spPr>
          <a:xfrm>
            <a:off x="10282238" y="254317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376FF-81A0-4D86-9FB8-6F7560CC91B5}"/>
              </a:ext>
            </a:extLst>
          </p:cNvPr>
          <p:cNvSpPr>
            <a:spLocks noGrp="1"/>
          </p:cNvSpPr>
          <p:nvPr/>
        </p:nvSpPr>
        <p:spPr>
          <a:xfrm>
            <a:off x="9525000" y="1714500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90°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054DCDA-D739-41B4-81AD-06F151807A6C}"/>
              </a:ext>
            </a:extLst>
          </p:cNvPr>
          <p:cNvSpPr>
            <a:spLocks noGrp="1"/>
          </p:cNvSpPr>
          <p:nvPr/>
        </p:nvSpPr>
        <p:spPr>
          <a:xfrm>
            <a:off x="9429750" y="2876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756887A-F979-4BF1-8710-246073A592F9}"/>
              </a:ext>
            </a:extLst>
          </p:cNvPr>
          <p:cNvSpPr>
            <a:spLocks noGrp="1"/>
          </p:cNvSpPr>
          <p:nvPr/>
        </p:nvSpPr>
        <p:spPr>
          <a:xfrm>
            <a:off x="9429750" y="3105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9BA6103-35A3-4E23-8EFB-EA5BBC12787D}"/>
              </a:ext>
            </a:extLst>
          </p:cNvPr>
          <p:cNvSpPr>
            <a:spLocks noGrp="1"/>
          </p:cNvSpPr>
          <p:nvPr/>
        </p:nvSpPr>
        <p:spPr>
          <a:xfrm>
            <a:off x="9429750" y="33337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B8D7529D-D1E3-418D-9EDF-C2A6394D2A16}"/>
              </a:ext>
            </a:extLst>
          </p:cNvPr>
          <p:cNvSpPr>
            <a:spLocks noGrp="1"/>
          </p:cNvSpPr>
          <p:nvPr/>
        </p:nvSpPr>
        <p:spPr>
          <a:xfrm>
            <a:off x="9429750" y="35623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FE57184-B4AD-447C-B290-4734916CC37D}"/>
              </a:ext>
            </a:extLst>
          </p:cNvPr>
          <p:cNvSpPr>
            <a:spLocks noGrp="1"/>
          </p:cNvSpPr>
          <p:nvPr/>
        </p:nvSpPr>
        <p:spPr>
          <a:xfrm>
            <a:off x="9429750" y="37909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A4D3463E-11A5-417E-9D55-E6449BB8425F}"/>
              </a:ext>
            </a:extLst>
          </p:cNvPr>
          <p:cNvSpPr>
            <a:spLocks noGrp="1"/>
          </p:cNvSpPr>
          <p:nvPr/>
        </p:nvSpPr>
        <p:spPr>
          <a:xfrm>
            <a:off x="9429750" y="4019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4D9283C-638C-4116-B65D-4A602C565643}"/>
              </a:ext>
            </a:extLst>
          </p:cNvPr>
          <p:cNvSpPr>
            <a:spLocks noGrp="1"/>
          </p:cNvSpPr>
          <p:nvPr/>
        </p:nvSpPr>
        <p:spPr>
          <a:xfrm>
            <a:off x="9429750" y="4248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0EE3F81-DF9A-4F12-9406-86965D34FA4A}"/>
              </a:ext>
            </a:extLst>
          </p:cNvPr>
          <p:cNvSpPr>
            <a:spLocks noGrp="1"/>
          </p:cNvSpPr>
          <p:nvPr/>
        </p:nvSpPr>
        <p:spPr>
          <a:xfrm>
            <a:off x="9429750" y="26193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495300" h="495300">
                <a:moveTo>
                  <a:pt x="0" y="495300"/>
                </a:moveTo>
                <a:cubicBezTo>
                  <a:pt x="273554" y="495300"/>
                  <a:pt x="495300" y="273554"/>
                  <a:pt x="495300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4B4FCA17-A76A-44D0-A066-3EFE8E34A9E2}"/>
              </a:ext>
            </a:extLst>
          </p:cNvPr>
          <p:cNvSpPr>
            <a:spLocks noGrp="1"/>
          </p:cNvSpPr>
          <p:nvPr/>
        </p:nvSpPr>
        <p:spPr>
          <a:xfrm>
            <a:off x="9858375" y="2533650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71319D-6811-4693-A1EE-509931E901DE}"/>
              </a:ext>
            </a:extLst>
          </p:cNvPr>
          <p:cNvSpPr>
            <a:spLocks noGrp="1"/>
          </p:cNvSpPr>
          <p:nvPr/>
        </p:nvSpPr>
        <p:spPr>
          <a:xfrm>
            <a:off x="9791700" y="3257550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Positive θ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8C09CE-5E34-4760-A3DE-A46A2B694E38}"/>
              </a:ext>
            </a:extLst>
          </p:cNvPr>
          <p:cNvSpPr>
            <a:spLocks noGrp="1"/>
          </p:cNvSpPr>
          <p:nvPr/>
        </p:nvSpPr>
        <p:spPr>
          <a:xfrm>
            <a:off x="947737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Points right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8CE9F8-87EC-4FAD-8FF7-B5D902DEAA18}"/>
              </a:ext>
            </a:extLst>
          </p:cNvPr>
          <p:cNvSpPr>
            <a:spLocks noGrp="1"/>
          </p:cNvSpPr>
          <p:nvPr/>
        </p:nvSpPr>
        <p:spPr>
          <a:xfrm>
            <a:off x="10191750" y="2133600"/>
            <a:ext cx="1000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7AF5B0-4F1E-42AF-8ED3-856F18E25517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Downward reference</a:t>
            </a:r>
          </a:p>
        </p:txBody>
      </p:sp>
    </p:spTree>
    <p:extLst>
      <p:ext uri="{BB962C8B-B14F-4D97-AF65-F5344CB8AC3E}">
        <p14:creationId xmlns:p14="http://schemas.microsoft.com/office/powerpoint/2010/main" val="145987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7BF826-4165-41A2-8C95-49EDCDEC5D26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Q1: A stationary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291AE0-7181-4E75-8796-D85AD7C132A2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C34367-7649-4C38-A169-52190227869C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arm is stationary and horizontal. Does the motor need to produce torque?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226F7F-F36A-4D0A-A431-F348DD9BB31E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Yes, to oppose gravity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E6CB0D-7707-45A5-B3E2-48B67B30F6F9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No, because acceleration is zero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62728D-468A-473B-B2EF-8DC23B8DBB95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Only if the arm is moving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A64425-3171-4B7A-B4F8-7CB461646783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Only if friction is present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6DB1C-51C0-4D66-8E15-868262543FBC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Q1</a:t>
            </a:r>
          </a:p>
        </p:txBody>
      </p:sp>
    </p:spTree>
    <p:extLst>
      <p:ext uri="{BB962C8B-B14F-4D97-AF65-F5344CB8AC3E}">
        <p14:creationId xmlns:p14="http://schemas.microsoft.com/office/powerpoint/2010/main" val="124268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44BA36-1E9B-45A4-90E9-275AE654E1F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Inertia about the joint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93B469-42E3-491D-8448-AFFCD30C2E0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4349-4F50-425C-87B6-A0B8E424F4C7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uniform rod has its center of mass at L/2.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E79AEC-A565-4DCE-B0CB-5B59E26BF57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inertia about the center of mass is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mL²/12. About the joint,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joint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mL²/3.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A5808-63A4-434A-8705-EE438A1BC8C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Greater inertia means greater torque for the same acceleration.</a:t>
            </a:r>
          </a:p>
        </p:txBody>
      </p:sp>
      <p:pic>
        <p:nvPicPr>
          <p:cNvPr id="9" name="Picture 8" descr="I equals one third m L squared, evaluated as 0.24 kilogram meter squared">
            <a:extLst>
              <a:ext uri="{FF2B5EF4-FFF2-40B4-BE49-F238E27FC236}">
                <a16:creationId xmlns:a16="http://schemas.microsoft.com/office/drawing/2014/main" id="{189C2172-CEFE-8573-C5D2-2083333E4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74155"/>
            <a:ext cx="10715625" cy="9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1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C67E16-78FE-4BAD-9013-8E41B64D07C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1R torque equation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816947-94C7-4964-9A2C-244DDCEFB1D5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0758-D81B-4FFF-BAC1-64D87ABE4E9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fr-F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Iθ̈: acceleration torque       bθ̇: viscous-friction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7ADBD-51DF-41DF-A96F-5C0EB5493FD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mgr</a:t>
            </a:r>
            <a:r>
              <a:rPr lang="es-E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sin θ: gravity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AEB4BE-7CB4-48DF-90E4-6D365D82BBF6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Use I = 0.24 kg·m² and b = 0.1 N·m·s/rad.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EF58C-5DCD-4DB9-A918-2C2CE9B52964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Q1 answer: A. At a horizontal hold, τ = mgr</a:t>
            </a:r>
            <a:r>
              <a:rPr lang="en-US" sz="18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0F2222-E58A-43F1-842C-1C2B5EF4133D}"/>
              </a:ext>
            </a:extLst>
          </p:cNvPr>
          <p:cNvSpPr>
            <a:spLocks noGrp="1"/>
          </p:cNvSpPr>
          <p:nvPr/>
        </p:nvSpPr>
        <p:spPr>
          <a:xfrm>
            <a:off x="7810500" y="3648075"/>
            <a:ext cx="3000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4623DB-5B43-4B5F-8503-01CC4277AA26}"/>
              </a:ext>
            </a:extLst>
          </p:cNvPr>
          <p:cNvSpPr>
            <a:spLocks noGrp="1"/>
          </p:cNvSpPr>
          <p:nvPr/>
        </p:nvSpPr>
        <p:spPr>
          <a:xfrm>
            <a:off x="7686675" y="35909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54E0F6-56C2-445D-851B-C4CE8A22D94F}"/>
              </a:ext>
            </a:extLst>
          </p:cNvPr>
          <p:cNvSpPr>
            <a:spLocks noGrp="1"/>
          </p:cNvSpPr>
          <p:nvPr/>
        </p:nvSpPr>
        <p:spPr>
          <a:xfrm>
            <a:off x="7762875" y="36671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189DFF-DB27-4C4E-81AA-DEA2C0732B98}"/>
              </a:ext>
            </a:extLst>
          </p:cNvPr>
          <p:cNvSpPr>
            <a:spLocks noGrp="1"/>
          </p:cNvSpPr>
          <p:nvPr/>
        </p:nvSpPr>
        <p:spPr>
          <a:xfrm>
            <a:off x="9234488" y="36385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E66DCA6-D9C6-4993-9873-F3BD7D354607}"/>
              </a:ext>
            </a:extLst>
          </p:cNvPr>
          <p:cNvSpPr>
            <a:spLocks noGrp="1"/>
          </p:cNvSpPr>
          <p:nvPr/>
        </p:nvSpPr>
        <p:spPr>
          <a:xfrm>
            <a:off x="9215438" y="3943350"/>
            <a:ext cx="190500" cy="1104900"/>
          </a:xfrm>
          <a:prstGeom prst="downArrow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03C443-28A9-4F9C-8FC9-C44CAE0100D0}"/>
              </a:ext>
            </a:extLst>
          </p:cNvPr>
          <p:cNvSpPr>
            <a:spLocks noGrp="1"/>
          </p:cNvSpPr>
          <p:nvPr/>
        </p:nvSpPr>
        <p:spPr>
          <a:xfrm>
            <a:off x="7810500" y="37147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428625" h="428625">
                <a:moveTo>
                  <a:pt x="0" y="428625"/>
                </a:moveTo>
                <a:cubicBezTo>
                  <a:pt x="236730" y="428625"/>
                  <a:pt x="428625" y="236730"/>
                  <a:pt x="428625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ED8FCB4-D76E-47AF-9063-60FB5C6A1FBD}"/>
              </a:ext>
            </a:extLst>
          </p:cNvPr>
          <p:cNvSpPr>
            <a:spLocks noGrp="1"/>
          </p:cNvSpPr>
          <p:nvPr/>
        </p:nvSpPr>
        <p:spPr>
          <a:xfrm>
            <a:off x="8172450" y="3629025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7994DE-C67B-44C6-AF25-5E56519229C0}"/>
              </a:ext>
            </a:extLst>
          </p:cNvPr>
          <p:cNvSpPr>
            <a:spLocks noGrp="1"/>
          </p:cNvSpPr>
          <p:nvPr/>
        </p:nvSpPr>
        <p:spPr>
          <a:xfrm>
            <a:off x="7553325" y="2695575"/>
            <a:ext cx="33813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Motor torque τ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BB616B-3814-4D0D-95B1-457666D5D156}"/>
              </a:ext>
            </a:extLst>
          </p:cNvPr>
          <p:cNvSpPr>
            <a:spLocks noGrp="1"/>
          </p:cNvSpPr>
          <p:nvPr/>
        </p:nvSpPr>
        <p:spPr>
          <a:xfrm>
            <a:off x="9525000" y="4410075"/>
            <a:ext cx="904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5E75D59-B292-4023-9764-EC08D0465620}"/>
              </a:ext>
            </a:extLst>
          </p:cNvPr>
          <p:cNvSpPr>
            <a:spLocks noGrp="1"/>
          </p:cNvSpPr>
          <p:nvPr/>
        </p:nvSpPr>
        <p:spPr>
          <a:xfrm>
            <a:off x="7810500" y="3286125"/>
            <a:ext cx="1500188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AAAFEDD0-E7D1-4001-B9E6-FB1A90329C36}"/>
              </a:ext>
            </a:extLst>
          </p:cNvPr>
          <p:cNvSpPr>
            <a:spLocks noGrp="1"/>
          </p:cNvSpPr>
          <p:nvPr/>
        </p:nvSpPr>
        <p:spPr>
          <a:xfrm>
            <a:off x="7810500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8F36FD2-C5B6-4557-8CF1-A20850622496}"/>
              </a:ext>
            </a:extLst>
          </p:cNvPr>
          <p:cNvSpPr>
            <a:spLocks noGrp="1"/>
          </p:cNvSpPr>
          <p:nvPr/>
        </p:nvSpPr>
        <p:spPr>
          <a:xfrm>
            <a:off x="9310688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66C720-BBCC-4278-A2F6-5CD8C11D5734}"/>
              </a:ext>
            </a:extLst>
          </p:cNvPr>
          <p:cNvSpPr>
            <a:spLocks noGrp="1"/>
          </p:cNvSpPr>
          <p:nvPr/>
        </p:nvSpPr>
        <p:spPr>
          <a:xfrm>
            <a:off x="8391525" y="2847975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r꜀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0F7921-5716-4A1C-9EB3-178DC1E80303}"/>
              </a:ext>
            </a:extLst>
          </p:cNvPr>
          <p:cNvSpPr>
            <a:spLocks noGrp="1"/>
          </p:cNvSpPr>
          <p:nvPr/>
        </p:nvSpPr>
        <p:spPr>
          <a:xfrm>
            <a:off x="7848600" y="53816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Horizontal hold</a:t>
            </a:r>
          </a:p>
        </p:txBody>
      </p:sp>
      <p:pic>
        <p:nvPicPr>
          <p:cNvPr id="24" name="Picture 23" descr="Torque equals inertia times angular acceleration plus viscous friction plus gravity torque">
            <a:extLst>
              <a:ext uri="{FF2B5EF4-FFF2-40B4-BE49-F238E27FC236}">
                <a16:creationId xmlns:a16="http://schemas.microsoft.com/office/drawing/2014/main" id="{FCF950A7-9514-2EB2-DD63-FE31FEB5B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26159"/>
            <a:ext cx="9602218" cy="127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85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F8E2963-1E52-4BF8-A280-6B7E42C43DBA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Q2: Holding at 30°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2FD54-0922-45EC-9C12-5D7AF6F92C3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6F9371-4567-40FD-82B7-31DD8F7597CF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 = 2 kg, r꜀ = 0.3 m, g = 10 m/s².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θ = 30°, θ̇ = 0, θ̈ = 0, what holding torque is required?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D83EDA-B0FA-454F-8035-EDB4AABB9341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0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8355A-C657-4E3D-A273-043D624B560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3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CF68B-A49C-42FA-AF15-A308C0B04DA9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6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3E3DD2-8DC7-4391-B6EE-43C2888E7C66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12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075A10-346F-47B7-A717-82DD9368325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Q2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0818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E32024-5339-48E5-9A42-7FE7EDB79AD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9C840C-5F35-4386-BB3B-C33FCA38295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AFA5A2-5229-47F8-89A2-0467079BD031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rest, inertia and viscous-friction terms are zero.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721B5A-E15C-4D49-905E-54369C3F3E6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torque depends on the arm’s orientation.</a:t>
            </a:r>
          </a:p>
        </p:txBody>
      </p:sp>
      <p:pic>
        <p:nvPicPr>
          <p:cNvPr id="8" name="Picture 7" descr="Holding torque calculation equals 3 newton meters">
            <a:extLst>
              <a:ext uri="{FF2B5EF4-FFF2-40B4-BE49-F238E27FC236}">
                <a16:creationId xmlns:a16="http://schemas.microsoft.com/office/drawing/2014/main" id="{69CC23F9-C2DC-0671-D476-5E1D4FA2D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11282"/>
            <a:ext cx="10715625" cy="90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8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7C4C7E-17C5-4BE2-826A-7DA53D4278B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point payload at the tip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5018B7-36A9-45DD-A5C4-6B359C2D14C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98A497-F176-4269-A7FD-56DC660C50DC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gravity coefficient becomes mgr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m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p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gL.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A4C63E-B9A4-42A0-9714-F76176A8994B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 m</a:t>
            </a:r>
            <a:r>
              <a:rPr lang="nn-NO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p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0.5 kg: I</a:t>
            </a:r>
            <a:r>
              <a:rPr lang="nn-NO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new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+ 0.18 = 0.42 kg·m².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55EF79-2E59-40A2-8D0F-73E29F8DF8CE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Required torque: 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τ = 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new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θ̈ + 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θ̇ + (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mgr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m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p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gL) sin 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9D8460-2E2D-4FE0-876A-B009BC058F7F}"/>
              </a:ext>
            </a:extLst>
          </p:cNvPr>
          <p:cNvSpPr>
            <a:spLocks noGrp="1"/>
          </p:cNvSpPr>
          <p:nvPr/>
        </p:nvSpPr>
        <p:spPr>
          <a:xfrm>
            <a:off x="8020050" y="296227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2026B1-F945-4729-81D6-171471FABA45}"/>
              </a:ext>
            </a:extLst>
          </p:cNvPr>
          <p:cNvSpPr>
            <a:spLocks noGrp="1"/>
          </p:cNvSpPr>
          <p:nvPr/>
        </p:nvSpPr>
        <p:spPr>
          <a:xfrm>
            <a:off x="7896225" y="29051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FCE3F9-F923-4276-A4F0-F06D0317D7F8}"/>
              </a:ext>
            </a:extLst>
          </p:cNvPr>
          <p:cNvSpPr>
            <a:spLocks noGrp="1"/>
          </p:cNvSpPr>
          <p:nvPr/>
        </p:nvSpPr>
        <p:spPr>
          <a:xfrm>
            <a:off x="7972425" y="29813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CA689E-575E-4555-B1B4-9BC1B0632F21}"/>
              </a:ext>
            </a:extLst>
          </p:cNvPr>
          <p:cNvSpPr>
            <a:spLocks noGrp="1"/>
          </p:cNvSpPr>
          <p:nvPr/>
        </p:nvSpPr>
        <p:spPr>
          <a:xfrm>
            <a:off x="9205913" y="29527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6CB804-2103-4BA9-A625-D2AD19DAEB19}"/>
              </a:ext>
            </a:extLst>
          </p:cNvPr>
          <p:cNvSpPr>
            <a:spLocks noGrp="1"/>
          </p:cNvSpPr>
          <p:nvPr/>
        </p:nvSpPr>
        <p:spPr>
          <a:xfrm>
            <a:off x="7905750" y="209550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Link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28ABDF-A1A9-4C7E-8BD0-54453A4432A3}"/>
              </a:ext>
            </a:extLst>
          </p:cNvPr>
          <p:cNvSpPr>
            <a:spLocks noGrp="1"/>
          </p:cNvSpPr>
          <p:nvPr/>
        </p:nvSpPr>
        <p:spPr>
          <a:xfrm>
            <a:off x="8048625" y="340042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τ</a:t>
            </a:r>
            <a:r>
              <a:rPr lang="en-US" sz="2025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387A4-0027-4111-9D2C-CE9BBBFA2578}"/>
              </a:ext>
            </a:extLst>
          </p:cNvPr>
          <p:cNvSpPr>
            <a:spLocks noGrp="1"/>
          </p:cNvSpPr>
          <p:nvPr/>
        </p:nvSpPr>
        <p:spPr>
          <a:xfrm>
            <a:off x="8020050" y="488632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A825C9-1725-4DB2-82B1-F86DA3C305EE}"/>
              </a:ext>
            </a:extLst>
          </p:cNvPr>
          <p:cNvSpPr>
            <a:spLocks noGrp="1"/>
          </p:cNvSpPr>
          <p:nvPr/>
        </p:nvSpPr>
        <p:spPr>
          <a:xfrm>
            <a:off x="7896225" y="482917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340B44-4FA4-44FD-9DC9-D9785DB1DE9B}"/>
              </a:ext>
            </a:extLst>
          </p:cNvPr>
          <p:cNvSpPr>
            <a:spLocks noGrp="1"/>
          </p:cNvSpPr>
          <p:nvPr/>
        </p:nvSpPr>
        <p:spPr>
          <a:xfrm>
            <a:off x="7972425" y="490537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B7A1429-1B47-43FE-AD10-A6CD0DADB278}"/>
              </a:ext>
            </a:extLst>
          </p:cNvPr>
          <p:cNvSpPr>
            <a:spLocks noGrp="1"/>
          </p:cNvSpPr>
          <p:nvPr/>
        </p:nvSpPr>
        <p:spPr>
          <a:xfrm>
            <a:off x="9205913" y="487680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211588-ECD7-4012-84F2-B2F88D1B1156}"/>
              </a:ext>
            </a:extLst>
          </p:cNvPr>
          <p:cNvSpPr>
            <a:spLocks noGrp="1"/>
          </p:cNvSpPr>
          <p:nvPr/>
        </p:nvSpPr>
        <p:spPr>
          <a:xfrm>
            <a:off x="10363200" y="4743450"/>
            <a:ext cx="400050" cy="419100"/>
          </a:xfrm>
          <a:prstGeom prst="rect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EC1DAE-0ED0-44E2-A4C4-CC783B128552}"/>
              </a:ext>
            </a:extLst>
          </p:cNvPr>
          <p:cNvSpPr>
            <a:spLocks noGrp="1"/>
          </p:cNvSpPr>
          <p:nvPr/>
        </p:nvSpPr>
        <p:spPr>
          <a:xfrm>
            <a:off x="7781925" y="40100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0.5 kg at the tip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7C377D-848E-4C4C-BA6C-898A9C0A980B}"/>
              </a:ext>
            </a:extLst>
          </p:cNvPr>
          <p:cNvSpPr>
            <a:spLocks noGrp="1"/>
          </p:cNvSpPr>
          <p:nvPr/>
        </p:nvSpPr>
        <p:spPr>
          <a:xfrm>
            <a:off x="8048625" y="53911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τ</a:t>
            </a:r>
            <a:r>
              <a:rPr lang="en-US" sz="2025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2" name="Picture 21" descr="New inertia equals link inertia plus payload mass times link length squared">
            <a:extLst>
              <a:ext uri="{FF2B5EF4-FFF2-40B4-BE49-F238E27FC236}">
                <a16:creationId xmlns:a16="http://schemas.microsoft.com/office/drawing/2014/main" id="{0DDDCE8A-BC84-8473-434B-8242FFC20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476190"/>
            <a:ext cx="7807574" cy="157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27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9E852A-4D5C-4DFF-8D3F-C7EA9BD60A9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1: Holding torque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60634C-94D4-4B3B-A20B-A8927AEB7A4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F6CA345B-13E1-432D-8765-CD45218337B5}"/>
              </a:ext>
            </a:extLst>
          </p:cNvPr>
          <p:cNvGraphicFramePr/>
          <p:nvPr/>
        </p:nvGraphicFramePr>
        <p:xfrm>
          <a:off x="666750" y="1762125"/>
          <a:ext cx="6191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4E3D37-CB55-4509-BF4F-D8FC2E33D9A5}"/>
              </a:ext>
            </a:extLst>
          </p:cNvPr>
          <p:cNvSpPr>
            <a:spLocks noGrp="1"/>
          </p:cNvSpPr>
          <p:nvPr/>
        </p:nvSpPr>
        <p:spPr>
          <a:xfrm>
            <a:off x="7239000" y="1714500"/>
            <a:ext cx="419100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1 in the notebook.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torque at 0°, 30°, 90°, 180°.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Compare payload cases and explain the curve.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BFBF3-E5B4-475A-A525-04060C07523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8 minutes · Submit your plot and a two-sentence explanation</a:t>
            </a:r>
          </a:p>
        </p:txBody>
      </p:sp>
    </p:spTree>
    <p:extLst>
      <p:ext uri="{BB962C8B-B14F-4D97-AF65-F5344CB8AC3E}">
        <p14:creationId xmlns:p14="http://schemas.microsoft.com/office/powerpoint/2010/main" val="1219800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6C58FC-F359-4BE1-BAF8-2588E3F334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Kinetic and potential energy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5980FE-A35D-4D13-9AF8-488ED31803BD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6F9DC-BDBA-444A-912E-F7B0F631F744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Kinetic energy measures motion.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F8A460-A21E-490C-AB5F-7E11BD6DB377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Potential energy measures height relative to the lowest position.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6906D2-AC6B-4190-8A89-08AE6D32DEF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Lagrangian is ℒ = T − V.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C57682-2BA9-4549-8B2E-959981BDF199}"/>
              </a:ext>
            </a:extLst>
          </p:cNvPr>
          <p:cNvSpPr>
            <a:spLocks noGrp="1"/>
          </p:cNvSpPr>
          <p:nvPr/>
        </p:nvSpPr>
        <p:spPr>
          <a:xfrm>
            <a:off x="7886700" y="2638425"/>
            <a:ext cx="133350" cy="2143125"/>
          </a:xfrm>
          <a:prstGeom prst="rect">
            <a:avLst/>
          </a:prstGeom>
          <a:solidFill>
            <a:srgbClr val="9AA7B4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223503-CD3E-41A4-AF20-1F373A8E3070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C3CB13-8816-43D8-8735-730BE8E69674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01E1E3-97D3-4943-8DAB-75BCC6DB9329}"/>
              </a:ext>
            </a:extLst>
          </p:cNvPr>
          <p:cNvSpPr>
            <a:spLocks noGrp="1"/>
          </p:cNvSpPr>
          <p:nvPr/>
        </p:nvSpPr>
        <p:spPr>
          <a:xfrm>
            <a:off x="7877175" y="363378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95ABB-44B1-49DA-B0E2-B4BB3F125861}"/>
              </a:ext>
            </a:extLst>
          </p:cNvPr>
          <p:cNvSpPr>
            <a:spLocks noGrp="1"/>
          </p:cNvSpPr>
          <p:nvPr/>
        </p:nvSpPr>
        <p:spPr>
          <a:xfrm>
            <a:off x="7953375" y="2571750"/>
            <a:ext cx="2143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BCEB024-1DE8-46CB-B4CD-0F63856E4BC1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1C7C31-697B-4441-B3A5-56F953D4441B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01CDBF-772C-45C7-B33C-51264492B847}"/>
              </a:ext>
            </a:extLst>
          </p:cNvPr>
          <p:cNvSpPr>
            <a:spLocks noGrp="1"/>
          </p:cNvSpPr>
          <p:nvPr/>
        </p:nvSpPr>
        <p:spPr>
          <a:xfrm>
            <a:off x="8948738" y="256222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F26BBBF-5867-40C4-8562-711C27AA9BC4}"/>
              </a:ext>
            </a:extLst>
          </p:cNvPr>
          <p:cNvSpPr>
            <a:spLocks noGrp="1"/>
          </p:cNvSpPr>
          <p:nvPr/>
        </p:nvSpPr>
        <p:spPr>
          <a:xfrm>
            <a:off x="9024938" y="2638425"/>
            <a:ext cx="17621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75574CD-4805-4FA8-ACC1-835A418F19DE}"/>
              </a:ext>
            </a:extLst>
          </p:cNvPr>
          <p:cNvSpPr>
            <a:spLocks noGrp="1"/>
          </p:cNvSpPr>
          <p:nvPr/>
        </p:nvSpPr>
        <p:spPr>
          <a:xfrm>
            <a:off x="7953375" y="3709988"/>
            <a:ext cx="28289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EDCD91D-0D39-49D3-AF77-526E5D4E6BD7}"/>
              </a:ext>
            </a:extLst>
          </p:cNvPr>
          <p:cNvSpPr>
            <a:spLocks noGrp="1"/>
          </p:cNvSpPr>
          <p:nvPr/>
        </p:nvSpPr>
        <p:spPr>
          <a:xfrm>
            <a:off x="10572750" y="2638425"/>
            <a:ext cx="0" cy="1071563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E2CE338-34C6-4B32-B5BF-2A3E048459C5}"/>
              </a:ext>
            </a:extLst>
          </p:cNvPr>
          <p:cNvSpPr>
            <a:spLocks noGrp="1"/>
          </p:cNvSpPr>
          <p:nvPr/>
        </p:nvSpPr>
        <p:spPr>
          <a:xfrm>
            <a:off x="10458450" y="2638425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EAD9AE7-C510-41E5-82B6-7FC9212D802C}"/>
              </a:ext>
            </a:extLst>
          </p:cNvPr>
          <p:cNvSpPr>
            <a:spLocks noGrp="1"/>
          </p:cNvSpPr>
          <p:nvPr/>
        </p:nvSpPr>
        <p:spPr>
          <a:xfrm>
            <a:off x="10458450" y="3709988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575012-1482-401E-8E17-28C14BAE82E6}"/>
              </a:ext>
            </a:extLst>
          </p:cNvPr>
          <p:cNvSpPr>
            <a:spLocks noGrp="1"/>
          </p:cNvSpPr>
          <p:nvPr/>
        </p:nvSpPr>
        <p:spPr>
          <a:xfrm>
            <a:off x="9439275" y="3038475"/>
            <a:ext cx="1809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l-GR"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Δ</a:t>
            </a:r>
            <a:r>
              <a:rPr lang="en-US"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h = r</a:t>
            </a:r>
            <a:r>
              <a:rPr lang="en-US" sz="1950" b="1" baseline="-25000">
                <a:solidFill>
                  <a:srgbClr val="17324D"/>
                </a:solidFill>
                <a:latin typeface="Aptos"/>
                <a:ea typeface="Aptos"/>
                <a:cs typeface="Aptos"/>
              </a:rPr>
              <a:t>c</a:t>
            </a:r>
            <a:endParaRPr sz="1950" b="1" baseline="-25000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5E9ED9-78BF-4D64-B4D3-CFCEB42BDDD7}"/>
              </a:ext>
            </a:extLst>
          </p:cNvPr>
          <p:cNvSpPr>
            <a:spLocks noGrp="1"/>
          </p:cNvSpPr>
          <p:nvPr/>
        </p:nvSpPr>
        <p:spPr>
          <a:xfrm>
            <a:off x="8515350" y="2038350"/>
            <a:ext cx="2190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90°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A0B7C4-32B3-44AB-820B-CF0A95523A04}"/>
              </a:ext>
            </a:extLst>
          </p:cNvPr>
          <p:cNvSpPr>
            <a:spLocks noGrp="1"/>
          </p:cNvSpPr>
          <p:nvPr/>
        </p:nvSpPr>
        <p:spPr>
          <a:xfrm>
            <a:off x="7334250" y="4943475"/>
            <a:ext cx="1905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θ = 0°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59F6C4-A5A3-4D6D-AF55-F9EABD1A1C44}"/>
              </a:ext>
            </a:extLst>
          </p:cNvPr>
          <p:cNvSpPr>
            <a:spLocks noGrp="1"/>
          </p:cNvSpPr>
          <p:nvPr/>
        </p:nvSpPr>
        <p:spPr>
          <a:xfrm>
            <a:off x="7419975" y="5667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COM rises by r</a:t>
            </a:r>
            <a:r>
              <a:rPr lang="en-US" sz="18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at 90°.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6" name="Picture 25" descr="Kinetic and potential energy equations">
            <a:extLst>
              <a:ext uri="{FF2B5EF4-FFF2-40B4-BE49-F238E27FC236}">
                <a16:creationId xmlns:a16="http://schemas.microsoft.com/office/drawing/2014/main" id="{4A23D7D2-6268-B2D6-82C9-8855BFFC4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904133"/>
            <a:ext cx="6371369" cy="71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47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091423-3358-4B91-961E-ED76558491D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Partial derivatives in the energy method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6D387-D29B-405C-A1A9-25F7E4CE138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9" name="Picture 8" descr="Euler Lagrange torque equation with viscous friction">
            <a:extLst>
              <a:ext uri="{FF2B5EF4-FFF2-40B4-BE49-F238E27FC236}">
                <a16:creationId xmlns:a16="http://schemas.microsoft.com/office/drawing/2014/main" id="{D18F424A-0252-196F-D5EC-910F3D8F2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06297"/>
            <a:ext cx="3441666" cy="626030"/>
          </a:xfrm>
          <a:prstGeom prst="rect">
            <a:avLst/>
          </a:prstGeom>
        </p:spPr>
      </p:pic>
      <p:pic>
        <p:nvPicPr>
          <p:cNvPr id="11" name="Picture 10" descr="Partial derivative of the Lagrangian with respect to angular velocity and its time derivative">
            <a:extLst>
              <a:ext uri="{FF2B5EF4-FFF2-40B4-BE49-F238E27FC236}">
                <a16:creationId xmlns:a16="http://schemas.microsoft.com/office/drawing/2014/main" id="{61EF155A-D9DC-1905-7C7E-EA3A3489D7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35048"/>
            <a:ext cx="3807099" cy="626029"/>
          </a:xfrm>
          <a:prstGeom prst="rect">
            <a:avLst/>
          </a:prstGeom>
        </p:spPr>
      </p:pic>
      <p:pic>
        <p:nvPicPr>
          <p:cNvPr id="13" name="Picture 12" descr="Partial derivative of the Lagrangian with respect to angle">
            <a:extLst>
              <a:ext uri="{FF2B5EF4-FFF2-40B4-BE49-F238E27FC236}">
                <a16:creationId xmlns:a16="http://schemas.microsoft.com/office/drawing/2014/main" id="{E34FD7C3-7F91-BD2F-8C4A-50B81875C4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28858"/>
            <a:ext cx="3936698" cy="743410"/>
          </a:xfrm>
          <a:prstGeom prst="rect">
            <a:avLst/>
          </a:prstGeom>
        </p:spPr>
      </p:pic>
      <p:pic>
        <p:nvPicPr>
          <p:cNvPr id="15" name="Picture 14" descr="Resulting one-link torque equation">
            <a:extLst>
              <a:ext uri="{FF2B5EF4-FFF2-40B4-BE49-F238E27FC236}">
                <a16:creationId xmlns:a16="http://schemas.microsoft.com/office/drawing/2014/main" id="{C1E57924-54F8-9F9A-AE60-CA2740E5EA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5079233"/>
            <a:ext cx="5643755" cy="74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F49AB2-6B11-4305-BC83-B27D48A9170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Forward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ECEC2F-CBCC-4913-AD40-54CB4313F05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76EFA-4499-4D58-99A7-2D957C8669AE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Inverse dynamics: known motion, calculate required torque.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B1B1E-9DBC-481C-8660-6A5F41162A6C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Forward dynamics: known torque and state, calculate acceleration.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9C74E4-CE42-4F3E-A0FF-B83E80A1B6F1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simulation integrates acceleration to update velocity and angle.</a:t>
            </a:r>
          </a:p>
        </p:txBody>
      </p:sp>
      <p:pic>
        <p:nvPicPr>
          <p:cNvPr id="9" name="Picture 8" descr="Angular acceleration from forward dynamics">
            <a:extLst>
              <a:ext uri="{FF2B5EF4-FFF2-40B4-BE49-F238E27FC236}">
                <a16:creationId xmlns:a16="http://schemas.microsoft.com/office/drawing/2014/main" id="{2E461BF3-C9B7-80C5-85FE-5B3D603A1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01069"/>
            <a:ext cx="6055115" cy="132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30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40045C-42D9-44D2-9361-0198697C209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Q3: The released arm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1571FC-3A80-4EC4-B06E-AD111C824B83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13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B639B6-21EF-4B8B-970F-8BE0D3095B97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 = 0.24 kg·m², mgr꜀ = 6 N·m.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Release at θ = 30° with θ̇ = 0 and τ = 0. What is the initial acceleration?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B8371-F58D-4E4F-B9F9-7833FADD816F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-12.5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347495-0E99-41F2-83DE-1B1EE747618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0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DA796-0741-4784-8597-BCC911D977C8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+12.5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57468A-FED7-4F4B-BA4B-0B0311AB91DD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-25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72F9CB-9EF2-426E-83DC-07A6434D721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Q3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49954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56F188-46F7-411A-99A3-3DB7886B623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 answer: 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C7DA95-E6E1-4C3E-BEAC-6F26D7BC6CF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8CE88B-7679-430A-AFCD-767B4CFD4AE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negative acceleration initially moves the arm toward θ = 0.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F12B0-C1A9-4E2E-8265-46D4E4073B00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release, viscous-friction torque is zero because velocity is zero.</a:t>
            </a:r>
          </a:p>
        </p:txBody>
      </p:sp>
      <p:pic>
        <p:nvPicPr>
          <p:cNvPr id="8" name="Picture 7" descr="Released-arm angular acceleration equals negative 12.5 radians per second squared">
            <a:extLst>
              <a:ext uri="{FF2B5EF4-FFF2-40B4-BE49-F238E27FC236}">
                <a16:creationId xmlns:a16="http://schemas.microsoft.com/office/drawing/2014/main" id="{400742FC-71EF-2945-DE10-8D5FA1F1B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10751"/>
            <a:ext cx="10715625" cy="130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99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14A26A-ED3A-447D-95C8-250B1DD181F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preview of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DBBAFA-22B1-46B7-A472-1DA5C7636E9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73F89-2F8C-4BC3-8D8E-BE2801B65E64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Move from θ₀ = 0 to θ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π/2, with zero endpoint velocity.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9" name="Picture 8" descr="Cubic rest-to-rest joint trajectory">
            <a:extLst>
              <a:ext uri="{FF2B5EF4-FFF2-40B4-BE49-F238E27FC236}">
                <a16:creationId xmlns:a16="http://schemas.microsoft.com/office/drawing/2014/main" id="{7D0AB4FC-304A-F45F-FE36-B69B67C51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25895"/>
            <a:ext cx="10715625" cy="1072584"/>
          </a:xfrm>
          <a:prstGeom prst="rect">
            <a:avLst/>
          </a:prstGeom>
        </p:spPr>
      </p:pic>
      <p:pic>
        <p:nvPicPr>
          <p:cNvPr id="11" name="Picture 10" descr="Joint velocity for the cubic trajectory">
            <a:extLst>
              <a:ext uri="{FF2B5EF4-FFF2-40B4-BE49-F238E27FC236}">
                <a16:creationId xmlns:a16="http://schemas.microsoft.com/office/drawing/2014/main" id="{5FE229DC-B556-E48D-02FA-6E69350DC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60189"/>
            <a:ext cx="2422882" cy="480496"/>
          </a:xfrm>
          <a:prstGeom prst="rect">
            <a:avLst/>
          </a:prstGeom>
        </p:spPr>
      </p:pic>
      <p:pic>
        <p:nvPicPr>
          <p:cNvPr id="13" name="Picture 12" descr="Joint acceleration for the cubic trajectory">
            <a:extLst>
              <a:ext uri="{FF2B5EF4-FFF2-40B4-BE49-F238E27FC236}">
                <a16:creationId xmlns:a16="http://schemas.microsoft.com/office/drawing/2014/main" id="{3CA64489-C2DE-0C88-4539-D156273390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55574"/>
            <a:ext cx="1637759" cy="40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96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346832-2131-4262-9C36-A7CB0F8B6949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Q4: The same motion in half the time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A2C5CB-B8B6-4C7D-9563-7AB21638565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7D0622-A955-48DC-B22C-1AA758C2DB61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cubic rest-to-rest motion takes 1 s instead of 2 s.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How do peak absolute velocity and acceleration change?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DB3DA3-DF43-4158-B457-8F8B6C06FD2C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Velocity ×2,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F96AB2-4CF1-4185-986A-272B872554A0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Velocity ×2, acceleration ×4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C7E6C7-AC14-4256-998C-D6983C99EDCB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Velocity ×4,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6D634-2E91-4AA0-A43E-D3E5060F7B34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Both unchanged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EC3010-4480-4E45-AED2-85BEF8899BE3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Q4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64239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01F7C1-2F3F-45FC-84A2-EF017331974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1456A-811A-4239-A8CC-614243CF9D58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CD4E6-81E1-4987-A313-D9271E8D615A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Velocity scales as 1/T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, and acceleration as 1/T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B34B54-3F48-4557-A36B-3DF723639AF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torque quadruples. Total torque need not quadruple.</a:t>
            </a:r>
          </a:p>
        </p:txBody>
      </p:sp>
      <p:pic>
        <p:nvPicPr>
          <p:cNvPr id="8" name="Picture 7" descr="Peak velocity doubles and peak acceleration quadruples">
            <a:extLst>
              <a:ext uri="{FF2B5EF4-FFF2-40B4-BE49-F238E27FC236}">
                <a16:creationId xmlns:a16="http://schemas.microsoft.com/office/drawing/2014/main" id="{F5E3B096-585A-2FCA-9FB8-39BD5BB0E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46208"/>
            <a:ext cx="10715625" cy="83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14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3114F3-8787-40F8-A1F3-18A049AAED6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2: Motion time and torque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71910-5C65-4BA4-BCC9-724EEF50BB3F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18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4AC9D1-BBB1-483A-83BB-7C64F334CAF3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2. Compare 0° to 90° motions in 2 s and 1 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0E1371-07B4-4C60-AB50-9E0EC5A827F2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peak |θ̇|, |θ̈|, inertial torque and total torque.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81624-6C21-43A5-9BCF-4C8CFBC7BF44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Check a ±6 N·m joint torque limit, including the final hold.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A26469-1227-4981-A066-352115A5C9F3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Repeat with a 0.5 kg tip payload. Explain whether slowing helps.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832C0-D83B-4F17-958C-520073A8E04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 minutes · Submit plots, peak values, and a feasibility conclusion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59928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FCC1C5-866D-4759-BDE1-FF4CA53FFD13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Motion-time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C4E786-1A37-406E-A47F-285337C7FED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5522E6B8-6850-48BB-A1CC-F862D788A470}"/>
              </a:ext>
            </a:extLst>
          </p:cNvPr>
          <p:cNvGraphicFramePr/>
          <p:nvPr/>
        </p:nvGraphicFramePr>
        <p:xfrm>
          <a:off x="666750" y="1666875"/>
          <a:ext cx="66675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82551AD-B806-44A9-B079-E2E7D60427DF}"/>
              </a:ext>
            </a:extLst>
          </p:cNvPr>
          <p:cNvSpPr>
            <a:spLocks noGrp="1"/>
          </p:cNvSpPr>
          <p:nvPr/>
        </p:nvSpPr>
        <p:spPr>
          <a:xfrm>
            <a:off x="7715250" y="1666875"/>
            <a:ext cx="3667125" cy="3619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the same s:</a:t>
            </a:r>
          </a:p>
          <a:p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term is unchanged.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Friction term doubles.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term quadruples.</a:t>
            </a:r>
          </a:p>
          <a:p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payload needs 9 N m at the final hold.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BE040-B6AC-4F25-B579-670FBDD8BD9A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No payload · Both motions reach the same final pose</a:t>
            </a:r>
          </a:p>
        </p:txBody>
      </p:sp>
    </p:spTree>
    <p:extLst>
      <p:ext uri="{BB962C8B-B14F-4D97-AF65-F5344CB8AC3E}">
        <p14:creationId xmlns:p14="http://schemas.microsoft.com/office/powerpoint/2010/main" val="2127077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E42669E-5342-4690-9963-13B37EDF4D5C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Next: Chapter 7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51DC9B-D3C8-403C-A470-792EC08E3D7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522E5-731C-4701-B43A-8D729D026077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Kinematics selects the joint configuration.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2BBE15-0893-4C5F-95C0-BD781EAD8E2F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Trajectory generation specifies how that configuration changes over time.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058BB-B230-4820-A63D-06F468C24B33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Dynamics checks the torque required for that motion.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BD917C-5797-42B6-BEAF-D35C8D64A556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Feedback control helps the real robot follow the desired trajectory.</a:t>
            </a:r>
          </a:p>
        </p:txBody>
      </p:sp>
    </p:spTree>
    <p:extLst>
      <p:ext uri="{BB962C8B-B14F-4D97-AF65-F5344CB8AC3E}">
        <p14:creationId xmlns:p14="http://schemas.microsoft.com/office/powerpoint/2010/main" val="13012996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2467</Words>
  <Application>Microsoft Office PowerPoint</Application>
  <DocSecurity>0</DocSecurity>
  <PresentationFormat>Widescreen</PresentationFormat>
  <Paragraphs>185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Hoan Ngo</cp:lastModifiedBy>
  <cp:revision>3</cp:revision>
  <dcterms:created xsi:type="dcterms:W3CDTF">2026-10-14T01:12:54Z</dcterms:created>
  <dcterms:modified xsi:type="dcterms:W3CDTF">2026-10-14T10:59:27Z</dcterms:modified>
</cp:coreProperties>
</file>