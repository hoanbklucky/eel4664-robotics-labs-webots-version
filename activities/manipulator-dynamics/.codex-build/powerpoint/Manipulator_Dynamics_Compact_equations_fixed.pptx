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 payload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1.0418890700000001</c:v>
                </c:pt>
                <c:pt idx="2">
                  <c:v>2.05212086</c:v>
                </c:pt>
                <c:pt idx="3">
                  <c:v>3</c:v>
                </c:pt>
                <c:pt idx="4">
                  <c:v>3.8567256599999999</c:v>
                </c:pt>
                <c:pt idx="5">
                  <c:v>4.5962666600000004</c:v>
                </c:pt>
                <c:pt idx="6">
                  <c:v>5.1961524199999998</c:v>
                </c:pt>
                <c:pt idx="7">
                  <c:v>5.6381557200000003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5.6381557200000003</c:v>
                </c:pt>
                <c:pt idx="12">
                  <c:v>5.1961524199999998</c:v>
                </c:pt>
                <c:pt idx="13">
                  <c:v>4.5962666600000004</c:v>
                </c:pt>
                <c:pt idx="14">
                  <c:v>3.8567256599999999</c:v>
                </c:pt>
                <c:pt idx="15">
                  <c:v>3</c:v>
                </c:pt>
                <c:pt idx="16">
                  <c:v>2.05212086</c:v>
                </c:pt>
                <c:pt idx="17">
                  <c:v>1.0418890700000001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239-457E-992C-623DD69C18EE}"/>
            </c:ext>
          </c:extLst>
        </c:ser>
        <c:ser>
          <c:idx val="1"/>
          <c:order val="1"/>
          <c:tx>
            <c:v>0.5 kg payload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3.0781812899999998</c:v>
                </c:pt>
                <c:pt idx="3">
                  <c:v>4.5</c:v>
                </c:pt>
                <c:pt idx="4">
                  <c:v>5.7850884899999997</c:v>
                </c:pt>
                <c:pt idx="5">
                  <c:v>6.8943999900000001</c:v>
                </c:pt>
                <c:pt idx="6">
                  <c:v>7.7942286300000001</c:v>
                </c:pt>
                <c:pt idx="7">
                  <c:v>8.4572335899999995</c:v>
                </c:pt>
                <c:pt idx="8">
                  <c:v>8.8632697799999995</c:v>
                </c:pt>
                <c:pt idx="9">
                  <c:v>9</c:v>
                </c:pt>
                <c:pt idx="10">
                  <c:v>8.8632697799999995</c:v>
                </c:pt>
                <c:pt idx="11">
                  <c:v>8.4572335899999995</c:v>
                </c:pt>
                <c:pt idx="12">
                  <c:v>7.7942286300000001</c:v>
                </c:pt>
                <c:pt idx="13">
                  <c:v>6.8943999900000001</c:v>
                </c:pt>
                <c:pt idx="14">
                  <c:v>5.7850884899999997</c:v>
                </c:pt>
                <c:pt idx="15">
                  <c:v>4.5</c:v>
                </c:pt>
                <c:pt idx="16">
                  <c:v>3.0781812899999998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239-457E-992C-623DD69C18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Holding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Angle from downward vertical (deg)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2 s motion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0.56548668000000002</c:v>
                </c:pt>
                <c:pt idx="1">
                  <c:v>0.56607569999999996</c:v>
                </c:pt>
                <c:pt idx="2">
                  <c:v>0.59965002000000001</c:v>
                </c:pt>
                <c:pt idx="3">
                  <c:v>0.66443087999999995</c:v>
                </c:pt>
                <c:pt idx="4">
                  <c:v>0.75860954999999997</c:v>
                </c:pt>
                <c:pt idx="5">
                  <c:v>0.88032027999999996</c:v>
                </c:pt>
                <c:pt idx="6">
                  <c:v>1.0276103299999999</c:v>
                </c:pt>
                <c:pt idx="7">
                  <c:v>1.1984110800000001</c:v>
                </c:pt>
                <c:pt idx="8">
                  <c:v>1.3905132200000001</c:v>
                </c:pt>
                <c:pt idx="9">
                  <c:v>1.6015487500000001</c:v>
                </c:pt>
                <c:pt idx="10">
                  <c:v>1.8289817100000001</c:v>
                </c:pt>
                <c:pt idx="11">
                  <c:v>2.07010899</c:v>
                </c:pt>
                <c:pt idx="12">
                  <c:v>2.3220721100000001</c:v>
                </c:pt>
                <c:pt idx="13">
                  <c:v>2.5818800099999999</c:v>
                </c:pt>
                <c:pt idx="14">
                  <c:v>2.8464425699999998</c:v>
                </c:pt>
                <c:pt idx="15">
                  <c:v>3.11261367</c:v>
                </c:pt>
                <c:pt idx="16">
                  <c:v>3.3772424499999998</c:v>
                </c:pt>
                <c:pt idx="17">
                  <c:v>3.6372307099999999</c:v>
                </c:pt>
                <c:pt idx="18">
                  <c:v>3.8895940599999999</c:v>
                </c:pt>
                <c:pt idx="19">
                  <c:v>4.1315243199999996</c:v>
                </c:pt>
                <c:pt idx="20">
                  <c:v>4.3604504100000003</c:v>
                </c:pt>
                <c:pt idx="21">
                  <c:v>4.5740951799999996</c:v>
                </c:pt>
                <c:pt idx="22">
                  <c:v>4.7705254799999999</c:v>
                </c:pt>
                <c:pt idx="23">
                  <c:v>4.9481934000000001</c:v>
                </c:pt>
                <c:pt idx="24">
                  <c:v>5.1059668900000004</c:v>
                </c:pt>
                <c:pt idx="25">
                  <c:v>5.2431483099999996</c:v>
                </c:pt>
                <c:pt idx="26">
                  <c:v>5.3594801299999997</c:v>
                </c:pt>
                <c:pt idx="27">
                  <c:v>5.4551376300000003</c:v>
                </c:pt>
                <c:pt idx="28">
                  <c:v>5.5307087099999999</c:v>
                </c:pt>
                <c:pt idx="29">
                  <c:v>5.58716159</c:v>
                </c:pt>
                <c:pt idx="30">
                  <c:v>5.6258014699999999</c:v>
                </c:pt>
                <c:pt idx="31">
                  <c:v>5.6482175699999999</c:v>
                </c:pt>
                <c:pt idx="32">
                  <c:v>5.6562218800000004</c:v>
                </c:pt>
                <c:pt idx="33">
                  <c:v>5.6517813600000002</c:v>
                </c:pt>
                <c:pt idx="34">
                  <c:v>5.6369447199999998</c:v>
                </c:pt>
                <c:pt idx="35">
                  <c:v>5.6137651499999999</c:v>
                </c:pt>
                <c:pt idx="36">
                  <c:v>5.5842197699999998</c:v>
                </c:pt>
                <c:pt idx="37">
                  <c:v>5.5501262499999999</c:v>
                </c:pt>
                <c:pt idx="38">
                  <c:v>5.5130567599999996</c:v>
                </c:pt>
                <c:pt idx="39">
                  <c:v>5.4742489399999998</c:v>
                </c:pt>
                <c:pt idx="40">
                  <c:v>5.4345133199999998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227-4ADB-B225-9D0D7CA54ADF}"/>
            </c:ext>
          </c:extLst>
        </c:ser>
        <c:ser>
          <c:idx val="1"/>
          <c:order val="1"/>
          <c:tx>
            <c:v>1 s motion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2.2619467100000001</c:v>
                </c:pt>
                <c:pt idx="1">
                  <c:v>2.1891991800000001</c:v>
                </c:pt>
                <c:pt idx="2">
                  <c:v>2.1488478999999998</c:v>
                </c:pt>
                <c:pt idx="3">
                  <c:v>2.1391141</c:v>
                </c:pt>
                <c:pt idx="4">
                  <c:v>2.1581890800000001</c:v>
                </c:pt>
                <c:pt idx="5">
                  <c:v>2.2042070599999999</c:v>
                </c:pt>
                <c:pt idx="6">
                  <c:v>2.27521532</c:v>
                </c:pt>
                <c:pt idx="7">
                  <c:v>2.3691452200000001</c:v>
                </c:pt>
                <c:pt idx="8">
                  <c:v>2.4837874599999998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2.9274692600000001</c:v>
                </c:pt>
                <c:pt idx="12">
                  <c:v>3.0996162900000002</c:v>
                </c:pt>
                <c:pt idx="13">
                  <c:v>3.27901906</c:v>
                </c:pt>
                <c:pt idx="14">
                  <c:v>3.4625874300000001</c:v>
                </c:pt>
                <c:pt idx="15">
                  <c:v>3.6471752899999998</c:v>
                </c:pt>
                <c:pt idx="16">
                  <c:v>3.8296317900000001</c:v>
                </c:pt>
                <c:pt idx="17">
                  <c:v>4.0068587200000003</c:v>
                </c:pt>
                <c:pt idx="18">
                  <c:v>4.1758716900000001</c:v>
                </c:pt>
                <c:pt idx="19">
                  <c:v>4.3338625200000003</c:v>
                </c:pt>
                <c:pt idx="20">
                  <c:v>4.4782601399999997</c:v>
                </c:pt>
                <c:pt idx="21">
                  <c:v>4.6067873800000001</c:v>
                </c:pt>
                <c:pt idx="22">
                  <c:v>4.7175111000000003</c:v>
                </c:pt>
                <c:pt idx="23">
                  <c:v>4.8088834</c:v>
                </c:pt>
                <c:pt idx="24">
                  <c:v>4.8797722200000004</c:v>
                </c:pt>
                <c:pt idx="25">
                  <c:v>4.9294799100000004</c:v>
                </c:pt>
                <c:pt idx="26">
                  <c:v>4.9577489699999999</c:v>
                </c:pt>
                <c:pt idx="27">
                  <c:v>4.9647546499999997</c:v>
                </c:pt>
                <c:pt idx="28">
                  <c:v>4.9510848699999999</c:v>
                </c:pt>
                <c:pt idx="29">
                  <c:v>4.9177078300000003</c:v>
                </c:pt>
                <c:pt idx="30">
                  <c:v>4.8659287500000001</c:v>
                </c:pt>
                <c:pt idx="31">
                  <c:v>4.7973368299999999</c:v>
                </c:pt>
                <c:pt idx="32">
                  <c:v>4.7137440899999996</c:v>
                </c:pt>
                <c:pt idx="33">
                  <c:v>4.6171174500000003</c:v>
                </c:pt>
                <c:pt idx="34">
                  <c:v>4.5095056500000004</c:v>
                </c:pt>
                <c:pt idx="35">
                  <c:v>4.3929618799999997</c:v>
                </c:pt>
                <c:pt idx="36">
                  <c:v>4.2694632400000003</c:v>
                </c:pt>
                <c:pt idx="37">
                  <c:v>4.1408274199999999</c:v>
                </c:pt>
                <c:pt idx="38">
                  <c:v>4.0086265799999996</c:v>
                </c:pt>
                <c:pt idx="39">
                  <c:v>3.8740983600000001</c:v>
                </c:pt>
                <c:pt idx="40">
                  <c:v>3.7380532899999999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227-4ADB-B225-9D0D7CA54A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Required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Normalized time s = t/Tf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θ and τ: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        L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 = L/2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L/2.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I_COM = mL²/12. About the joint, I_joint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Graphic 8" descr="I equals one third m L squared, evaluated as 0.24 kilogram meter squared">
            <a:extLst>
              <a:ext uri="{FF2B5EF4-FFF2-40B4-BE49-F238E27FC236}">
                <a16:creationId xmlns:a16="http://schemas.microsoft.com/office/drawing/2014/main" id="{A6396BFE-7B9D-4A1B-0DDF-FB2A5510C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420472"/>
            <a:ext cx="18546274" cy="168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Iθ̈: acceleration torque       bθ̇: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mgr_c sin θ: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I = 0.24 kg·m² and b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τ = mgr_c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Graphic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7953D723-4625-1380-17FD-5FE93BF60A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572964"/>
            <a:ext cx="10412200" cy="137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kg, r꜀ = 0.3 m, g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θ = 30°, θ̇ = 0, θ̈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Graphic 7" descr="Holding torque calculation equals 3 newton meters">
            <a:extLst>
              <a:ext uri="{FF2B5EF4-FFF2-40B4-BE49-F238E27FC236}">
                <a16:creationId xmlns:a16="http://schemas.microsoft.com/office/drawing/2014/main" id="{077832EE-E306-83FA-8680-DD85531DA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390240"/>
            <a:ext cx="20713193" cy="174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mgr_c + m_p gL.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m_p = 0.5 kg: I_new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 =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I_new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θ̈ +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θ̇ + (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mgr_c + m_p gL) sin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τ_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τ_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Graphic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BC63BE51-BB57-712B-1CEB-7AD872861A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399497"/>
            <a:ext cx="8507910" cy="172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ℒ = T − V.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Δ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 = r_c</a:t>
            </a:r>
            <a:endParaRPr sz="19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r_c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Graphic 25" descr="Kinetic and potential energy equations">
            <a:extLst>
              <a:ext uri="{FF2B5EF4-FFF2-40B4-BE49-F238E27FC236}">
                <a16:creationId xmlns:a16="http://schemas.microsoft.com/office/drawing/2014/main" id="{780FD3C1-1D79-8137-D6AA-FEA0DF8E0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881692"/>
            <a:ext cx="6815843" cy="76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Graphic 8" descr="Euler Lagrange torque equation with viscous friction">
            <a:extLst>
              <a:ext uri="{FF2B5EF4-FFF2-40B4-BE49-F238E27FC236}">
                <a16:creationId xmlns:a16="http://schemas.microsoft.com/office/drawing/2014/main" id="{4A72DC3F-8F82-8547-60C8-6A3A8E933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773989"/>
            <a:ext cx="3783093" cy="690646"/>
          </a:xfrm>
          <a:prstGeom prst="rect">
            <a:avLst/>
          </a:prstGeom>
        </p:spPr>
      </p:pic>
      <p:pic>
        <p:nvPicPr>
          <p:cNvPr id="11" name="Graphic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B118E7F6-E8EB-ED2D-A6EB-1A3CD78D8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3202739"/>
            <a:ext cx="4195420" cy="690646"/>
          </a:xfrm>
          <a:prstGeom prst="rect">
            <a:avLst/>
          </a:prstGeom>
        </p:spPr>
      </p:pic>
      <p:pic>
        <p:nvPicPr>
          <p:cNvPr id="13" name="Graphic 12" descr="Partial derivative of the Lagrangian with respect to angle">
            <a:extLst>
              <a:ext uri="{FF2B5EF4-FFF2-40B4-BE49-F238E27FC236}">
                <a16:creationId xmlns:a16="http://schemas.microsoft.com/office/drawing/2014/main" id="{AA670B3E-67F1-E9B6-F18E-A916A972F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4087407"/>
            <a:ext cx="4411902" cy="826310"/>
          </a:xfrm>
          <a:prstGeom prst="rect">
            <a:avLst/>
          </a:prstGeom>
        </p:spPr>
      </p:pic>
      <p:pic>
        <p:nvPicPr>
          <p:cNvPr id="15" name="Graphic 14" descr="Resulting one-link torque equation">
            <a:extLst>
              <a:ext uri="{FF2B5EF4-FFF2-40B4-BE49-F238E27FC236}">
                <a16:creationId xmlns:a16="http://schemas.microsoft.com/office/drawing/2014/main" id="{ABBE9E3B-279C-95A6-9C0F-EE5A883B5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950" y="5039909"/>
            <a:ext cx="6241581" cy="82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Graphic 8" descr="Angular acceleration from forward dynamics">
            <a:extLst>
              <a:ext uri="{FF2B5EF4-FFF2-40B4-BE49-F238E27FC236}">
                <a16:creationId xmlns:a16="http://schemas.microsoft.com/office/drawing/2014/main" id="{B3ED24AA-DB0B-60F3-5222-6D350916DE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537027"/>
            <a:ext cx="6578985" cy="145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 = 0.24 kg·m², mgr꜀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θ = 30° with θ̇ = 0 and τ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θ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Graphic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E86F8DF8-CA36-3FAC-F750-512D61D8D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428254"/>
            <a:ext cx="13704305" cy="166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θ₀ = 0 to θ_f = π/2,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Graphic 8" descr="Cubic rest-to-rest joint trajectory">
            <a:extLst>
              <a:ext uri="{FF2B5EF4-FFF2-40B4-BE49-F238E27FC236}">
                <a16:creationId xmlns:a16="http://schemas.microsoft.com/office/drawing/2014/main" id="{0C816E24-A9D0-9F15-CCD1-D99C7DA673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515381"/>
            <a:ext cx="14958415" cy="1493613"/>
          </a:xfrm>
          <a:prstGeom prst="rect">
            <a:avLst/>
          </a:prstGeom>
        </p:spPr>
      </p:pic>
      <p:pic>
        <p:nvPicPr>
          <p:cNvPr id="11" name="Graphic 10" descr="Joint velocity for the cubic trajectory">
            <a:extLst>
              <a:ext uri="{FF2B5EF4-FFF2-40B4-BE49-F238E27FC236}">
                <a16:creationId xmlns:a16="http://schemas.microsoft.com/office/drawing/2014/main" id="{804831CE-B8B6-823B-8136-ED3373F0B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3235541"/>
            <a:ext cx="2664549" cy="529793"/>
          </a:xfrm>
          <a:prstGeom prst="rect">
            <a:avLst/>
          </a:prstGeom>
        </p:spPr>
      </p:pic>
      <p:pic>
        <p:nvPicPr>
          <p:cNvPr id="13" name="Graphic 12" descr="Joint acceleration for the cubic trajectory">
            <a:extLst>
              <a:ext uri="{FF2B5EF4-FFF2-40B4-BE49-F238E27FC236}">
                <a16:creationId xmlns:a16="http://schemas.microsoft.com/office/drawing/2014/main" id="{1EC6DE49-F9EA-D518-0F0F-CDFA7F583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4135305"/>
            <a:ext cx="1795531" cy="44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1/T_f, and acceleration as 1/T_f².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Graphic 7" descr="Peak velocity doubles and peak acceleration quadruples">
            <a:extLst>
              <a:ext uri="{FF2B5EF4-FFF2-40B4-BE49-F238E27FC236}">
                <a16:creationId xmlns:a16="http://schemas.microsoft.com/office/drawing/2014/main" id="{58371796-8BF0-04D8-ED00-6BD2DBEB7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677800"/>
            <a:ext cx="15861940" cy="116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|θ̇|, |θ̈|,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2501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1</cp:revision>
  <dcterms:created xsi:type="dcterms:W3CDTF">2026-10-14T01:12:54Z</dcterms:created>
  <dcterms:modified xsi:type="dcterms:W3CDTF">2026-10-14T02:44:25Z</dcterms:modified>
</cp:coreProperties>
</file>