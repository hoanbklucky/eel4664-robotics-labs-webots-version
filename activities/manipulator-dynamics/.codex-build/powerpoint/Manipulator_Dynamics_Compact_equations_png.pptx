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No payload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1.0418890700000001</c:v>
                </c:pt>
                <c:pt idx="2">
                  <c:v>2.05212086</c:v>
                </c:pt>
                <c:pt idx="3">
                  <c:v>3</c:v>
                </c:pt>
                <c:pt idx="4">
                  <c:v>3.8567256599999999</c:v>
                </c:pt>
                <c:pt idx="5">
                  <c:v>4.5962666600000004</c:v>
                </c:pt>
                <c:pt idx="6">
                  <c:v>5.1961524199999998</c:v>
                </c:pt>
                <c:pt idx="7">
                  <c:v>5.6381557200000003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5.6381557200000003</c:v>
                </c:pt>
                <c:pt idx="12">
                  <c:v>5.1961524199999998</c:v>
                </c:pt>
                <c:pt idx="13">
                  <c:v>4.5962666600000004</c:v>
                </c:pt>
                <c:pt idx="14">
                  <c:v>3.8567256599999999</c:v>
                </c:pt>
                <c:pt idx="15">
                  <c:v>3</c:v>
                </c:pt>
                <c:pt idx="16">
                  <c:v>2.05212086</c:v>
                </c:pt>
                <c:pt idx="17">
                  <c:v>1.0418890700000001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2D9-45CC-BADE-EB40F0617FDC}"/>
            </c:ext>
          </c:extLst>
        </c:ser>
        <c:ser>
          <c:idx val="1"/>
          <c:order val="1"/>
          <c:tx>
            <c:v>0.5 kg payload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3.0781812899999998</c:v>
                </c:pt>
                <c:pt idx="3">
                  <c:v>4.5</c:v>
                </c:pt>
                <c:pt idx="4">
                  <c:v>5.7850884899999997</c:v>
                </c:pt>
                <c:pt idx="5">
                  <c:v>6.8943999900000001</c:v>
                </c:pt>
                <c:pt idx="6">
                  <c:v>7.7942286300000001</c:v>
                </c:pt>
                <c:pt idx="7">
                  <c:v>8.4572335899999995</c:v>
                </c:pt>
                <c:pt idx="8">
                  <c:v>8.8632697799999995</c:v>
                </c:pt>
                <c:pt idx="9">
                  <c:v>9</c:v>
                </c:pt>
                <c:pt idx="10">
                  <c:v>8.8632697799999995</c:v>
                </c:pt>
                <c:pt idx="11">
                  <c:v>8.4572335899999995</c:v>
                </c:pt>
                <c:pt idx="12">
                  <c:v>7.7942286300000001</c:v>
                </c:pt>
                <c:pt idx="13">
                  <c:v>6.8943999900000001</c:v>
                </c:pt>
                <c:pt idx="14">
                  <c:v>5.7850884899999997</c:v>
                </c:pt>
                <c:pt idx="15">
                  <c:v>4.5</c:v>
                </c:pt>
                <c:pt idx="16">
                  <c:v>3.0781812899999998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2D9-45CC-BADE-EB40F0617F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Holding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Angle from downward vertical (deg)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2 s motion</c:v>
          </c:tx>
          <c:spPr>
            <a:ln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0.56548668000000002</c:v>
                </c:pt>
                <c:pt idx="1">
                  <c:v>0.56607569999999996</c:v>
                </c:pt>
                <c:pt idx="2">
                  <c:v>0.59965002000000001</c:v>
                </c:pt>
                <c:pt idx="3">
                  <c:v>0.66443087999999995</c:v>
                </c:pt>
                <c:pt idx="4">
                  <c:v>0.75860954999999997</c:v>
                </c:pt>
                <c:pt idx="5">
                  <c:v>0.88032027999999996</c:v>
                </c:pt>
                <c:pt idx="6">
                  <c:v>1.0276103299999999</c:v>
                </c:pt>
                <c:pt idx="7">
                  <c:v>1.1984110800000001</c:v>
                </c:pt>
                <c:pt idx="8">
                  <c:v>1.3905132200000001</c:v>
                </c:pt>
                <c:pt idx="9">
                  <c:v>1.6015487500000001</c:v>
                </c:pt>
                <c:pt idx="10">
                  <c:v>1.8289817100000001</c:v>
                </c:pt>
                <c:pt idx="11">
                  <c:v>2.07010899</c:v>
                </c:pt>
                <c:pt idx="12">
                  <c:v>2.3220721100000001</c:v>
                </c:pt>
                <c:pt idx="13">
                  <c:v>2.5818800099999999</c:v>
                </c:pt>
                <c:pt idx="14">
                  <c:v>2.8464425699999998</c:v>
                </c:pt>
                <c:pt idx="15">
                  <c:v>3.11261367</c:v>
                </c:pt>
                <c:pt idx="16">
                  <c:v>3.3772424499999998</c:v>
                </c:pt>
                <c:pt idx="17">
                  <c:v>3.6372307099999999</c:v>
                </c:pt>
                <c:pt idx="18">
                  <c:v>3.8895940599999999</c:v>
                </c:pt>
                <c:pt idx="19">
                  <c:v>4.1315243199999996</c:v>
                </c:pt>
                <c:pt idx="20">
                  <c:v>4.3604504100000003</c:v>
                </c:pt>
                <c:pt idx="21">
                  <c:v>4.5740951799999996</c:v>
                </c:pt>
                <c:pt idx="22">
                  <c:v>4.7705254799999999</c:v>
                </c:pt>
                <c:pt idx="23">
                  <c:v>4.9481934000000001</c:v>
                </c:pt>
                <c:pt idx="24">
                  <c:v>5.1059668900000004</c:v>
                </c:pt>
                <c:pt idx="25">
                  <c:v>5.2431483099999996</c:v>
                </c:pt>
                <c:pt idx="26">
                  <c:v>5.3594801299999997</c:v>
                </c:pt>
                <c:pt idx="27">
                  <c:v>5.4551376300000003</c:v>
                </c:pt>
                <c:pt idx="28">
                  <c:v>5.5307087099999999</c:v>
                </c:pt>
                <c:pt idx="29">
                  <c:v>5.58716159</c:v>
                </c:pt>
                <c:pt idx="30">
                  <c:v>5.6258014699999999</c:v>
                </c:pt>
                <c:pt idx="31">
                  <c:v>5.6482175699999999</c:v>
                </c:pt>
                <c:pt idx="32">
                  <c:v>5.6562218800000004</c:v>
                </c:pt>
                <c:pt idx="33">
                  <c:v>5.6517813600000002</c:v>
                </c:pt>
                <c:pt idx="34">
                  <c:v>5.6369447199999998</c:v>
                </c:pt>
                <c:pt idx="35">
                  <c:v>5.6137651499999999</c:v>
                </c:pt>
                <c:pt idx="36">
                  <c:v>5.5842197699999998</c:v>
                </c:pt>
                <c:pt idx="37">
                  <c:v>5.5501262499999999</c:v>
                </c:pt>
                <c:pt idx="38">
                  <c:v>5.5130567599999996</c:v>
                </c:pt>
                <c:pt idx="39">
                  <c:v>5.4742489399999998</c:v>
                </c:pt>
                <c:pt idx="40">
                  <c:v>5.4345133199999998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CC9-44A6-B27F-5B0BA4C0DE6D}"/>
            </c:ext>
          </c:extLst>
        </c:ser>
        <c:ser>
          <c:idx val="1"/>
          <c:order val="1"/>
          <c:tx>
            <c:v>1 s motion</c:v>
          </c:tx>
          <c:spPr>
            <a:ln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2.5000000000000001E-2</c:v>
                </c:pt>
                <c:pt idx="2">
                  <c:v>0.05</c:v>
                </c:pt>
                <c:pt idx="3">
                  <c:v>7.4999999999999997E-2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0.17499999999999999</c:v>
                </c:pt>
                <c:pt idx="8">
                  <c:v>0.2</c:v>
                </c:pt>
                <c:pt idx="9">
                  <c:v>0.22500000000000001</c:v>
                </c:pt>
                <c:pt idx="10">
                  <c:v>0.25</c:v>
                </c:pt>
                <c:pt idx="11">
                  <c:v>0.27500000000000002</c:v>
                </c:pt>
                <c:pt idx="12">
                  <c:v>0.3</c:v>
                </c:pt>
                <c:pt idx="13">
                  <c:v>0.32500000000000001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0.42499999999999999</c:v>
                </c:pt>
                <c:pt idx="18">
                  <c:v>0.45</c:v>
                </c:pt>
                <c:pt idx="19">
                  <c:v>0.47499999999999998</c:v>
                </c:pt>
                <c:pt idx="20">
                  <c:v>0.5</c:v>
                </c:pt>
                <c:pt idx="21">
                  <c:v>0.52500000000000002</c:v>
                </c:pt>
                <c:pt idx="22">
                  <c:v>0.55000000000000004</c:v>
                </c:pt>
                <c:pt idx="23">
                  <c:v>0.57499999999999996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0.67500000000000004</c:v>
                </c:pt>
                <c:pt idx="28">
                  <c:v>0.7</c:v>
                </c:pt>
                <c:pt idx="29">
                  <c:v>0.72499999999999998</c:v>
                </c:pt>
                <c:pt idx="30">
                  <c:v>0.75</c:v>
                </c:pt>
                <c:pt idx="31">
                  <c:v>0.77500000000000002</c:v>
                </c:pt>
                <c:pt idx="32">
                  <c:v>0.8</c:v>
                </c:pt>
                <c:pt idx="33">
                  <c:v>0.82499999999999996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0.92500000000000004</c:v>
                </c:pt>
                <c:pt idx="38">
                  <c:v>0.95</c:v>
                </c:pt>
                <c:pt idx="39">
                  <c:v>0.97499999999999998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2.2619467100000001</c:v>
                </c:pt>
                <c:pt idx="1">
                  <c:v>2.1891991800000001</c:v>
                </c:pt>
                <c:pt idx="2">
                  <c:v>2.1488478999999998</c:v>
                </c:pt>
                <c:pt idx="3">
                  <c:v>2.1391141</c:v>
                </c:pt>
                <c:pt idx="4">
                  <c:v>2.1581890800000001</c:v>
                </c:pt>
                <c:pt idx="5">
                  <c:v>2.2042070599999999</c:v>
                </c:pt>
                <c:pt idx="6">
                  <c:v>2.27521532</c:v>
                </c:pt>
                <c:pt idx="7">
                  <c:v>2.3691452200000001</c:v>
                </c:pt>
                <c:pt idx="8">
                  <c:v>2.4837874599999998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2.9274692600000001</c:v>
                </c:pt>
                <c:pt idx="12">
                  <c:v>3.0996162900000002</c:v>
                </c:pt>
                <c:pt idx="13">
                  <c:v>3.27901906</c:v>
                </c:pt>
                <c:pt idx="14">
                  <c:v>3.4625874300000001</c:v>
                </c:pt>
                <c:pt idx="15">
                  <c:v>3.6471752899999998</c:v>
                </c:pt>
                <c:pt idx="16">
                  <c:v>3.8296317900000001</c:v>
                </c:pt>
                <c:pt idx="17">
                  <c:v>4.0068587200000003</c:v>
                </c:pt>
                <c:pt idx="18">
                  <c:v>4.1758716900000001</c:v>
                </c:pt>
                <c:pt idx="19">
                  <c:v>4.3338625200000003</c:v>
                </c:pt>
                <c:pt idx="20">
                  <c:v>4.4782601399999997</c:v>
                </c:pt>
                <c:pt idx="21">
                  <c:v>4.6067873800000001</c:v>
                </c:pt>
                <c:pt idx="22">
                  <c:v>4.7175111000000003</c:v>
                </c:pt>
                <c:pt idx="23">
                  <c:v>4.8088834</c:v>
                </c:pt>
                <c:pt idx="24">
                  <c:v>4.8797722200000004</c:v>
                </c:pt>
                <c:pt idx="25">
                  <c:v>4.9294799100000004</c:v>
                </c:pt>
                <c:pt idx="26">
                  <c:v>4.9577489699999999</c:v>
                </c:pt>
                <c:pt idx="27">
                  <c:v>4.9647546499999997</c:v>
                </c:pt>
                <c:pt idx="28">
                  <c:v>4.9510848699999999</c:v>
                </c:pt>
                <c:pt idx="29">
                  <c:v>4.9177078300000003</c:v>
                </c:pt>
                <c:pt idx="30">
                  <c:v>4.8659287500000001</c:v>
                </c:pt>
                <c:pt idx="31">
                  <c:v>4.7973368299999999</c:v>
                </c:pt>
                <c:pt idx="32">
                  <c:v>4.7137440899999996</c:v>
                </c:pt>
                <c:pt idx="33">
                  <c:v>4.6171174500000003</c:v>
                </c:pt>
                <c:pt idx="34">
                  <c:v>4.5095056500000004</c:v>
                </c:pt>
                <c:pt idx="35">
                  <c:v>4.3929618799999997</c:v>
                </c:pt>
                <c:pt idx="36">
                  <c:v>4.2694632400000003</c:v>
                </c:pt>
                <c:pt idx="37">
                  <c:v>4.1408274199999999</c:v>
                </c:pt>
                <c:pt idx="38">
                  <c:v>4.0086265799999996</c:v>
                </c:pt>
                <c:pt idx="39">
                  <c:v>3.8740983600000001</c:v>
                </c:pt>
                <c:pt idx="40">
                  <c:v>3.7380532899999999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CC9-44A6-B27F-5B0BA4C0DE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</a:ln>
          </c:spPr>
        </c:majorGridlines>
        <c:title>
          <c:tx>
            <c:rich>
              <a:bodyPr/>
              <a:lstStyle/>
              <a:p>
                <a:r>
                  <a:t>Required torque (N m)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Normalized time s = t/Tf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5364A"/>
                </a:solidFill>
              </a:defRPr>
            </a:pPr>
            <a:endParaRPr lang="en-US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25364A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useful show parallel-axis theorem: Ijoint=Icom+m*(L/2)^2. All motion is rigid-body planar rotation.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Q2. Allow 1–2 minutes for individual calculation. Ask pairs to compare reasoning, then reveal the next slide. Correct answer: B.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m*g*rc*sin(30 deg)=3 N m.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payload as a point mass rigidly attached to the tip. Additional payload rotational inertia about its own COM is neglected.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a zero reference for V is arbitrary. COM height relative to θ=0 is rc*(1-cos θ). Distinguish kinetic-energy symbol T from motion duration Tf used later.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students to compare this with F=ma. Knowing torque does not determine angle immediately. The simulator uses RK4 and a small time step.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Acceleration=(0-6*sin(30 deg))/0.24=-12.5 rad/s^2.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each distractor is tempting. For unchanged normalized path, velocity scales as 1/T and acceleration as 1/T^2.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04775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0001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noGrp="1"/>
          </p:cNvSpPr>
          <p:nvPr/>
        </p:nvSpPr>
        <p:spPr>
          <a:xfrm>
            <a:off x="742950" y="53340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6096000" cy="1524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noGrp="1"/>
          </p:cNvSpPr>
          <p:nvPr/>
        </p:nvSpPr>
        <p:spPr>
          <a:xfrm>
            <a:off x="742950" y="3667125"/>
            <a:ext cx="561975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noGrp="1"/>
          </p:cNvSpPr>
          <p:nvPr/>
        </p:nvSpPr>
        <p:spPr>
          <a:xfrm>
            <a:off x="742950" y="5762625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noGrp="1"/>
          </p:cNvSpPr>
          <p:nvPr/>
        </p:nvSpPr>
        <p:spPr>
          <a:xfrm>
            <a:off x="7267575" y="2619375"/>
            <a:ext cx="133350" cy="1762125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noGrp="1"/>
          </p:cNvSpPr>
          <p:nvPr/>
        </p:nvSpPr>
        <p:spPr>
          <a:xfrm>
            <a:off x="72104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noGrp="1"/>
          </p:cNvSpPr>
          <p:nvPr/>
        </p:nvSpPr>
        <p:spPr>
          <a:xfrm>
            <a:off x="72866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noGrp="1"/>
          </p:cNvSpPr>
          <p:nvPr/>
        </p:nvSpPr>
        <p:spPr>
          <a:xfrm>
            <a:off x="7258050" y="342423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noGrp="1"/>
          </p:cNvSpPr>
          <p:nvPr/>
        </p:nvSpPr>
        <p:spPr>
          <a:xfrm>
            <a:off x="6705600" y="1714500"/>
            <a:ext cx="1524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noGrp="1"/>
          </p:cNvSpPr>
          <p:nvPr/>
        </p:nvSpPr>
        <p:spPr>
          <a:xfrm>
            <a:off x="633412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114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noGrp="1"/>
          </p:cNvSpPr>
          <p:nvPr/>
        </p:nvSpPr>
        <p:spPr>
          <a:xfrm>
            <a:off x="9429750" y="2552700"/>
            <a:ext cx="1857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noGrp="1"/>
          </p:cNvSpPr>
          <p:nvPr/>
        </p:nvSpPr>
        <p:spPr>
          <a:xfrm>
            <a:off x="9305925" y="249555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noGrp="1"/>
          </p:cNvSpPr>
          <p:nvPr/>
        </p:nvSpPr>
        <p:spPr>
          <a:xfrm>
            <a:off x="10282238" y="254317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noGrp="1"/>
          </p:cNvSpPr>
          <p:nvPr/>
        </p:nvSpPr>
        <p:spPr>
          <a:xfrm>
            <a:off x="9525000" y="1714500"/>
            <a:ext cx="16192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noGrp="1"/>
          </p:cNvSpPr>
          <p:nvPr/>
        </p:nvSpPr>
        <p:spPr>
          <a:xfrm>
            <a:off x="9429750" y="2876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noGrp="1"/>
          </p:cNvSpPr>
          <p:nvPr/>
        </p:nvSpPr>
        <p:spPr>
          <a:xfrm>
            <a:off x="9429750" y="3105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noGrp="1"/>
          </p:cNvSpPr>
          <p:nvPr/>
        </p:nvSpPr>
        <p:spPr>
          <a:xfrm>
            <a:off x="9429750" y="33337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noGrp="1"/>
          </p:cNvSpPr>
          <p:nvPr/>
        </p:nvSpPr>
        <p:spPr>
          <a:xfrm>
            <a:off x="9429750" y="35623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noGrp="1"/>
          </p:cNvSpPr>
          <p:nvPr/>
        </p:nvSpPr>
        <p:spPr>
          <a:xfrm>
            <a:off x="9429750" y="37909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noGrp="1"/>
          </p:cNvSpPr>
          <p:nvPr/>
        </p:nvSpPr>
        <p:spPr>
          <a:xfrm>
            <a:off x="9429750" y="40195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noGrp="1"/>
          </p:cNvSpPr>
          <p:nvPr/>
        </p:nvSpPr>
        <p:spPr>
          <a:xfrm>
            <a:off x="9429750" y="4248150"/>
            <a:ext cx="0" cy="123825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noGrp="1"/>
          </p:cNvSpPr>
          <p:nvPr/>
        </p:nvSpPr>
        <p:spPr>
          <a:xfrm>
            <a:off x="9429750" y="2619375"/>
            <a:ext cx="495300" cy="495300"/>
          </a:xfrm>
          <a:custGeom>
            <a:avLst/>
            <a:gdLst/>
            <a:ahLst/>
            <a:cxnLst/>
            <a:rect l="0" t="0" r="0" b="0"/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noGrp="1"/>
          </p:cNvSpPr>
          <p:nvPr/>
        </p:nvSpPr>
        <p:spPr>
          <a:xfrm>
            <a:off x="9858375" y="2533650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noGrp="1"/>
          </p:cNvSpPr>
          <p:nvPr/>
        </p:nvSpPr>
        <p:spPr>
          <a:xfrm>
            <a:off x="9791700" y="3257550"/>
            <a:ext cx="1619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noGrp="1"/>
          </p:cNvSpPr>
          <p:nvPr/>
        </p:nvSpPr>
        <p:spPr>
          <a:xfrm>
            <a:off x="9477375" y="4667250"/>
            <a:ext cx="2190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noGrp="1"/>
          </p:cNvSpPr>
          <p:nvPr/>
        </p:nvSpPr>
        <p:spPr>
          <a:xfrm>
            <a:off x="10191750" y="2133600"/>
            <a:ext cx="1000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noGrp="1"/>
          </p:cNvSpPr>
          <p:nvPr/>
        </p:nvSpPr>
        <p:spPr>
          <a:xfrm>
            <a:off x="8686800" y="530542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Q1: A stationary arm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inertia about the center of mass is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mL²/12. About the joint, 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joint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mL²/3.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  <p:pic>
        <p:nvPicPr>
          <p:cNvPr id="9" name="Picture 8" descr="I equals one third m L squared, evaluated as 0.24 kilogram meter squared">
            <a:extLst>
              <a:ext uri="{FF2B5EF4-FFF2-40B4-BE49-F238E27FC236}">
                <a16:creationId xmlns:a16="http://schemas.microsoft.com/office/drawing/2014/main" id="{189C2172-CEFE-8573-C5D2-2083333E45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97434"/>
            <a:ext cx="16791521" cy="152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15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fr-F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s-E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s-E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sin θ: gravity torque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kg·m² and b = 0.1 N·m·s/rad.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 answer: A. At a horizontal hold, τ = mgr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noGrp="1"/>
          </p:cNvSpPr>
          <p:nvPr/>
        </p:nvSpPr>
        <p:spPr>
          <a:xfrm>
            <a:off x="7810500" y="3648075"/>
            <a:ext cx="300037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noGrp="1"/>
          </p:cNvSpPr>
          <p:nvPr/>
        </p:nvSpPr>
        <p:spPr>
          <a:xfrm>
            <a:off x="7686675" y="35909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noGrp="1"/>
          </p:cNvSpPr>
          <p:nvPr/>
        </p:nvSpPr>
        <p:spPr>
          <a:xfrm>
            <a:off x="7762875" y="36671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noGrp="1"/>
          </p:cNvSpPr>
          <p:nvPr/>
        </p:nvSpPr>
        <p:spPr>
          <a:xfrm>
            <a:off x="9234488" y="36385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noGrp="1"/>
          </p:cNvSpPr>
          <p:nvPr/>
        </p:nvSpPr>
        <p:spPr>
          <a:xfrm>
            <a:off x="9215438" y="3943350"/>
            <a:ext cx="190500" cy="1104900"/>
          </a:xfrm>
          <a:prstGeom prst="downArrow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noGrp="1"/>
          </p:cNvSpPr>
          <p:nvPr/>
        </p:nvSpPr>
        <p:spPr>
          <a:xfrm>
            <a:off x="7810500" y="3714750"/>
            <a:ext cx="428625" cy="428625"/>
          </a:xfrm>
          <a:custGeom>
            <a:avLst/>
            <a:gdLst/>
            <a:ahLst/>
            <a:cxnLst/>
            <a:rect l="0" t="0" r="0" b="0"/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/>
          <a:ln w="28575">
            <a:solidFill>
              <a:srgbClr val="E6B800"/>
            </a:solidFill>
          </a:ln>
        </p:spPr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noGrp="1"/>
          </p:cNvSpPr>
          <p:nvPr/>
        </p:nvSpPr>
        <p:spPr>
          <a:xfrm>
            <a:off x="8172450" y="3629025"/>
            <a:ext cx="133350" cy="142875"/>
          </a:xfrm>
          <a:prstGeom prst="triangl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noGrp="1"/>
          </p:cNvSpPr>
          <p:nvPr/>
        </p:nvSpPr>
        <p:spPr>
          <a:xfrm>
            <a:off x="7553325" y="2695575"/>
            <a:ext cx="33813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noGrp="1"/>
          </p:cNvSpPr>
          <p:nvPr/>
        </p:nvSpPr>
        <p:spPr>
          <a:xfrm>
            <a:off x="9525000" y="4410075"/>
            <a:ext cx="904875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noGrp="1"/>
          </p:cNvSpPr>
          <p:nvPr/>
        </p:nvSpPr>
        <p:spPr>
          <a:xfrm>
            <a:off x="7810500" y="3286125"/>
            <a:ext cx="1500188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noGrp="1"/>
          </p:cNvSpPr>
          <p:nvPr/>
        </p:nvSpPr>
        <p:spPr>
          <a:xfrm>
            <a:off x="9310688" y="3181350"/>
            <a:ext cx="0" cy="20955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noGrp="1"/>
          </p:cNvSpPr>
          <p:nvPr/>
        </p:nvSpPr>
        <p:spPr>
          <a:xfrm>
            <a:off x="8391525" y="2847975"/>
            <a:ext cx="619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noGrp="1"/>
          </p:cNvSpPr>
          <p:nvPr/>
        </p:nvSpPr>
        <p:spPr>
          <a:xfrm>
            <a:off x="7848600" y="53816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  <p:pic>
        <p:nvPicPr>
          <p:cNvPr id="24" name="Picture 23" descr="Torque equals inertia times angular acceleration plus viscous friction plus gravity torque">
            <a:extLst>
              <a:ext uri="{FF2B5EF4-FFF2-40B4-BE49-F238E27FC236}">
                <a16:creationId xmlns:a16="http://schemas.microsoft.com/office/drawing/2014/main" id="{FCF950A7-9514-2EB2-DD63-FE31FEB5B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26159"/>
            <a:ext cx="9602218" cy="1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856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Q2: Holding at 30°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N·m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Q2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  <p:pic>
        <p:nvPicPr>
          <p:cNvPr id="8" name="Picture 7" descr="Holding torque calculation equals 3 newton meters">
            <a:extLst>
              <a:ext uri="{FF2B5EF4-FFF2-40B4-BE49-F238E27FC236}">
                <a16:creationId xmlns:a16="http://schemas.microsoft.com/office/drawing/2014/main" id="{69CC23F9-C2DC-0671-D476-5E1D4FA2D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58595"/>
            <a:ext cx="19097119" cy="160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285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gravity coefficient becomes 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0.5 kg: I</a:t>
            </a:r>
            <a:r>
              <a:rPr lang="nn-NO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nn-NO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0.24 + 0.18 = 0.42 kg·m².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4770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 =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new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 + 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 + (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+ m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p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gL) sin </a:t>
            </a:r>
            <a:r>
              <a:rPr lang="el-GR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noGrp="1"/>
          </p:cNvSpPr>
          <p:nvPr/>
        </p:nvSpPr>
        <p:spPr>
          <a:xfrm>
            <a:off x="8020050" y="296227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noGrp="1"/>
          </p:cNvSpPr>
          <p:nvPr/>
        </p:nvSpPr>
        <p:spPr>
          <a:xfrm>
            <a:off x="7896225" y="290512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noGrp="1"/>
          </p:cNvSpPr>
          <p:nvPr/>
        </p:nvSpPr>
        <p:spPr>
          <a:xfrm>
            <a:off x="7972425" y="298132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noGrp="1"/>
          </p:cNvSpPr>
          <p:nvPr/>
        </p:nvSpPr>
        <p:spPr>
          <a:xfrm>
            <a:off x="9205913" y="295275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noGrp="1"/>
          </p:cNvSpPr>
          <p:nvPr/>
        </p:nvSpPr>
        <p:spPr>
          <a:xfrm>
            <a:off x="8048625" y="3400425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6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noGrp="1"/>
          </p:cNvSpPr>
          <p:nvPr/>
        </p:nvSpPr>
        <p:spPr>
          <a:xfrm>
            <a:off x="8020050" y="4886325"/>
            <a:ext cx="2524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noGrp="1"/>
          </p:cNvSpPr>
          <p:nvPr/>
        </p:nvSpPr>
        <p:spPr>
          <a:xfrm>
            <a:off x="7896225" y="4829175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noGrp="1"/>
          </p:cNvSpPr>
          <p:nvPr/>
        </p:nvSpPr>
        <p:spPr>
          <a:xfrm>
            <a:off x="7972425" y="4905375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noGrp="1"/>
          </p:cNvSpPr>
          <p:nvPr/>
        </p:nvSpPr>
        <p:spPr>
          <a:xfrm>
            <a:off x="9205913" y="4876800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noGrp="1"/>
          </p:cNvSpPr>
          <p:nvPr/>
        </p:nvSpPr>
        <p:spPr>
          <a:xfrm>
            <a:off x="10363200" y="4743450"/>
            <a:ext cx="400050" cy="419100"/>
          </a:xfrm>
          <a:prstGeom prst="rect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noGrp="1"/>
          </p:cNvSpPr>
          <p:nvPr/>
        </p:nvSpPr>
        <p:spPr>
          <a:xfrm>
            <a:off x="7781925" y="4010025"/>
            <a:ext cx="342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noGrp="1"/>
          </p:cNvSpPr>
          <p:nvPr/>
        </p:nvSpPr>
        <p:spPr>
          <a:xfrm>
            <a:off x="8048625" y="53911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l-GR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</a:t>
            </a:r>
            <a:r>
              <a:rPr lang="en-US" sz="2025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hold</a:t>
            </a:r>
            <a:r>
              <a:rPr lang="en-US"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9 N·m</a:t>
            </a:r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2" name="Picture 21" descr="New inertia equals link inertia plus payload mass times link length squared">
            <a:extLst>
              <a:ext uri="{FF2B5EF4-FFF2-40B4-BE49-F238E27FC236}">
                <a16:creationId xmlns:a16="http://schemas.microsoft.com/office/drawing/2014/main" id="{0DDDCE8A-BC84-8473-434B-8242FFC20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476190"/>
            <a:ext cx="7807574" cy="15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7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="666750" y="1762125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noGrp="1"/>
          </p:cNvSpPr>
          <p:nvPr/>
        </p:nvSpPr>
        <p:spPr>
          <a:xfrm>
            <a:off x="7239000" y="1714500"/>
            <a:ext cx="4191000" cy="3524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63341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noGrp="1"/>
          </p:cNvSpPr>
          <p:nvPr/>
        </p:nvSpPr>
        <p:spPr>
          <a:xfrm>
            <a:off x="7886700" y="2638425"/>
            <a:ext cx="133350" cy="2143125"/>
          </a:xfrm>
          <a:prstGeom prst="rect">
            <a:avLst/>
          </a:prstGeom>
          <a:solidFill>
            <a:srgbClr val="9AA7B4"/>
          </a:solidFill>
          <a:ln w="0">
            <a:noFill/>
          </a:ln>
        </p:spPr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noGrp="1"/>
          </p:cNvSpPr>
          <p:nvPr/>
        </p:nvSpPr>
        <p:spPr>
          <a:xfrm>
            <a:off x="7877175" y="3633788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2143125" cy="133350"/>
          </a:xfrm>
          <a:prstGeom prst="rect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noGrp="1"/>
          </p:cNvSpPr>
          <p:nvPr/>
        </p:nvSpPr>
        <p:spPr>
          <a:xfrm>
            <a:off x="7829550" y="2514600"/>
            <a:ext cx="247650" cy="247650"/>
          </a:xfrm>
          <a:prstGeom prst="ellipse">
            <a:avLst/>
          </a:prstGeom>
          <a:solidFill>
            <a:srgbClr val="17324D"/>
          </a:solidFill>
          <a:ln w="0">
            <a:noFill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noGrp="1"/>
          </p:cNvSpPr>
          <p:nvPr/>
        </p:nvSpPr>
        <p:spPr>
          <a:xfrm>
            <a:off x="7905750" y="2590800"/>
            <a:ext cx="95250" cy="9525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noGrp="1"/>
          </p:cNvSpPr>
          <p:nvPr/>
        </p:nvSpPr>
        <p:spPr>
          <a:xfrm>
            <a:off x="8948738" y="2562225"/>
            <a:ext cx="152400" cy="152400"/>
          </a:xfrm>
          <a:prstGeom prst="ellipse">
            <a:avLst/>
          </a:prstGeom>
          <a:solidFill>
            <a:srgbClr val="E6B800"/>
          </a:solidFill>
          <a:ln w="0">
            <a:noFill/>
          </a:ln>
        </p:spPr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noGrp="1"/>
          </p:cNvSpPr>
          <p:nvPr/>
        </p:nvSpPr>
        <p:spPr>
          <a:xfrm>
            <a:off x="9024938" y="2638425"/>
            <a:ext cx="17621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noGrp="1"/>
          </p:cNvSpPr>
          <p:nvPr/>
        </p:nvSpPr>
        <p:spPr>
          <a:xfrm>
            <a:off x="7953375" y="3709988"/>
            <a:ext cx="2828925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noGrp="1"/>
          </p:cNvSpPr>
          <p:nvPr/>
        </p:nvSpPr>
        <p:spPr>
          <a:xfrm>
            <a:off x="10572750" y="2638425"/>
            <a:ext cx="0" cy="1071563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noGrp="1"/>
          </p:cNvSpPr>
          <p:nvPr/>
        </p:nvSpPr>
        <p:spPr>
          <a:xfrm>
            <a:off x="10458450" y="2638425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noGrp="1"/>
          </p:cNvSpPr>
          <p:nvPr/>
        </p:nvSpPr>
        <p:spPr>
          <a:xfrm>
            <a:off x="10458450" y="3709988"/>
            <a:ext cx="228600" cy="0"/>
          </a:xfrm>
          <a:prstGeom prst="line">
            <a:avLst/>
          </a:prstGeom>
          <a:noFill/>
          <a:ln w="19050">
            <a:solidFill>
              <a:srgbClr val="9AA7B4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noGrp="1"/>
          </p:cNvSpPr>
          <p:nvPr/>
        </p:nvSpPr>
        <p:spPr>
          <a:xfrm>
            <a:off x="9439275" y="3038475"/>
            <a:ext cx="180975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l-GR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</a:t>
            </a:r>
            <a:r>
              <a:rPr lang="en-US"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h = r</a:t>
            </a:r>
            <a:r>
              <a:rPr lang="en-US" sz="1950" b="1" baseline="-25000">
                <a:solidFill>
                  <a:srgbClr val="17324D"/>
                </a:solidFill>
                <a:latin typeface="Aptos"/>
                <a:ea typeface="Aptos"/>
                <a:cs typeface="Aptos"/>
              </a:rPr>
              <a:t>c</a:t>
            </a:r>
            <a:endParaRPr sz="1950" b="1" baseline="-25000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90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noGrp="1"/>
          </p:cNvSpPr>
          <p:nvPr/>
        </p:nvSpPr>
        <p:spPr>
          <a:xfrm>
            <a:off x="7334250" y="4943475"/>
            <a:ext cx="1905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noGrp="1"/>
          </p:cNvSpPr>
          <p:nvPr/>
        </p:nvSpPr>
        <p:spPr>
          <a:xfrm>
            <a:off x="7419975" y="566737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COM rises by r</a:t>
            </a:r>
            <a:r>
              <a:rPr lang="en-US" sz="18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c</a:t>
            </a:r>
            <a:r>
              <a:rPr lang="en-US"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at 90°.</a:t>
            </a:r>
            <a:endParaRPr sz="18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6" name="Picture 25" descr="Kinetic and potential energy equations">
            <a:extLst>
              <a:ext uri="{FF2B5EF4-FFF2-40B4-BE49-F238E27FC236}">
                <a16:creationId xmlns:a16="http://schemas.microsoft.com/office/drawing/2014/main" id="{4A23D7D2-6268-B2D6-82C9-8855BFFC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904133"/>
            <a:ext cx="6371369" cy="71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47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pic>
        <p:nvPicPr>
          <p:cNvPr id="9" name="Picture 8" descr="Euler Lagrange torque equation with viscous friction">
            <a:extLst>
              <a:ext uri="{FF2B5EF4-FFF2-40B4-BE49-F238E27FC236}">
                <a16:creationId xmlns:a16="http://schemas.microsoft.com/office/drawing/2014/main" id="{D18F424A-0252-196F-D5EC-910F3D8F2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806297"/>
            <a:ext cx="3441666" cy="626030"/>
          </a:xfrm>
          <a:prstGeom prst="rect">
            <a:avLst/>
          </a:prstGeom>
        </p:spPr>
      </p:pic>
      <p:pic>
        <p:nvPicPr>
          <p:cNvPr id="11" name="Picture 10" descr="Partial derivative of the Lagrangian with respect to angular velocity and its time derivative">
            <a:extLst>
              <a:ext uri="{FF2B5EF4-FFF2-40B4-BE49-F238E27FC236}">
                <a16:creationId xmlns:a16="http://schemas.microsoft.com/office/drawing/2014/main" id="{61EF155A-D9DC-1905-7C7E-EA3A3489D7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35048"/>
            <a:ext cx="3807099" cy="626029"/>
          </a:xfrm>
          <a:prstGeom prst="rect">
            <a:avLst/>
          </a:prstGeom>
        </p:spPr>
      </p:pic>
      <p:pic>
        <p:nvPicPr>
          <p:cNvPr id="13" name="Picture 12" descr="Partial derivative of the Lagrangian with respect to angle">
            <a:extLst>
              <a:ext uri="{FF2B5EF4-FFF2-40B4-BE49-F238E27FC236}">
                <a16:creationId xmlns:a16="http://schemas.microsoft.com/office/drawing/2014/main" id="{E34FD7C3-7F91-BD2F-8C4A-50B81875C4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28858"/>
            <a:ext cx="3936698" cy="743410"/>
          </a:xfrm>
          <a:prstGeom prst="rect">
            <a:avLst/>
          </a:prstGeom>
        </p:spPr>
      </p:pic>
      <p:pic>
        <p:nvPicPr>
          <p:cNvPr id="15" name="Picture 14" descr="Resulting one-link torque equation">
            <a:extLst>
              <a:ext uri="{FF2B5EF4-FFF2-40B4-BE49-F238E27FC236}">
                <a16:creationId xmlns:a16="http://schemas.microsoft.com/office/drawing/2014/main" id="{C1E57924-54F8-9F9A-AE60-CA2740E5E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5079233"/>
            <a:ext cx="5643755" cy="74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3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  <p:pic>
        <p:nvPicPr>
          <p:cNvPr id="9" name="Picture 8" descr="Angular acceleration from forward dynamics">
            <a:extLst>
              <a:ext uri="{FF2B5EF4-FFF2-40B4-BE49-F238E27FC236}">
                <a16:creationId xmlns:a16="http://schemas.microsoft.com/office/drawing/2014/main" id="{2E461BF3-C9B7-80C5-85FE-5B3D603A1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01069"/>
            <a:ext cx="6055115" cy="132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0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Q3: The released arm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kg·m², mgr꜀ = 6 N·m.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rad/s²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Q3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 answer: 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  <p:pic>
        <p:nvPicPr>
          <p:cNvPr id="8" name="Picture 7" descr="Released-arm angular acceleration equals negative 12.5 radians per second squared">
            <a:extLst>
              <a:ext uri="{FF2B5EF4-FFF2-40B4-BE49-F238E27FC236}">
                <a16:creationId xmlns:a16="http://schemas.microsoft.com/office/drawing/2014/main" id="{400742FC-71EF-2945-DE10-8D5FA1F1B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505613"/>
            <a:ext cx="12445051" cy="151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99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noGrp="1"/>
          </p:cNvSpPr>
          <p:nvPr/>
        </p:nvSpPr>
        <p:spPr>
          <a:xfrm>
            <a:off x="742950" y="48577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= π/2, with zero endpoint velocity.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Picture 8" descr="Cubic rest-to-rest joint trajectory">
            <a:extLst>
              <a:ext uri="{FF2B5EF4-FFF2-40B4-BE49-F238E27FC236}">
                <a16:creationId xmlns:a16="http://schemas.microsoft.com/office/drawing/2014/main" id="{7D0AB4FC-304A-F45F-FE36-B69B67C51A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588475"/>
            <a:ext cx="13461417" cy="1347425"/>
          </a:xfrm>
          <a:prstGeom prst="rect">
            <a:avLst/>
          </a:prstGeom>
        </p:spPr>
      </p:pic>
      <p:pic>
        <p:nvPicPr>
          <p:cNvPr id="11" name="Picture 10" descr="Joint velocity for the cubic trajectory">
            <a:extLst>
              <a:ext uri="{FF2B5EF4-FFF2-40B4-BE49-F238E27FC236}">
                <a16:creationId xmlns:a16="http://schemas.microsoft.com/office/drawing/2014/main" id="{5FE229DC-B556-E48D-02FA-6E69350DC2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3260189"/>
            <a:ext cx="2422882" cy="480496"/>
          </a:xfrm>
          <a:prstGeom prst="rect">
            <a:avLst/>
          </a:prstGeom>
        </p:spPr>
      </p:pic>
      <p:pic>
        <p:nvPicPr>
          <p:cNvPr id="13" name="Picture 12" descr="Joint acceleration for the cubic trajectory">
            <a:extLst>
              <a:ext uri="{FF2B5EF4-FFF2-40B4-BE49-F238E27FC236}">
                <a16:creationId xmlns:a16="http://schemas.microsoft.com/office/drawing/2014/main" id="{3CA64489-C2DE-0C88-4539-D156273390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4155574"/>
            <a:ext cx="1637759" cy="40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69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Q4: The same motion in half the time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noGrp="1"/>
          </p:cNvSpPr>
          <p:nvPr/>
        </p:nvSpPr>
        <p:spPr>
          <a:xfrm>
            <a:off x="742950" y="1571625"/>
            <a:ext cx="10715625" cy="1285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  <a:endParaRPr sz="217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noGrp="1"/>
          </p:cNvSpPr>
          <p:nvPr/>
        </p:nvSpPr>
        <p:spPr>
          <a:xfrm>
            <a:off x="904875" y="30956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×2,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noGrp="1"/>
          </p:cNvSpPr>
          <p:nvPr/>
        </p:nvSpPr>
        <p:spPr>
          <a:xfrm>
            <a:off x="904875" y="37242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×2, acceleration ×4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noGrp="1"/>
          </p:cNvSpPr>
          <p:nvPr/>
        </p:nvSpPr>
        <p:spPr>
          <a:xfrm>
            <a:off x="904875" y="43529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×4, acceleration ×2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noGrp="1"/>
          </p:cNvSpPr>
          <p:nvPr/>
        </p:nvSpPr>
        <p:spPr>
          <a:xfrm>
            <a:off x="904875" y="498157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Q4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 answer: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, and acceleration as 1/T</a:t>
            </a:r>
            <a:r>
              <a:rPr lang="en-US" sz="2100" b="0" baseline="-25000">
                <a:solidFill>
                  <a:srgbClr val="25364A"/>
                </a:solidFill>
                <a:latin typeface="Aptos"/>
                <a:ea typeface="Aptos"/>
                <a:cs typeface="Aptos"/>
              </a:rPr>
              <a:t>f</a:t>
            </a:r>
            <a:r>
              <a:rPr lang="en-US"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².</a:t>
            </a:r>
            <a:endParaRPr sz="210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10715625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  <p:pic>
        <p:nvPicPr>
          <p:cNvPr id="8" name="Picture 7" descr="Peak velocity doubles and peak acceleration quadruples">
            <a:extLst>
              <a:ext uri="{FF2B5EF4-FFF2-40B4-BE49-F238E27FC236}">
                <a16:creationId xmlns:a16="http://schemas.microsoft.com/office/drawing/2014/main" id="{F5E3B096-585A-2FCA-9FB8-39BD5BB0E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664242"/>
            <a:ext cx="15403078" cy="119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14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lang="en-US"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2: Motion time and torque</a:t>
            </a:r>
            <a:endParaRPr sz="3150" b="1">
              <a:solidFill>
                <a:srgbClr val="17324D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  <a:endParaRPr sz="13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2. Compare 0° to 90° motions in 2 s and 1 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N·m joint torque limit, including the final hold.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lang="en-US"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  <a:endParaRPr sz="2250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noGrp="1"/>
          </p:cNvSpPr>
          <p:nvPr/>
        </p:nvSpPr>
        <p:spPr>
          <a:xfrm>
            <a:off x="742950" y="585787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lang="en-US"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  <a:endParaRPr sz="1650" b="0">
              <a:solidFill>
                <a:srgbClr val="596A7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="666750" y="1666875"/>
          <a:ext cx="666750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noGrp="1"/>
          </p:cNvSpPr>
          <p:nvPr/>
        </p:nvSpPr>
        <p:spPr>
          <a:xfrm>
            <a:off x="7715250" y="1666875"/>
            <a:ext cx="3667125" cy="3619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>
            <a:endParaRPr sz="2025" b="0">
              <a:solidFill>
                <a:srgbClr val="25364A"/>
              </a:solidFill>
              <a:latin typeface="Aptos"/>
              <a:ea typeface="Aptos"/>
              <a:cs typeface="Aptos"/>
            </a:endParaRPr>
          </a:p>
          <a:p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noGrp="1"/>
          </p:cNvSpPr>
          <p:nvPr/>
        </p:nvSpPr>
        <p:spPr>
          <a:xfrm>
            <a:off x="11239500" y="6334125"/>
            <a:ext cx="52387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noGrp="1"/>
          </p:cNvSpPr>
          <p:nvPr/>
        </p:nvSpPr>
        <p:spPr>
          <a:xfrm>
            <a:off x="742950" y="2667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10715625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2467</Words>
  <Application>Microsoft Office PowerPoint</Application>
  <DocSecurity>0</DocSecurity>
  <PresentationFormat>Widescreen</PresentationFormat>
  <Paragraphs>185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Hoan Ngo</cp:lastModifiedBy>
  <cp:revision>1</cp:revision>
  <dcterms:created xsi:type="dcterms:W3CDTF">2026-10-14T01:12:54Z</dcterms:created>
  <dcterms:modified xsi:type="dcterms:W3CDTF">2026-10-14T10:54:41Z</dcterms:modified>
</cp:coreProperties>
</file>