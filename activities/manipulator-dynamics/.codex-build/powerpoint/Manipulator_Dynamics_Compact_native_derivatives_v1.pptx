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 payload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1.0418890700000001</c:v>
                </c:pt>
                <c:pt idx="2">
                  <c:v>2.05212086</c:v>
                </c:pt>
                <c:pt idx="3">
                  <c:v>3</c:v>
                </c:pt>
                <c:pt idx="4">
                  <c:v>3.8567256599999999</c:v>
                </c:pt>
                <c:pt idx="5">
                  <c:v>4.5962666600000004</c:v>
                </c:pt>
                <c:pt idx="6">
                  <c:v>5.1961524199999998</c:v>
                </c:pt>
                <c:pt idx="7">
                  <c:v>5.6381557200000003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5.6381557200000003</c:v>
                </c:pt>
                <c:pt idx="12">
                  <c:v>5.1961524199999998</c:v>
                </c:pt>
                <c:pt idx="13">
                  <c:v>4.5962666600000004</c:v>
                </c:pt>
                <c:pt idx="14">
                  <c:v>3.8567256599999999</c:v>
                </c:pt>
                <c:pt idx="15">
                  <c:v>3</c:v>
                </c:pt>
                <c:pt idx="16">
                  <c:v>2.05212086</c:v>
                </c:pt>
                <c:pt idx="17">
                  <c:v>1.0418890700000001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7C1-408A-9E17-40171EF064B5}"/>
            </c:ext>
          </c:extLst>
        </c:ser>
        <c:ser>
          <c:idx val="1"/>
          <c:order val="1"/>
          <c:tx>
            <c:v>0.5 kg payload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3.0781812899999998</c:v>
                </c:pt>
                <c:pt idx="3">
                  <c:v>4.5</c:v>
                </c:pt>
                <c:pt idx="4">
                  <c:v>5.7850884899999997</c:v>
                </c:pt>
                <c:pt idx="5">
                  <c:v>6.8943999900000001</c:v>
                </c:pt>
                <c:pt idx="6">
                  <c:v>7.7942286300000001</c:v>
                </c:pt>
                <c:pt idx="7">
                  <c:v>8.4572335899999995</c:v>
                </c:pt>
                <c:pt idx="8">
                  <c:v>8.8632697799999995</c:v>
                </c:pt>
                <c:pt idx="9">
                  <c:v>9</c:v>
                </c:pt>
                <c:pt idx="10">
                  <c:v>8.8632697799999995</c:v>
                </c:pt>
                <c:pt idx="11">
                  <c:v>8.4572335899999995</c:v>
                </c:pt>
                <c:pt idx="12">
                  <c:v>7.7942286300000001</c:v>
                </c:pt>
                <c:pt idx="13">
                  <c:v>6.8943999900000001</c:v>
                </c:pt>
                <c:pt idx="14">
                  <c:v>5.7850884899999997</c:v>
                </c:pt>
                <c:pt idx="15">
                  <c:v>4.5</c:v>
                </c:pt>
                <c:pt idx="16">
                  <c:v>3.0781812899999998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7C1-408A-9E17-40171EF06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Holding torque (N·m)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Angle from downward vertical (deg)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2 s motion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0.56548668000000002</c:v>
                </c:pt>
                <c:pt idx="1">
                  <c:v>0.56607569999999996</c:v>
                </c:pt>
                <c:pt idx="2">
                  <c:v>0.59965002000000001</c:v>
                </c:pt>
                <c:pt idx="3">
                  <c:v>0.66443087999999995</c:v>
                </c:pt>
                <c:pt idx="4">
                  <c:v>0.75860954999999997</c:v>
                </c:pt>
                <c:pt idx="5">
                  <c:v>0.88032027999999996</c:v>
                </c:pt>
                <c:pt idx="6">
                  <c:v>1.0276103299999999</c:v>
                </c:pt>
                <c:pt idx="7">
                  <c:v>1.1984110800000001</c:v>
                </c:pt>
                <c:pt idx="8">
                  <c:v>1.3905132200000001</c:v>
                </c:pt>
                <c:pt idx="9">
                  <c:v>1.6015487500000001</c:v>
                </c:pt>
                <c:pt idx="10">
                  <c:v>1.8289817100000001</c:v>
                </c:pt>
                <c:pt idx="11">
                  <c:v>2.07010899</c:v>
                </c:pt>
                <c:pt idx="12">
                  <c:v>2.3220721100000001</c:v>
                </c:pt>
                <c:pt idx="13">
                  <c:v>2.5818800099999999</c:v>
                </c:pt>
                <c:pt idx="14">
                  <c:v>2.8464425699999998</c:v>
                </c:pt>
                <c:pt idx="15">
                  <c:v>3.11261367</c:v>
                </c:pt>
                <c:pt idx="16">
                  <c:v>3.3772424499999998</c:v>
                </c:pt>
                <c:pt idx="17">
                  <c:v>3.6372307099999999</c:v>
                </c:pt>
                <c:pt idx="18">
                  <c:v>3.8895940599999999</c:v>
                </c:pt>
                <c:pt idx="19">
                  <c:v>4.1315243199999996</c:v>
                </c:pt>
                <c:pt idx="20">
                  <c:v>4.3604504100000003</c:v>
                </c:pt>
                <c:pt idx="21">
                  <c:v>4.5740951799999996</c:v>
                </c:pt>
                <c:pt idx="22">
                  <c:v>4.7705254799999999</c:v>
                </c:pt>
                <c:pt idx="23">
                  <c:v>4.9481934000000001</c:v>
                </c:pt>
                <c:pt idx="24">
                  <c:v>5.1059668900000004</c:v>
                </c:pt>
                <c:pt idx="25">
                  <c:v>5.2431483099999996</c:v>
                </c:pt>
                <c:pt idx="26">
                  <c:v>5.3594801299999997</c:v>
                </c:pt>
                <c:pt idx="27">
                  <c:v>5.4551376300000003</c:v>
                </c:pt>
                <c:pt idx="28">
                  <c:v>5.5307087099999999</c:v>
                </c:pt>
                <c:pt idx="29">
                  <c:v>5.58716159</c:v>
                </c:pt>
                <c:pt idx="30">
                  <c:v>5.6258014699999999</c:v>
                </c:pt>
                <c:pt idx="31">
                  <c:v>5.6482175699999999</c:v>
                </c:pt>
                <c:pt idx="32">
                  <c:v>5.6562218800000004</c:v>
                </c:pt>
                <c:pt idx="33">
                  <c:v>5.6517813600000002</c:v>
                </c:pt>
                <c:pt idx="34">
                  <c:v>5.6369447199999998</c:v>
                </c:pt>
                <c:pt idx="35">
                  <c:v>5.6137651499999999</c:v>
                </c:pt>
                <c:pt idx="36">
                  <c:v>5.5842197699999998</c:v>
                </c:pt>
                <c:pt idx="37">
                  <c:v>5.5501262499999999</c:v>
                </c:pt>
                <c:pt idx="38">
                  <c:v>5.5130567599999996</c:v>
                </c:pt>
                <c:pt idx="39">
                  <c:v>5.4742489399999998</c:v>
                </c:pt>
                <c:pt idx="40">
                  <c:v>5.4345133199999998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A3F-44F6-9529-09FA029CC11B}"/>
            </c:ext>
          </c:extLst>
        </c:ser>
        <c:ser>
          <c:idx val="1"/>
          <c:order val="1"/>
          <c:tx>
            <c:v>1 s motion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2.2619467100000001</c:v>
                </c:pt>
                <c:pt idx="1">
                  <c:v>2.1891991800000001</c:v>
                </c:pt>
                <c:pt idx="2">
                  <c:v>2.1488478999999998</c:v>
                </c:pt>
                <c:pt idx="3">
                  <c:v>2.1391141</c:v>
                </c:pt>
                <c:pt idx="4">
                  <c:v>2.1581890800000001</c:v>
                </c:pt>
                <c:pt idx="5">
                  <c:v>2.2042070599999999</c:v>
                </c:pt>
                <c:pt idx="6">
                  <c:v>2.27521532</c:v>
                </c:pt>
                <c:pt idx="7">
                  <c:v>2.3691452200000001</c:v>
                </c:pt>
                <c:pt idx="8">
                  <c:v>2.4837874599999998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2.9274692600000001</c:v>
                </c:pt>
                <c:pt idx="12">
                  <c:v>3.0996162900000002</c:v>
                </c:pt>
                <c:pt idx="13">
                  <c:v>3.27901906</c:v>
                </c:pt>
                <c:pt idx="14">
                  <c:v>3.4625874300000001</c:v>
                </c:pt>
                <c:pt idx="15">
                  <c:v>3.6471752899999998</c:v>
                </c:pt>
                <c:pt idx="16">
                  <c:v>3.8296317900000001</c:v>
                </c:pt>
                <c:pt idx="17">
                  <c:v>4.0068587200000003</c:v>
                </c:pt>
                <c:pt idx="18">
                  <c:v>4.1758716900000001</c:v>
                </c:pt>
                <c:pt idx="19">
                  <c:v>4.3338625200000003</c:v>
                </c:pt>
                <c:pt idx="20">
                  <c:v>4.4782601399999997</c:v>
                </c:pt>
                <c:pt idx="21">
                  <c:v>4.6067873800000001</c:v>
                </c:pt>
                <c:pt idx="22">
                  <c:v>4.7175111000000003</c:v>
                </c:pt>
                <c:pt idx="23">
                  <c:v>4.8088834</c:v>
                </c:pt>
                <c:pt idx="24">
                  <c:v>4.8797722200000004</c:v>
                </c:pt>
                <c:pt idx="25">
                  <c:v>4.9294799100000004</c:v>
                </c:pt>
                <c:pt idx="26">
                  <c:v>4.9577489699999999</c:v>
                </c:pt>
                <c:pt idx="27">
                  <c:v>4.9647546499999997</c:v>
                </c:pt>
                <c:pt idx="28">
                  <c:v>4.9510848699999999</c:v>
                </c:pt>
                <c:pt idx="29">
                  <c:v>4.9177078300000003</c:v>
                </c:pt>
                <c:pt idx="30">
                  <c:v>4.8659287500000001</c:v>
                </c:pt>
                <c:pt idx="31">
                  <c:v>4.7973368299999999</c:v>
                </c:pt>
                <c:pt idx="32">
                  <c:v>4.7137440899999996</c:v>
                </c:pt>
                <c:pt idx="33">
                  <c:v>4.6171174500000003</c:v>
                </c:pt>
                <c:pt idx="34">
                  <c:v>4.5095056500000004</c:v>
                </c:pt>
                <c:pt idx="35">
                  <c:v>4.3929618799999997</c:v>
                </c:pt>
                <c:pt idx="36">
                  <c:v>4.2694632400000003</c:v>
                </c:pt>
                <c:pt idx="37">
                  <c:v>4.1408274199999999</c:v>
                </c:pt>
                <c:pt idx="38">
                  <c:v>4.0086265799999996</c:v>
                </c:pt>
                <c:pt idx="39">
                  <c:v>3.8740983600000001</c:v>
                </c:pt>
                <c:pt idx="40">
                  <c:v>3.7380532899999999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A3F-44F6-9529-09FA029CC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Required torque (N·m)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Normalized time </a:t>
                </a:r>
                <a:r>
                  <a:rPr i="1">
                    <a:latin typeface="Cambria Math"/>
                  </a:rPr>
                  <a:t>s = t/T</a:t>
                </a:r>
                <a:r>
                  <a:rPr i="1" baseline="-25000">
                    <a:latin typeface="Cambria Math"/>
                  </a:rPr>
                  <a:t>f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060700"/>
            <a:ext cx="4026411" cy="533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AF5FCF-1B14-AF7B-38A5-663A21BBFC74}"/>
              </a:ext>
            </a:extLst>
          </p:cNvPr>
          <p:cNvSpPr txBox="1"/>
          <p:nvPr/>
        </p:nvSpPr>
        <p:spPr>
          <a:xfrm>
            <a:off x="3822700" y="3060700"/>
            <a:ext cx="6985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acceleration torque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232483-A443-CDD0-3A68-3BD8D44C26D4}"/>
              </a:ext>
            </a:extLst>
          </p:cNvPr>
          <p:cNvSpPr txBox="1"/>
          <p:nvPr/>
        </p:nvSpPr>
        <p:spPr>
          <a:xfrm>
            <a:off x="4521200" y="3143250"/>
            <a:ext cx="2921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viscous-friction torque</a:t>
            </a:r>
          </a:p>
        </p:txBody>
      </p:sp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864D6C-827B-372F-576C-B063E1F15D91}"/>
              </a:ext>
            </a:extLst>
          </p:cNvPr>
          <p:cNvSpPr txBox="1"/>
          <p:nvPr/>
        </p:nvSpPr>
        <p:spPr>
          <a:xfrm>
            <a:off x="1054100" y="1968499"/>
            <a:ext cx="36830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C47E1E-A08D-7D3A-78F9-A9DA18E2366B}"/>
              </a:ext>
            </a:extLst>
          </p:cNvPr>
          <p:cNvSpPr txBox="1"/>
          <p:nvPr/>
        </p:nvSpPr>
        <p:spPr>
          <a:xfrm>
            <a:off x="4724400" y="2057400"/>
            <a:ext cx="49530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what holding torque is required?</a:t>
            </a: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968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1" y="4749800"/>
            <a:ext cx="3279987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89491E-0B06-5109-FEC4-E8D8AFE2551F}"/>
              </a:ext>
            </a:extLst>
          </p:cNvPr>
          <p:cNvSpPr txBox="1"/>
          <p:nvPr/>
        </p:nvSpPr>
        <p:spPr>
          <a:xfrm>
            <a:off x="1841500" y="1968500"/>
            <a:ext cx="31750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Release from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F515C-77E9-188E-BB81-68DBA984F5BC}"/>
              </a:ext>
            </a:extLst>
          </p:cNvPr>
          <p:cNvSpPr txBox="1"/>
          <p:nvPr/>
        </p:nvSpPr>
        <p:spPr>
          <a:xfrm>
            <a:off x="5067300" y="2057400"/>
            <a:ext cx="41910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Find the initial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8AF19-E9C1-797B-3D36-6D13A31BF371}"/>
              </a:ext>
            </a:extLst>
          </p:cNvPr>
          <p:cNvSpPr txBox="1"/>
          <p:nvPr/>
        </p:nvSpPr>
        <p:spPr>
          <a:xfrm>
            <a:off x="1968500" y="2565400"/>
            <a:ext cx="1968500" cy="3462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Report peak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453B7C-4D21-BF74-0D6E-83BA6DFD3FD4}"/>
              </a:ext>
            </a:extLst>
          </p:cNvPr>
          <p:cNvSpPr txBox="1"/>
          <p:nvPr/>
        </p:nvSpPr>
        <p:spPr>
          <a:xfrm>
            <a:off x="3937000" y="2667000"/>
            <a:ext cx="6350000" cy="3462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inertial torque and total torque.</a:t>
            </a: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N·m at the final hold.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2408</Words>
  <Application>Microsoft Office PowerPoint</Application>
  <DocSecurity>0</DocSecurity>
  <PresentationFormat>Widescreen</PresentationFormat>
  <Paragraphs>189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6</cp:revision>
  <dcterms:created xsi:type="dcterms:W3CDTF">2026-10-14T01:12:54Z</dcterms:created>
  <dcterms:modified xsi:type="dcterms:W3CDTF">2026-10-14T11:31:41Z</dcterms:modified>
</cp:coreProperties>
</file>